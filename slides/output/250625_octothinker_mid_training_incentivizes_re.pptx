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2268743" y="5804754"/>
            <a:ext cx="714281" cy="714281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4609268" y="5791190"/>
            <a:ext cx="731121" cy="731121"/>
          </a:xfrm>
          <a:prstGeom prst="parallelogram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208537" y="6165755"/>
            <a:ext cx="500626" cy="50062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rallelogram 4"/>
          <p:cNvSpPr/>
          <p:nvPr/>
        </p:nvSpPr>
        <p:spPr>
          <a:xfrm>
            <a:off x="592718" y="2910626"/>
            <a:ext cx="283460" cy="28346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447579" y="918022"/>
            <a:ext cx="392440" cy="392440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5701437" y="728940"/>
            <a:ext cx="381496" cy="381496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entagon 7"/>
          <p:cNvSpPr/>
          <p:nvPr/>
        </p:nvSpPr>
        <p:spPr>
          <a:xfrm>
            <a:off x="5600939" y="249569"/>
            <a:ext cx="303751" cy="303751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1274552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0000"/>
                </a:solidFill>
                <a:latin typeface="Arial Black"/>
              </a:rPr>
              <a:t>OctoThinker: Mid-training Incentivizes Reinforcement Learning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Zengzhi Wang, Fan Zhou, Xuefeng Li, Pengfei Liu (Shanghai Jiao Tong University, GAIR Lab)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463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E600"/>
                </a:solidFill>
                <a:latin typeface="Arial"/>
              </a:rPr>
              <a:t>25-06-25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64008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https://arxiv.org/abs/2506.20512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19640" y="126231"/>
            <a:ext cx="493995" cy="493995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363337" y="2082922"/>
            <a:ext cx="376015" cy="376015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2732" y="5683493"/>
            <a:ext cx="635161" cy="635161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1958" y="4743206"/>
            <a:ext cx="483163" cy="483163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5498" y="3162755"/>
            <a:ext cx="634513" cy="634513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9478300" y="876800"/>
            <a:ext cx="294439" cy="294439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365644" y="2830740"/>
            <a:ext cx="498296" cy="498296"/>
          </a:xfrm>
          <a:prstGeom prst="diamond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Hexagon 8"/>
          <p:cNvSpPr/>
          <p:nvPr/>
        </p:nvSpPr>
        <p:spPr>
          <a:xfrm>
            <a:off x="5110110" y="954575"/>
            <a:ext cx="494806" cy="494806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5760" y="274320"/>
            <a:ext cx="2194560" cy="47548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"/>
            <a:ext cx="8897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OctoThinker: Mid-training Incentivizes Reinforcement Learning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60120"/>
            <a:ext cx="1072591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Llama가 RL 추론 학습에서 Qwen보다 뒤처지는 이유는 수학적 기초 역량 부족이다. "Stable-then-Decay" 미드-트레이닝으로 Llama-3B를 Qwen2.5-3B와 동등하게 만들며, RL 스케일링을 위해서는 RL 자체보다 미드-트레이닝 데이터 품질이 더 중요함을 보인다.</a:t>
            </a:r>
          </a:p>
        </p:txBody>
      </p:sp>
      <p:sp>
        <p:nvSpPr>
          <p:cNvPr id="13" name="Oval 12"/>
          <p:cNvSpPr/>
          <p:nvPr/>
        </p:nvSpPr>
        <p:spPr>
          <a:xfrm>
            <a:off x="11444403" y="134126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160411" y="114021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137111" y="352135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23904" y="938963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254391" y="232604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62719" y="653488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11346629" y="5955948"/>
            <a:ext cx="540766" cy="540766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5067776" y="956131"/>
            <a:ext cx="597361" cy="597361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entagon 3"/>
          <p:cNvSpPr/>
          <p:nvPr/>
        </p:nvSpPr>
        <p:spPr>
          <a:xfrm>
            <a:off x="11835138" y="2731630"/>
            <a:ext cx="351427" cy="351427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452" y="1028748"/>
            <a:ext cx="588521" cy="588521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545" y="289119"/>
            <a:ext cx="522161" cy="522161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3595328" y="304382"/>
            <a:ext cx="683413" cy="683413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allelogram 7"/>
          <p:cNvSpPr/>
          <p:nvPr/>
        </p:nvSpPr>
        <p:spPr>
          <a:xfrm>
            <a:off x="11527060" y="1674887"/>
            <a:ext cx="661891" cy="661891"/>
          </a:xfrm>
          <a:prstGeom prst="parallelogram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51765" y="6086871"/>
            <a:ext cx="537836" cy="537836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98521" y="367387"/>
            <a:ext cx="505409" cy="505409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Stable-then-Decay 2단계: Stage 1(200B 토큰, 일정 LR) — MegaMath-Web-Pro-Max 72.5% 혼합으로 수학 기초 역량 주입; Stage 2(20B 토큰, 코사인 감쇠) — Long/Short/Hybrid 세 CoT 브랜치로 과제 형식 적응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데이터 품질이 지배적: MegaMath-Web-Pro-Max → GSM8K +33.89%p, MATH500 +24.0%p; FineMath-4plus → 미미한 개선 — 점수 필터링보다 추론 밀도가 핵심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명령 추종 데이터의 역할: 0.8B 토큰의 instruction-following 데이터가 Short-CoT 잠재력을 "해제"하고 훈련 안정화 — 추론 능력(what to think)과 지시 수행 능력(how to respond)은 독립적 차원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FF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33349" y="348608"/>
            <a:ext cx="325708" cy="32570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11159831" y="5794029"/>
            <a:ext cx="620691" cy="620691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iamond 3"/>
          <p:cNvSpPr/>
          <p:nvPr/>
        </p:nvSpPr>
        <p:spPr>
          <a:xfrm>
            <a:off x="11620813" y="1309455"/>
            <a:ext cx="519224" cy="519224"/>
          </a:xfrm>
          <a:prstGeom prst="diamond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5199" y="1315391"/>
            <a:ext cx="283631" cy="283631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ntagon 5"/>
          <p:cNvSpPr/>
          <p:nvPr/>
        </p:nvSpPr>
        <p:spPr>
          <a:xfrm>
            <a:off x="8253926" y="6147002"/>
            <a:ext cx="710997" cy="710997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87407" y="968864"/>
            <a:ext cx="657765" cy="657765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점진적 길이 스케줄러: RL 단계에서 0-200스텝(2K) → 200-320스텝(4K) → 320-400스텝(8K) — 초기 희소 보상 문제를 해결하고 Long-CoT 불안정성을 커리큘럼으로 제어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미드-트레이닝 예산 단조 스케일링: 20B→70B→100B 토큰으로 RL 성능 일관 향상 — Stable 단계만으로 10~20% 기본 향상 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781" y="19041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264502" y="335161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49113" y="349309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33366" y="25068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30867" y="55050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176800" y="2541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71955" y="651070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954332" y="25109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04096" y="256032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867744" y="61955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Llama와 Qwen 모델이 RL 추론 학습에서 서로 다른 동작을 보이는 근본 원인은 무엇이며, 미드-트레이닝이 이 격차를 해소하는 메커니즘은 무엇인가?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577938" y="6407476"/>
            <a:ext cx="450523" cy="450523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0902568" y="5787986"/>
            <a:ext cx="437125" cy="437125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664" y="4562677"/>
            <a:ext cx="323679" cy="323679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sosceles Triangle 17"/>
          <p:cNvSpPr/>
          <p:nvPr/>
        </p:nvSpPr>
        <p:spPr>
          <a:xfrm>
            <a:off x="11524996" y="3525237"/>
            <a:ext cx="601775" cy="601775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7439527" y="1010671"/>
            <a:ext cx="598435" cy="598435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ntagon 19"/>
          <p:cNvSpPr/>
          <p:nvPr/>
        </p:nvSpPr>
        <p:spPr>
          <a:xfrm>
            <a:off x="11570821" y="5706507"/>
            <a:ext cx="618130" cy="618130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Hexagon 20"/>
          <p:cNvSpPr/>
          <p:nvPr/>
        </p:nvSpPr>
        <p:spPr>
          <a:xfrm>
            <a:off x="6075496" y="5831854"/>
            <a:ext cx="434821" cy="43482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Llama와 Qwen 모델이 RL 추론 학습에서 서로 다른 동작을 보이는 근본 원인은 무엇이며, 미드-트레이닝이 이 격차를 해소하는 메커니즘은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Llama 계열 모델은 사전학습 데이터 구성에서 수학적 추론 데이터의 비중이 Qwen 대비 상대적으로 낮아, RL로 추론 능력을 끌어올리려 할 때 기초 수학 역량 부족이 병목으로 작용한다. 미드-트레이닝은 이 격차를 메우는 "다리" 역할을 한다. 200B 토큰 규모의 수학 중심 코퍼스를 일정 학습률로 주입하면 모델의 내부 표현에 수학적 패턴 인식과 기본 추론 회로가 형성되어, 이후 GRPO 같은 RL 알고리즘이 탐색할 수 있는 정책 공간이 충분히 확보된다. RL은 이미 존재하는 약한 추론 능력을 강화하는 데 효과적이지, 추론 능력이 부재한 상태에서 이를 처음부터 생성하는 데는 비효율적이다.</a:t>
            </a:r>
          </a:p>
        </p:txBody>
      </p:sp>
      <p:sp>
        <p:nvSpPr>
          <p:cNvPr id="7" name="Oval 6"/>
          <p:cNvSpPr/>
          <p:nvPr/>
        </p:nvSpPr>
        <p:spPr>
          <a:xfrm>
            <a:off x="1004547" y="3648270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746706" y="5633156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66162" y="31442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28111" y="5268862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3589" y="525182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7941" y="229391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758455" y="90556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445114" y="2850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2365" y="16180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36620" y="24601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479739" y="605417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28154" y="16504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18025" y="40470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692916" y="132302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18935" y="24378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Stable-then-Decay 전략에서 Stage 1의 일정 학습률 구간이 200B 토큰으로 설정된 근거는 무엇이며, 이 비율이 모델 크기별로 달라져야 하는 이유는 무엇인가?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507660" y="2960390"/>
            <a:ext cx="681291" cy="681291"/>
          </a:xfrm>
          <a:prstGeom prst="parallelogram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9767109" y="84409"/>
            <a:ext cx="482182" cy="482182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999512" y="424530"/>
            <a:ext cx="334837" cy="334837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579428" y="3937121"/>
            <a:ext cx="332169" cy="332169"/>
          </a:xfrm>
          <a:prstGeom prst="diamond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11893" y="6431757"/>
            <a:ext cx="426242" cy="42624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47777" y="6131311"/>
            <a:ext cx="726688" cy="72668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0164440" y="5840575"/>
            <a:ext cx="545069" cy="545069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arallelogram 21"/>
          <p:cNvSpPr/>
          <p:nvPr/>
        </p:nvSpPr>
        <p:spPr>
          <a:xfrm>
            <a:off x="11643137" y="1618758"/>
            <a:ext cx="492949" cy="492949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336849" y="6299019"/>
            <a:ext cx="338912" cy="33891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813274" y="1122878"/>
            <a:ext cx="375677" cy="37567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Stable-then-Decay 전략에서 Stage 1의 일정 학습률 구간이 200B 토큰으로 설정된 근거는 무엇이며, 이 비율이 모델 크기별로 달라져야 하는 이유는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Stage 1에서 200B 토큰의 일정 학습률 구간은 모델이 새로운 수학 도메인 지식을 충분히 흡수하되, 사전학습에서 획득한 일반 언어 능력을 급격히 잃지 않도록 하는 균형점이다. 모델 크기별로 학습률이 다른 것(1B: 5e-5, 3B: 2e-5, 8B: 1e-5)은 파라미터 수가 증가할수록 각 파라미터의 기울기 업데이트가 전체 모델에 미치는 영향이 누적적으로 커지기 때문이다. 큰 모델에 높은 학습률을 적용하면 catastrophic forgetting이나 학습 불안정이 발생할 위험이 높으므로, 모델 규모에 반비례하는 학습률 설정이 필요하다.</a:t>
            </a:r>
          </a:p>
        </p:txBody>
      </p:sp>
      <p:sp>
        <p:nvSpPr>
          <p:cNvPr id="7" name="Oval 6"/>
          <p:cNvSpPr/>
          <p:nvPr/>
        </p:nvSpPr>
        <p:spPr>
          <a:xfrm>
            <a:off x="4610790" y="1016369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447861" y="68459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082784" y="404924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159141" y="1847692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547548" y="596478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35799" y="7549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54226" y="12047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371994" y="60839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531453" y="62400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26996" y="48554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228881" y="7504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919658" y="65264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92661" y="12303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89614" y="40817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11257" y="632730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MegaMath-Web-Pro-Max가 FineMath-4plus 대비 압도적 성능 차이를 보이는 구체적인 데이터 특성 차이는 무엇인가?</a:t>
            </a:r>
          </a:p>
        </p:txBody>
      </p:sp>
      <p:sp>
        <p:nvSpPr>
          <p:cNvPr id="15" name="Oval 14"/>
          <p:cNvSpPr/>
          <p:nvPr/>
        </p:nvSpPr>
        <p:spPr>
          <a:xfrm>
            <a:off x="11509390" y="5707405"/>
            <a:ext cx="624535" cy="624535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7349984" y="6430008"/>
            <a:ext cx="401433" cy="401433"/>
          </a:xfrm>
          <a:prstGeom prst="homePlat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iamond 16"/>
          <p:cNvSpPr/>
          <p:nvPr/>
        </p:nvSpPr>
        <p:spPr>
          <a:xfrm>
            <a:off x="7788953" y="562246"/>
            <a:ext cx="475241" cy="475241"/>
          </a:xfrm>
          <a:prstGeom prst="diamond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Hexagon 17"/>
          <p:cNvSpPr/>
          <p:nvPr/>
        </p:nvSpPr>
        <p:spPr>
          <a:xfrm>
            <a:off x="4574371" y="599465"/>
            <a:ext cx="677410" cy="677410"/>
          </a:xfrm>
          <a:prstGeom prst="hexagon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11677232" y="4897011"/>
            <a:ext cx="511719" cy="51171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835451" y="631963"/>
            <a:ext cx="347530" cy="347530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MegaMath-Web-Pro-Max가 FineMath-4plus 대비 압도적 성능 차이를 보이는 구체적인 데이터 특성 차이는 무엇인가?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MegaMath-Web-Pro-Max는 73.8B 토큰 규모의 수학 추론 코퍼스로, 단순 수학 텍스트가 아닌 추론 과정이 포함된 고품질 웹 데이터를 큐레이션한 결과물이다. FineMath-4plus는 품질 필터링 점수 4 이상의 데이터를 사용하지만, 점수 기반 필터링만으로는 추론 과정의 명시성, 단계별 풀이의 완전성, 다양한 난이도 분포 등을 보장하지 못한다. MegaMath-Web-Pro-Max의 우월성은 데이터 "양"보다 "추론 밀도"와 "풀이 과정의 질"이 미드-트레이닝 효과를 좌우한다는 실용적 교훈을 준다.</a:t>
            </a:r>
          </a:p>
        </p:txBody>
      </p:sp>
      <p:sp>
        <p:nvSpPr>
          <p:cNvPr id="7" name="Oval 6"/>
          <p:cNvSpPr/>
          <p:nvPr/>
        </p:nvSpPr>
        <p:spPr>
          <a:xfrm>
            <a:off x="4924984" y="15427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36871" y="6275184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506200" y="348881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27161" y="2302395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677174" y="5900537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53453" y="48205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298901" y="12091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55917" y="21108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42701" y="147585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84746" y="11650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19452" y="268243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591387" y="156058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84901" y="140570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12916" y="1002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22087" y="63435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Long-CoT 데이터가 성능 향상과 동시에 불안정성을 유발하는 트레이드오프를 Decay 단계의 브랜치 설계가 어떻게 완화하며, Hybrid 브랜치가 Long/Short 각각보다 우월한가?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430450" y="5508612"/>
            <a:ext cx="481561" cy="481561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246798" y="428472"/>
            <a:ext cx="623132" cy="623132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sosceles Triangle 16"/>
          <p:cNvSpPr/>
          <p:nvPr/>
        </p:nvSpPr>
        <p:spPr>
          <a:xfrm>
            <a:off x="326420" y="1040590"/>
            <a:ext cx="586381" cy="586381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allelogram 17"/>
          <p:cNvSpPr/>
          <p:nvPr/>
        </p:nvSpPr>
        <p:spPr>
          <a:xfrm>
            <a:off x="240124" y="5378812"/>
            <a:ext cx="630306" cy="630306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6376360" y="1054838"/>
            <a:ext cx="592927" cy="592927"/>
          </a:xfrm>
          <a:prstGeom prst="diamond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661062" y="4367980"/>
            <a:ext cx="434016" cy="434016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5184" y="5251064"/>
            <a:ext cx="718338" cy="71833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380067" y="6388273"/>
            <a:ext cx="320190" cy="320190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allelogram 22"/>
          <p:cNvSpPr/>
          <p:nvPr/>
        </p:nvSpPr>
        <p:spPr>
          <a:xfrm>
            <a:off x="4501684" y="227549"/>
            <a:ext cx="721736" cy="72173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2784" y="5505987"/>
            <a:ext cx="384347" cy="38434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Long-CoT 데이터가 성능 향상과 동시에 불안정성을 유발하는 트레이드오프를 Decay 단계의 브랜치 설계가 어떻게 완화하며, Hybrid 브랜치가 Long/Short 각각보다…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Long-CoT 데이터(OpenR1, AM-DeepSeek-Distilled)는 긴 추론 체인을 통해 복잡한 문제 해결 패턴을 학습시키지만, 모델이 불필요하게 긴 응답을 생성하거나 추론 경로가 발산하는 부작용을 동반한다. Decay 단계의 브랜치 설계는 이 트레이드오프를 실험적으로 분리한다. OctoThinker-Long-3B가 RL 후 Qwen2.5-3B와 동등한 성능을 달성한 결과는 Long-CoT가 RL의 탐색 공간을 풍부하게 만들어 RL 스케일링 이점을 극대화함을 보여주며, 불안정성은 길이 스케줄러와 복잡한 프롬프트 템플릿으로 제어하는 전략을 취한다.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0139045" y="1200677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727894" y="738375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880191" y="108109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4012" y="44352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6368" y="3992004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81429" y="6562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152814" y="442856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27116" y="57129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4594" y="57367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86443" y="195254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5330" y="276965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885839" y="487126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42269" y="64575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02707" y="448177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6260" y="30490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점진적 응답 길이 스케줄러(2K→4K→8K)가 RL 안정성에 기여하는 원리는 무엇이며, 이 스케줄이 단순히 처음부터 8K를 허용하는 것과 어떤 차이를 만드는가?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1471229" y="83754"/>
            <a:ext cx="717722" cy="717722"/>
          </a:xfrm>
          <a:prstGeom prst="homePlat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596952" y="6457200"/>
            <a:ext cx="400799" cy="400799"/>
          </a:xfrm>
          <a:prstGeom prst="hexagon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340537" y="4820588"/>
            <a:ext cx="570868" cy="570868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698631" y="3661981"/>
            <a:ext cx="358723" cy="358723"/>
          </a:xfrm>
          <a:prstGeom prst="diamond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ntagon 18"/>
          <p:cNvSpPr/>
          <p:nvPr/>
        </p:nvSpPr>
        <p:spPr>
          <a:xfrm>
            <a:off x="8380135" y="764278"/>
            <a:ext cx="575316" cy="575316"/>
          </a:xfrm>
          <a:prstGeom prst="homePlat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2594" y="5961517"/>
            <a:ext cx="285420" cy="28542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39638" y="60636"/>
            <a:ext cx="684363" cy="684363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iamond 21"/>
          <p:cNvSpPr/>
          <p:nvPr/>
        </p:nvSpPr>
        <p:spPr>
          <a:xfrm>
            <a:off x="11678739" y="567717"/>
            <a:ext cx="510212" cy="510212"/>
          </a:xfrm>
          <a:prstGeom prst="diamond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ntagon 22"/>
          <p:cNvSpPr/>
          <p:nvPr/>
        </p:nvSpPr>
        <p:spPr>
          <a:xfrm>
            <a:off x="5189508" y="528426"/>
            <a:ext cx="550160" cy="550160"/>
          </a:xfrm>
          <a:prstGeom prst="homePlat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sosceles Triangle 23"/>
          <p:cNvSpPr/>
          <p:nvPr/>
        </p:nvSpPr>
        <p:spPr>
          <a:xfrm>
            <a:off x="11169991" y="347584"/>
            <a:ext cx="450570" cy="450570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점진적 응답 길이 스케줄러(2K→4K→8K)가 RL 안정성에 기여하는 원리는 무엇이며, 이 스케줄이 단순히 처음부터 8K를 허용하는 것과 어떤 차이를 만드는가?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점진적 응답 길이 스케줄러는 RL 초기 단계에서 모델이 짧은 추론 체인으로 쉬운 문제를 안정적으로 해결하는 패턴을 먼저 학습하게 한 뒤 점진적으로 더 긴 추론을 허용하는 커리큘럼 학습 전략이다. 처음부터 8K 토큰을 허용하면 롤아웃 16개 중 올바른 답에 도달하는 비율이 낮아 GRPO의 배치 내 상대적 보상 비교의 신뢰성이 떨어진다. 2K로 시작하면 보상 신호의 품질이 개선되어 초기 학습이 안정화되고, 이후 단계에서 더 복잡한 문제를 풀 기초가 마련된다.</a:t>
            </a:r>
          </a:p>
        </p:txBody>
      </p:sp>
      <p:sp>
        <p:nvSpPr>
          <p:cNvPr id="7" name="Oval 6"/>
          <p:cNvSpPr/>
          <p:nvPr/>
        </p:nvSpPr>
        <p:spPr>
          <a:xfrm>
            <a:off x="979244" y="25705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61178" y="484300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239323" y="37968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435510" y="460961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83309" y="13853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63428" y="8528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22826" y="60634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151406" y="72662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08102" y="72547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96690" y="53028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823111" y="70693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90017" y="7933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62094" y="58617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23336" y="13142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29996" y="62956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명령 추종 데이터 0.8B 토큰이 Short-CoT의 잠재력을 "해제"한다는 발견은, 미드-트레이닝에서 추론 능력과 지시 수행 능력 사이의 어떤 상호작용을 시사하는가?</a:t>
            </a:r>
          </a:p>
        </p:txBody>
      </p:sp>
      <p:sp>
        <p:nvSpPr>
          <p:cNvPr id="15" name="Diamond 14"/>
          <p:cNvSpPr/>
          <p:nvPr/>
        </p:nvSpPr>
        <p:spPr>
          <a:xfrm>
            <a:off x="180297" y="711596"/>
            <a:ext cx="484302" cy="484302"/>
          </a:xfrm>
          <a:prstGeom prst="diamond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arallelogram 15"/>
          <p:cNvSpPr/>
          <p:nvPr/>
        </p:nvSpPr>
        <p:spPr>
          <a:xfrm>
            <a:off x="613238" y="6338122"/>
            <a:ext cx="381960" cy="381960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07671" y="700158"/>
            <a:ext cx="513002" cy="513002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36802" y="2249330"/>
            <a:ext cx="672986" cy="672986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11472141" y="3871552"/>
            <a:ext cx="716810" cy="716810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Hexagon 19"/>
          <p:cNvSpPr/>
          <p:nvPr/>
        </p:nvSpPr>
        <p:spPr>
          <a:xfrm>
            <a:off x="11620847" y="3947090"/>
            <a:ext cx="373317" cy="373317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1701892" y="6370940"/>
            <a:ext cx="487059" cy="48705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60576" y="6159635"/>
            <a:ext cx="415311" cy="415311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명령 추종 데이터 0.8B 토큰이 Short-CoT의 잠재력을 "해제"한다는 발견은, 미드-트레이닝에서 추론 능력과 지시 수행 능력 사이의 어떤 상호작용을 시사하는가?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명령 추종 데이터 0.8B 토큰의 추가가 Short-CoT의 잠재력을 해제한다는 발견은, 미드-트레이닝된 모델이 수학적 지식은 갖추었으나 "질문에 대해 구조화된 형식으로 답하라"는 과제 수행 프레임워크가 부족할 수 있음을 보여준다. 명령 추종 데이터가 이 메타 능력을 제공함으로써 수학 지식이 실제 문제 풀이로 표현되는 경로가 열린다. 훈련 안정화 효과는 명령 추종 데이터가 일종의 정규화 역할을 하여 모델이 수학 도메인에 과적합되는 것을 방지하기 때문으로 추론된다.</a:t>
            </a:r>
          </a:p>
        </p:txBody>
      </p:sp>
      <p:sp>
        <p:nvSpPr>
          <p:cNvPr id="7" name="Oval 6"/>
          <p:cNvSpPr/>
          <p:nvPr/>
        </p:nvSpPr>
        <p:spPr>
          <a:xfrm>
            <a:off x="174124" y="1974325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105847" y="121370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7069" y="628968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742765" y="1918393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1287" y="3120571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8360" y="58567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44997" y="62374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51040" y="53656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98270" y="3820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3474854" y="10094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619582" y="676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65857" y="8892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79272" y="38427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57338" y="12391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4211" y="4607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이 Stable-then-Decay 미드-트레이닝 전략이 수학 추론 이외의 도메인(코드 생성, 과학 추론 등)에도 일반화될 수 있는가, 그리고 그 경우 어떤 요소를 변경해야 하는가?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1359782" y="5075169"/>
            <a:ext cx="314181" cy="314181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941740" y="1040409"/>
            <a:ext cx="531412" cy="531412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0305119" y="859194"/>
            <a:ext cx="386408" cy="386408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194304" y="352289"/>
            <a:ext cx="277335" cy="277335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allelogram 18"/>
          <p:cNvSpPr/>
          <p:nvPr/>
        </p:nvSpPr>
        <p:spPr>
          <a:xfrm>
            <a:off x="1003849" y="3499548"/>
            <a:ext cx="688821" cy="688821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arallelogram 19"/>
          <p:cNvSpPr/>
          <p:nvPr/>
        </p:nvSpPr>
        <p:spPr>
          <a:xfrm>
            <a:off x="406891" y="4855215"/>
            <a:ext cx="291119" cy="291119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이 Stable-then-Decay 미드-트레이닝 전략이 수학 추론 이외의 도메인(코드 생성, 과학 추론 등)에도 일반화될 수 있는가, 그리고 그 경우 어떤 요소를 변경해야 하는…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Stable-then-Decay 전략의 핵심 원리는 "도메인 특화 기초 역량 주입 → 과제 형식 적응 → RL 강화"라는 파이프라인이므로 다른 도메인에도 이론적으로 일반화 가능하다. 그러나 몇 가지 변경이 필요하다. 첫째, Stage 1의 코퍼스를 해당 분야 고품질 추론 데이터(코드: 실행 가능한 코드+테스트; 과학: 실험 설계+검증 과정)로 교체해야 한다. 둘째, RL 보상 함수 설계가 달라져야 한다(코드: 테스트 통과율; 과학: 논리적 일관성). 셋째, 응답 길이 스케줄러의 단계별 설정도 도메인의 전형적 추론 길이에 맞춰 조정이 필요하다.</a:t>
            </a:r>
          </a:p>
        </p:txBody>
      </p:sp>
      <p:sp>
        <p:nvSpPr>
          <p:cNvPr id="7" name="Oval 6"/>
          <p:cNvSpPr/>
          <p:nvPr/>
        </p:nvSpPr>
        <p:spPr>
          <a:xfrm>
            <a:off x="2810735" y="135347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075627" y="82259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74643" y="551962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6464" y="457949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14253" y="627827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4706" y="5217664"/>
            <a:ext cx="480108" cy="480108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iamond 2"/>
          <p:cNvSpPr/>
          <p:nvPr/>
        </p:nvSpPr>
        <p:spPr>
          <a:xfrm>
            <a:off x="3936457" y="6211983"/>
            <a:ext cx="646016" cy="646016"/>
          </a:xfrm>
          <a:prstGeom prst="diamond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xagon 3"/>
          <p:cNvSpPr/>
          <p:nvPr/>
        </p:nvSpPr>
        <p:spPr>
          <a:xfrm>
            <a:off x="224202" y="342761"/>
            <a:ext cx="653145" cy="653145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xagon 4"/>
          <p:cNvSpPr/>
          <p:nvPr/>
        </p:nvSpPr>
        <p:spPr>
          <a:xfrm>
            <a:off x="970810" y="410154"/>
            <a:ext cx="566791" cy="56679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66752" y="3211370"/>
            <a:ext cx="335359" cy="335359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11501348" y="4769981"/>
            <a:ext cx="687603" cy="687603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24370" y="5632365"/>
            <a:ext cx="584047" cy="584047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228600"/>
            <a:ext cx="34747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183112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▶  Stable-then-Decay 2단계: Stage 1(200B 토큰, 일정 LR) — MegaMath-Web-Pro-Max 72.5% 혼합으로 수학 기초 역량 주입; Stage 2(20B 토큰, 코사인 감쇠) — Long/Short/Hybrid 세 CoT 브랜치로 과제 형식 적응
▶  데이터 품질이 지배적: MegaMath-Web-Pro-Max → GSM8K +33.89%p, MATH500 +24.0%p; FineMath-4plus → 미미한 개선 — 점수 필터링보다 추론 밀도가 핵심
▶  명령 추종 데이터의 역할: 0.8B 토큰의 instruction-following 데이터가 Short-CoT 잠재력을 "해제"하고 훈련 안정화 — 추론 능력(what to think)과 지시 수행 능력(how to respond)은 독립적 차원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50976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15568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57200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745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OctoThinker: Mid-training Incentivizes Reinforcement Learni…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