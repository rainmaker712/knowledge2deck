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THINKING AUGMENTED PRE-TRAINING (TPT)</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Liang Wang, Nan Yang, Shaohan Huang, Li Dong, Furu Wei (Microsoft Research)</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25-11-01</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https://arxiv.org/abs/2509.20186</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THINKING AUGMENTED PRE-TRAINING (TPT)</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This paper introduces a simple and scalable approach to improve the data efficiency of large language model (LLM) training by augmenting existing text data with thinking trajectories. The compute for pre-training LLMs has been growing at an unprecedented rate, while the availability of high-quality data remains limited. Consequently, maximizing the utility of available data constitutes a significant research challenge. A primary impediment is that certain high-quality tokens are difficult to learn given a fixed model capacity, as the underlying rationale for a single token can be exceptionally complex and deep. To address this issue, we propose Thinking augmented Pre-Training (TPT), a universal methodology that augments text with automatically generated thinking trajectories. Such augmentation effectively increases the volume of the training data and makes high-quality tokens more learnable through step-by-step reasoning and decomposition. We apply TPT across diverse training configurations up to 100B tokens, encompassing pre-training with both constrained and abundant data, as well as mid-training from strong open-source checkpoints. Experimental results indicate that our method substantially improves the performance of LLMs across various model sizes and families. Notably, TPT enhances the data efficiency of LLM pre-training by a factor of 3. For a 3B parameter model, it improves the post-training performance by over 10% on several challenging reasoning benchmarks.</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Efficient Prompting: Compressing prompts via the Feynman Technique is a highly effective strategy for optimizing token usage. I especially love their use of the Feynman technique and how they managed to compress the prompt into just two lines. ```markdown Simulate an expert's in-depth thought process as they analyze the above context, focusing on complex and informative aspects. Skip trivial details. Use Feynman technique whenever possible to ensure a deep understanding. ```</a:t>
            </a:r>
          </a:p>
          <a:p>
            <a:pPr algn="l">
              <a:spcBef>
                <a:spcPts val="600"/>
              </a:spcBef>
            </a:pPr>
            <a:r>
              <a:rPr sz="2000" b="0">
                <a:solidFill>
                  <a:srgbClr val="FFFFFF"/>
                </a:solidFill>
                <a:latin typeface="Arial"/>
              </a:rPr>
              <a:t>▶  Scalability: The approach is universally applicable as it eliminates the need for human annotation and is agnostic to document structure.</a:t>
            </a:r>
          </a:p>
          <a:p>
            <a:pPr algn="l">
              <a:spcBef>
                <a:spcPts val="600"/>
              </a:spcBef>
            </a:pPr>
            <a:r>
              <a:rPr sz="2000" b="0">
                <a:solidFill>
                  <a:srgbClr val="FFFFFF"/>
                </a:solidFill>
                <a:latin typeface="Arial"/>
              </a:rPr>
              <a:t>▶  Versatility: Its ability to be applied not only to STEM but also to general text is a remarkable achievement.</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4737346" y="64311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2442211" y="62838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272352" y="60741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18851" y="50154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781983" y="587185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53129" y="51471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896442" y="24702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10791" y="3073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800438" y="4063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31211" y="64615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TPT augments text with "automatically generated thinking trajectories" to make difficult tokens more learnable. What specifically makes a token "difficult to learn" at fixed model capacity, and why does adding step-by-step reasoning before that token lower the effective learning difficulty?</a:t>
            </a:r>
          </a:p>
        </p:txBody>
      </p:sp>
      <p:sp>
        <p:nvSpPr>
          <p:cNvPr id="15" name="Diamond 14"/>
          <p:cNvSpPr/>
          <p:nvPr/>
        </p:nvSpPr>
        <p:spPr>
          <a:xfrm>
            <a:off x="5686464" y="6485166"/>
            <a:ext cx="340451" cy="340451"/>
          </a:xfrm>
          <a:prstGeom prst="diamond">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5985768" y="1039129"/>
            <a:ext cx="425351" cy="425351"/>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6006751" y="6249024"/>
            <a:ext cx="274661" cy="274661"/>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172695" y="5902769"/>
            <a:ext cx="478348" cy="478348"/>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484415" y="629917"/>
            <a:ext cx="283509" cy="283509"/>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260132" y="4931648"/>
            <a:ext cx="415903" cy="415903"/>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TPT augments text with "automatically generated thinking trajectories" to make difficult tokens mor…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A token is "difficult to learn" at fixed model capacity when its correct prediction depends on a long, complex reasoning chain that cannot be maintained within the model's effective working memory (the capacity of its context representation). For example, predicting the final digit of a long division answer requires holding and manipulating a sequence of intermediate computational steps — a model that must jump directly from problem setup to answer must compress enormous complexity into its forward pass without the intermediate scaffolding. Adding step-by-step reasoning before the difficult token converts the task from a one-shot prediction requiring deep compression to a sequence of simpler predictions, each with lower effective complexity given the preceding context. This makes the "difficult" token effectively easy conditional on the reasoning chain, while the reasoning steps themselves are individually learnable given the context that precedes them.</a:t>
            </a:r>
          </a:p>
        </p:txBody>
      </p:sp>
      <p:sp>
        <p:nvSpPr>
          <p:cNvPr id="7" name="Oval 6"/>
          <p:cNvSpPr/>
          <p:nvPr/>
        </p:nvSpPr>
        <p:spPr>
          <a:xfrm>
            <a:off x="4151406" y="72662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882722" y="105783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423336" y="131429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23111" y="70693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536873" y="646410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671355" y="130909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269693" y="11258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943011" y="11849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508642" y="43856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113607" y="9163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1035" y="28545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578865" y="12420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89268" y="619661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62531" y="62808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6964" y="449466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Feynman Technique prompt ("Simulate an expert's in-depth thought process...") is used to compress reasoning into concise, high-signal thinking chains. How does the quality of these auto-generated thinking trajectories compare to human-annotated chain-of-thought data, and what happens when the generator model produces incorrect reasoning traces?</a:t>
            </a:r>
          </a:p>
        </p:txBody>
      </p:sp>
      <p:sp>
        <p:nvSpPr>
          <p:cNvPr id="15" name="Rectangle 14"/>
          <p:cNvSpPr/>
          <p:nvPr/>
        </p:nvSpPr>
        <p:spPr>
          <a:xfrm>
            <a:off x="11629647" y="247210"/>
            <a:ext cx="292590" cy="29259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10475" y="415118"/>
            <a:ext cx="305841" cy="305841"/>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1329034" y="6163266"/>
            <a:ext cx="694733" cy="694733"/>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5398635" y="6364798"/>
            <a:ext cx="493201" cy="493201"/>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811140" y="5838533"/>
            <a:ext cx="377811" cy="377811"/>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1636134" y="1183544"/>
            <a:ext cx="552817" cy="552817"/>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Feynman Technique prompt ("Simulate an expert's in-depth thought process...") is used to compre…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Auto-generated thinking trajectories from a capable LLM (generated via the Feynman-technique prompt) are likely lower quality than human-annotated chain-of-thought data in terms of factual correctness and reasoning depth, but are more scalable and can cover a much broader range of document types. When the generator produces incorrect reasoning traces, the training signal is corrupted in two ways: the model learns to produce incorrect intermediate reasoning steps, and it may learn incorrect relationships between those steps and the final answer. The paper's use of the Feynman technique prompt partially mitigates this by encouraging the generator to verify its own understanding ("ensure a deep understanding"), but cannot eliminate hallucinated reasoning. In practice, incorrect reasoning traces are likely less harmful during pre-training than during fine-tuning because the pre-trained model sees enough correct examples to develop robust priors, but they remain a source of noise that could limit the ceiling of TPT's benefit.</a:t>
            </a:r>
          </a:p>
        </p:txBody>
      </p:sp>
      <p:sp>
        <p:nvSpPr>
          <p:cNvPr id="7" name="Oval 6"/>
          <p:cNvSpPr/>
          <p:nvPr/>
        </p:nvSpPr>
        <p:spPr>
          <a:xfrm>
            <a:off x="1281608" y="427280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242468" y="18764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28358" y="56411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127389" y="657549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748360" y="58567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824111" y="7899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58774" y="6126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9987095" y="5642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768298" y="170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645580" y="610566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725226" y="527121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906193" y="612280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818323" y="624472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200636" y="27305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60738" y="43621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TPT claims a 3x improvement in data efficiency. How is "data efficiency" measured here — is it tokens to reach a given loss, performance at fixed compute, or something else — and what confounds might affect this measurement?</a:t>
            </a:r>
          </a:p>
        </p:txBody>
      </p:sp>
      <p:sp>
        <p:nvSpPr>
          <p:cNvPr id="15" name="Isosceles Triangle 14"/>
          <p:cNvSpPr/>
          <p:nvPr/>
        </p:nvSpPr>
        <p:spPr>
          <a:xfrm>
            <a:off x="287211" y="2965212"/>
            <a:ext cx="538562" cy="538562"/>
          </a:xfrm>
          <a:prstGeom prst="triangl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7598191" y="240742"/>
            <a:ext cx="695056" cy="695056"/>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4741844" y="809376"/>
            <a:ext cx="566411" cy="56641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entagon 17"/>
          <p:cNvSpPr/>
          <p:nvPr/>
        </p:nvSpPr>
        <p:spPr>
          <a:xfrm>
            <a:off x="5868481" y="6296248"/>
            <a:ext cx="561751" cy="561751"/>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202990" y="5762425"/>
            <a:ext cx="531812" cy="531812"/>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115093" y="1413764"/>
            <a:ext cx="385033" cy="385033"/>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620500" y="6204296"/>
            <a:ext cx="653703" cy="653703"/>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179689" y="3213821"/>
            <a:ext cx="500087" cy="500087"/>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TPT claims a 3x improvement in data efficiency. How is "data efficiency" measured here — is it toke…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TPT's 3x data efficiency improvement is measured as the ratio of tokens needed to reach a given benchmark performance without vs. with TPT augmentation — equivalently, a TPT-trained model achieves the same benchmark score as a standard model while having seen only 1/3 of the tokens. Confounds that may affect this measurement include: the benchmark selection (if benchmarks favor reasoning tasks that directly benefit from thinking augmentations, the efficiency ratio will be inflated versus benchmarks testing factual recall or language tasks); the specific data mix used in training (if the base data already contains some reasoning-rich text, the marginal benefit of augmentation is measured against an already-high baseline); and the fact that augmented data has more tokens per original document (which inflates the effective "tokens seen" denominator in efficiency calculations if not accounted for).</a:t>
            </a:r>
          </a:p>
        </p:txBody>
      </p:sp>
      <p:sp>
        <p:nvSpPr>
          <p:cNvPr id="7" name="Oval 6"/>
          <p:cNvSpPr/>
          <p:nvPr/>
        </p:nvSpPr>
        <p:spPr>
          <a:xfrm>
            <a:off x="4445915" y="22964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69348" y="1266163"/>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57736" y="466500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31894" y="4929270"/>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605186" y="1221530"/>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7323787" y="12867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972988" y="43118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373591" y="93390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45261" y="25814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224" y="3852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68217" y="37517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29291" y="16056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765107" y="6076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61008" y="34504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26394" y="34786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method is applied across training stages including pre-training and mid-training from open-source checkpoints. Does the benefit of thinking augmentation diminish when applied to a model that already has strong reasoning capabilities (e.g., mid-training from a capable base model vs. training from scratch)?</a:t>
            </a:r>
          </a:p>
        </p:txBody>
      </p:sp>
      <p:sp>
        <p:nvSpPr>
          <p:cNvPr id="15" name="Pentagon 14"/>
          <p:cNvSpPr/>
          <p:nvPr/>
        </p:nvSpPr>
        <p:spPr>
          <a:xfrm>
            <a:off x="172553" y="1928732"/>
            <a:ext cx="670831" cy="670831"/>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1618778" y="1742818"/>
            <a:ext cx="476248" cy="476248"/>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7863789" y="92337"/>
            <a:ext cx="504162" cy="504162"/>
          </a:xfrm>
          <a:prstGeom prst="triangl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11328040" y="1608643"/>
            <a:ext cx="710135" cy="710135"/>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6481433" y="6134496"/>
            <a:ext cx="723503" cy="72350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54464" y="641791"/>
            <a:ext cx="282759" cy="282759"/>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8886020" y="6193118"/>
            <a:ext cx="352382" cy="352382"/>
          </a:xfrm>
          <a:prstGeom prst="hexagon">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entagon 21"/>
          <p:cNvSpPr/>
          <p:nvPr/>
        </p:nvSpPr>
        <p:spPr>
          <a:xfrm>
            <a:off x="10414626" y="5815978"/>
            <a:ext cx="320859" cy="320859"/>
          </a:xfrm>
          <a:prstGeom prst="homePlat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40114" y="1802582"/>
            <a:ext cx="345489" cy="345489"/>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entagon 23"/>
          <p:cNvSpPr/>
          <p:nvPr/>
        </p:nvSpPr>
        <p:spPr>
          <a:xfrm>
            <a:off x="232498" y="5151714"/>
            <a:ext cx="602730" cy="602730"/>
          </a:xfrm>
          <a:prstGeom prst="homePlat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method is applied across training stages including pre-training and mid-training from open-sour…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benefit of thinking augmentation likely diminishes when mid-training from an already-capable reasoning model, because such a model can already maintain and follow complex reasoning chains without the scaffolding. The value of TPT's augmentation is greatest when the model lacks the capacity or learned behaviors to generate reasoning internally — in pre-training, the model has no pre-existing reasoning priors, so external reasoning scaffolds provide significant lift. In mid-training from a strong base, the model may already implicitly construct reasoning during forward passes, meaning that the explicit reasoning augmentation adds less new information and may even introduce conflicts with the model's learned reasoning style. The paper's observation that TPT works across both constrained and abundant data regimes suggests the benefit is more robust than this analysis implies, but diminishing returns at high capability levels are still expected.</a:t>
            </a:r>
          </a:p>
        </p:txBody>
      </p:sp>
      <p:sp>
        <p:nvSpPr>
          <p:cNvPr id="7" name="Oval 6"/>
          <p:cNvSpPr/>
          <p:nvPr/>
        </p:nvSpPr>
        <p:spPr>
          <a:xfrm>
            <a:off x="1029334" y="5914583"/>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582437" y="4798960"/>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97569" y="289928"/>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590047" y="5865463"/>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262595" y="32454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5959413" y="634256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20903" y="661976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309886" y="328523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967600" y="2766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722816" y="42414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77770" y="53577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357888" y="559446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215591" y="64633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58320" y="1875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37750" y="6222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TPT is described as "universally applicable" and "agnostic to document structure." However, not all text has a meaningful "rationale" to extract — for example, product listings or legal boilerplate. How does the method handle low-signal documents, and could augmenting them with fabricated reasoning traces be harmful?</a:t>
            </a:r>
          </a:p>
        </p:txBody>
      </p:sp>
      <p:sp>
        <p:nvSpPr>
          <p:cNvPr id="15" name="Diamond 14"/>
          <p:cNvSpPr/>
          <p:nvPr/>
        </p:nvSpPr>
        <p:spPr>
          <a:xfrm>
            <a:off x="7144093" y="6290467"/>
            <a:ext cx="426479" cy="426479"/>
          </a:xfrm>
          <a:prstGeom prst="diamond">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1272870" y="5883803"/>
            <a:ext cx="486451" cy="486451"/>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231976" y="1065216"/>
            <a:ext cx="461863" cy="461863"/>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088297" y="5960812"/>
            <a:ext cx="344160" cy="344160"/>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11468457" y="5518449"/>
            <a:ext cx="720494" cy="720494"/>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96588" y="552744"/>
            <a:ext cx="450370" cy="450370"/>
          </a:xfrm>
          <a:prstGeom prst="homePlat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0071053" y="155034"/>
            <a:ext cx="674967" cy="674967"/>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092648" y="6128278"/>
            <a:ext cx="404992" cy="404992"/>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680202" y="3698077"/>
            <a:ext cx="438314" cy="438314"/>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TPT is described as "universally applicable" and "agnostic to document structure." However, not all…</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For low-signal documents like product listings or legal boilerplate, the auto-generated thinking trajectories would likely be shallow and generic (the Feynman technique prompt would produce statements like "this product is used for X" without deep rationale), and may fabricate reasoning that is plausible-sounding but disconnected from the actual document content. Augmenting these with fabricated reasoning could be harmful because: (a) the model learns that reasoning trajectories can be appended to any document, potentially learning to produce elaborate but disconnected reasoning on low-signal queries; (b) the fabricated reasoning for boilerplate may contain factual claims that contradict what the model should learn from more authoritative sources. The paper's domain-agnostic claim likely depends on the generator model intelligently producing shallow or no augmentation for low-signal documents, but this self-regulation is not guaranteed.</a:t>
            </a:r>
          </a:p>
        </p:txBody>
      </p:sp>
      <p:sp>
        <p:nvSpPr>
          <p:cNvPr id="7" name="Oval 6"/>
          <p:cNvSpPr/>
          <p:nvPr/>
        </p:nvSpPr>
        <p:spPr>
          <a:xfrm>
            <a:off x="2052495" y="115974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166914" y="8296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172704" y="61963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27735" y="2561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5652" y="553548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817007" y="589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630449" y="55678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41289" y="55037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1389" y="11444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4480517" y="103852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66965" y="5975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68972" y="59082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51190" y="9212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902639" y="640953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855019" y="595235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thinking trajectories are generated by an unspecified model. How sensitive is TPT's effectiveness to the capability gap between the generator model and the model being trained — would a weaker generator produce less useful or potentially misleading reasoning augmentations?</a:t>
            </a:r>
          </a:p>
        </p:txBody>
      </p:sp>
      <p:sp>
        <p:nvSpPr>
          <p:cNvPr id="15" name="Hexagon 14"/>
          <p:cNvSpPr/>
          <p:nvPr/>
        </p:nvSpPr>
        <p:spPr>
          <a:xfrm>
            <a:off x="6342229" y="6302060"/>
            <a:ext cx="555939" cy="555939"/>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a:off x="1006053" y="765657"/>
            <a:ext cx="556639" cy="556639"/>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1319836" y="852513"/>
            <a:ext cx="635899" cy="635899"/>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entagon 17"/>
          <p:cNvSpPr/>
          <p:nvPr/>
        </p:nvSpPr>
        <p:spPr>
          <a:xfrm>
            <a:off x="11651583" y="742653"/>
            <a:ext cx="537368" cy="537368"/>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2869937" y="142466"/>
            <a:ext cx="493159" cy="493159"/>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825713" y="2653449"/>
            <a:ext cx="363238" cy="363238"/>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901068" y="5999352"/>
            <a:ext cx="350676" cy="350676"/>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thinking trajectories are generated by an unspecified model. How sensitive is TPT's effectivene…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TPT's effectiveness is likely sensitive to the capability gap between generator and student model. If the generator is too weak (comparable to or weaker than the student model being trained), the thinking trajectories would offer reasoning that the student already knows — providing no additional signal and potentially training the model on lower-quality reasoning than it could generate itself. If the generator is too strong (much more capable than the student), the reasoning traces may be correct but operate at a level of abstraction the student cannot follow, effectively teaching concepts the student's capacity cannot represent. Empirically, the sweet spot is a generator moderately stronger than the student model, capable enough to produce accurate and coherent reasoning chains but not so advanced that the reasoning leaps are too large to be learnable. The paper does not specify which model generates the thinking trajectories, which is a significant methodological limitation for reproducibility.</a:t>
            </a:r>
          </a:p>
        </p:txBody>
      </p:sp>
      <p:sp>
        <p:nvSpPr>
          <p:cNvPr id="7" name="Oval 6"/>
          <p:cNvSpPr/>
          <p:nvPr/>
        </p:nvSpPr>
        <p:spPr>
          <a:xfrm>
            <a:off x="1186514" y="427957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50777" y="56059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258644" y="239963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97237" y="262319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639105" y="64945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982133" y="573582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181486" y="65680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646736" y="468734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00350" y="42798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55857" y="5370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248931" y="63484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095864" y="58490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883589" y="52518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211665" y="1854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661667" y="7285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TPT improves post-training performance by over 10% on challenging reasoning benchmarks for 3B models. What does this imply about the upper limit of post-training improvements achievable without TPT-style pretraining, and does it challenge the assumption that reasoning is primarily a fine-tuning phenomenon?</a:t>
            </a:r>
          </a:p>
        </p:txBody>
      </p:sp>
      <p:sp>
        <p:nvSpPr>
          <p:cNvPr id="15" name="Pentagon 14"/>
          <p:cNvSpPr/>
          <p:nvPr/>
        </p:nvSpPr>
        <p:spPr>
          <a:xfrm>
            <a:off x="8579437" y="172363"/>
            <a:ext cx="604479" cy="604479"/>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4598" y="3559800"/>
            <a:ext cx="711293" cy="711293"/>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03648" y="6554470"/>
            <a:ext cx="303529" cy="303529"/>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799512" y="6126858"/>
            <a:ext cx="458914" cy="458914"/>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6453744" y="6307536"/>
            <a:ext cx="485706" cy="485706"/>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59293" y="845101"/>
            <a:ext cx="467500" cy="467500"/>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323652" y="478129"/>
            <a:ext cx="535462" cy="53546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a:off x="10910940" y="6363482"/>
            <a:ext cx="494517" cy="494517"/>
          </a:xfrm>
          <a:prstGeom prst="triangl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11198680" y="5353153"/>
            <a:ext cx="613450" cy="61345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91213" y="5780540"/>
            <a:ext cx="729199" cy="729199"/>
          </a:xfrm>
          <a:prstGeom prst="triangl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TPT improves post-training performance by over 10% on challenging reasoning benchmarks for 3B model…</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TPT's &gt;10% post-training improvement for 3B models implies that the ceiling of post-training improvements without TPT-style pre-training is lower than previously assumed — that is, the reasoning capabilities achievable through fine-tuning or RLHF alone are constrained by what was learned during pre-training, and pre-training without explicit reasoning scaffolding creates a fundamental bottleneck. This challenges the "reasoning is primarily a fine-tuning phenomenon" assumption that underlies chain-of-thought and RLHF research, suggesting instead that reasoning ability is largely determined by pre-training and that post-training merely surfaces and refines capabilities that pre-training either installed or failed to install. The 3x data efficiency gain reinforces this: a model pre-trained with TPT reaches the same post-training performance as a standard model trained on 3x more data, indicating that the quality of pre-training signals matters as much as quantity for ultimate reasoning capabilities.</a:t>
            </a:r>
          </a:p>
        </p:txBody>
      </p:sp>
      <p:sp>
        <p:nvSpPr>
          <p:cNvPr id="7" name="Oval 6"/>
          <p:cNvSpPr/>
          <p:nvPr/>
        </p:nvSpPr>
        <p:spPr>
          <a:xfrm>
            <a:off x="1643734" y="2168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08971" y="241293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20988" y="26218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57553" y="171005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362537" y="635315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Isosceles Triangle 1"/>
          <p:cNvSpPr/>
          <p:nvPr/>
        </p:nvSpPr>
        <p:spPr>
          <a:xfrm>
            <a:off x="4521211" y="63562"/>
            <a:ext cx="626303" cy="62630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entagon 2"/>
          <p:cNvSpPr/>
          <p:nvPr/>
        </p:nvSpPr>
        <p:spPr>
          <a:xfrm>
            <a:off x="8095617" y="279323"/>
            <a:ext cx="545827" cy="545827"/>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6226029" y="6241518"/>
            <a:ext cx="616481" cy="616481"/>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190374" y="979399"/>
            <a:ext cx="472609" cy="472609"/>
          </a:xfrm>
          <a:prstGeom prst="hexagon">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844332" y="5927283"/>
            <a:ext cx="568128" cy="568128"/>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80295" y="5689890"/>
            <a:ext cx="630551" cy="63055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5216323" y="6044143"/>
            <a:ext cx="711135" cy="711135"/>
          </a:xfrm>
          <a:prstGeom prst="ellips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5213511" y="642467"/>
            <a:ext cx="428023" cy="428023"/>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Efficient Prompting: Compressing prompts via the Feynman Technique is a highly effective strategy for optimizing token usage. I especially love their use of the Feynman technique and how they managed to compress the prompt into just two lines. ```markdown Simulate an expert's in-depth thought process as they analyze the above context, focusing on complex and informative aspects. Skip trivial details. Use Feynman technique whenever possible to ensure a deep understanding. ```
▶  Scalability: The approach is universally applicable as it eliminates the need for human annotation and is agnostic to document structure.
▶  Versatility: Its ability to be applied not only to STEM but also to general text is a remarkable achievement.</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THINKING AUGMENTED PRE-TRAINING (TPT)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