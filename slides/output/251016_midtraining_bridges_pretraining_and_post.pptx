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Midtraining Bridges Pretraining and Posttraining Distributions</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Emmy Liu, Graham Neubig, Chenyan Xiong (Carnegie Mellon University)</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25-10-16</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https://arxiv.org/abs/2510.14865</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Midtraining Bridges Pretraining and Posttraining Distributions</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미드-트레이닝은 "분포적 가교(distributional bridge)"로 작동한다. 이점은 사전학습에서 먼 도메인(코드, 수학)에 집중되고, 타이밍이 혼합 비율보다 더 중요하다 — 늦게 도입하면 비율을 아무리 높여도 조기 도입의 효과를 회복할 수 없다.</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A3FF"/>
        </a:solidFill>
        <a:effectLst/>
      </p:bgPr>
    </p:bg>
    <p:spTree>
      <p:nvGrpSpPr>
        <p:cNvPr id="1" name=""/>
        <p:cNvGrpSpPr/>
        <p:nvPr/>
      </p:nvGrpSpPr>
      <p:grpSpPr/>
      <p:sp>
        <p:nvSpPr>
          <p:cNvPr id="2" name="Parallelogram 1"/>
          <p:cNvSpPr/>
          <p:nvPr/>
        </p:nvSpPr>
        <p:spPr>
          <a:xfrm>
            <a:off x="11346629" y="5955948"/>
            <a:ext cx="540766" cy="540766"/>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5067776" y="956131"/>
            <a:ext cx="597361" cy="597361"/>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Pentagon 3"/>
          <p:cNvSpPr/>
          <p:nvPr/>
        </p:nvSpPr>
        <p:spPr>
          <a:xfrm>
            <a:off x="11835138" y="2731630"/>
            <a:ext cx="351427" cy="351427"/>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32452" y="1028748"/>
            <a:ext cx="588521" cy="588521"/>
          </a:xfrm>
          <a:prstGeom prst="ellips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40545" y="289119"/>
            <a:ext cx="522161" cy="522161"/>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3595328" y="304382"/>
            <a:ext cx="683413" cy="683413"/>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527060" y="1674887"/>
            <a:ext cx="661891" cy="661891"/>
          </a:xfrm>
          <a:prstGeom prst="parallelogram">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451765" y="6086871"/>
            <a:ext cx="537836" cy="537836"/>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498521" y="367387"/>
            <a:ext cx="505409" cy="505409"/>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12" name="TextBox 11"/>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1</a:t>
            </a:r>
          </a:p>
        </p:txBody>
      </p:sp>
      <p:sp>
        <p:nvSpPr>
          <p:cNvPr id="13" name="TextBox 12"/>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도메인 특이성: 코드 미드-트레이닝 → 코드 태스크 검증 손실 0.286 향상; 수학 → GSM8K 0.091 향상; FLAN(일반 명령) → 미미한 효과 — 불일치 도메인은 거의 이득 없음</a:t>
            </a:r>
          </a:p>
          <a:p>
            <a:pPr algn="l">
              <a:spcBef>
                <a:spcPts val="600"/>
              </a:spcBef>
            </a:pPr>
            <a:r>
              <a:rPr sz="2000" b="0">
                <a:solidFill>
                  <a:srgbClr val="FFFFFF"/>
                </a:solidFill>
                <a:latin typeface="Arial"/>
              </a:rPr>
              <a:t>▶  Proximity Advantage: 미드-트레이닝 데이터와 타겟 분포의 거리가 성능 향상을 강하게 예측(r=0.869, p&lt;0.001 @ 70M) — 유니그램 토큰 분포만으로 효과 사전 추정 가능</a:t>
            </a:r>
          </a:p>
          <a:p>
            <a:pPr algn="l">
              <a:spcBef>
                <a:spcPts val="600"/>
              </a:spcBef>
            </a:pPr>
            <a:r>
              <a:rPr sz="2000" b="0">
                <a:solidFill>
                  <a:srgbClr val="FFFFFF"/>
                </a:solidFill>
                <a:latin typeface="Arial"/>
              </a:rPr>
              <a:t>▶  가소성 창(Plasticity Window) 발견: 조기 도입(12.6B 토큰)에서 80% 혼합 최적 vs. 후기 도입(105B 토큰)에서 10% 혼합이 80%보다 오히려 우수 — 창 밖에서는 비율 증가로 보상 불가</a:t>
            </a:r>
          </a:p>
        </p:txBody>
      </p:sp>
      <p:sp>
        <p:nvSpPr>
          <p:cNvPr id="14" name="Rectangle 13"/>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FFFF"/>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3E3E"/>
        </a:solidFill>
        <a:effectLst/>
      </p:bgPr>
    </p:bg>
    <p:spTree>
      <p:nvGrpSpPr>
        <p:cNvPr id="1" name=""/>
        <p:cNvGrpSpPr/>
        <p:nvPr/>
      </p:nvGrpSpPr>
      <p:grpSpPr/>
      <p:sp>
        <p:nvSpPr>
          <p:cNvPr id="2" name="Rectangle 1"/>
          <p:cNvSpPr/>
          <p:nvPr/>
        </p:nvSpPr>
        <p:spPr>
          <a:xfrm>
            <a:off x="11233349" y="348608"/>
            <a:ext cx="325708" cy="325708"/>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11159831" y="5794029"/>
            <a:ext cx="620691" cy="620691"/>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Diamond 3"/>
          <p:cNvSpPr/>
          <p:nvPr/>
        </p:nvSpPr>
        <p:spPr>
          <a:xfrm>
            <a:off x="11620813" y="1309455"/>
            <a:ext cx="519224" cy="519224"/>
          </a:xfrm>
          <a:prstGeom prst="diamond">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35199" y="1315391"/>
            <a:ext cx="283631" cy="283631"/>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Pentagon 5"/>
          <p:cNvSpPr/>
          <p:nvPr/>
        </p:nvSpPr>
        <p:spPr>
          <a:xfrm>
            <a:off x="8253926" y="6147002"/>
            <a:ext cx="710997" cy="71099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87407" y="968864"/>
            <a:ext cx="657765" cy="657765"/>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9" name="TextBox 8"/>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2</a:t>
            </a:r>
          </a:p>
        </p:txBody>
      </p:sp>
      <p:sp>
        <p:nvSpPr>
          <p:cNvPr id="10" name="TextBox 9"/>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혼합 vs. 지속 사전학습: 20% Starcoder 혼합 → 코드 검증 손실 2.134 vs. 100% 지속 사전학습 → 2.219 (160M 모델) — 일반 데이터 유지가 핵심</a:t>
            </a:r>
          </a:p>
          <a:p>
            <a:pPr algn="l">
              <a:spcBef>
                <a:spcPts val="600"/>
              </a:spcBef>
            </a:pPr>
            <a:r>
              <a:rPr sz="2000" b="0">
                <a:solidFill>
                  <a:srgbClr val="FFFFFF"/>
                </a:solidFill>
                <a:latin typeface="Arial"/>
              </a:rPr>
              <a:t>▶  CKA 표현 분석: 미드-트레이닝된 모델은 파인튜닝 후 최종 레이어에서 더 작은 표현 이동으로 동등한 성능 달성 — 포스트-트레이닝을 위한 더 유리한 초기화 제공</a:t>
            </a:r>
          </a:p>
        </p:txBody>
      </p:sp>
      <p:sp>
        <p:nvSpPr>
          <p:cNvPr id="11" name="Rectangle 10"/>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가소성 창(plasticity window)이 존재한다면, 이 창의 경계를 결정하는 메커니즘은 무엇이며, 모델 규모가 커질수록 이 창은 어떻게 변화하는가?</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가소성 창(plasticity window)이 존재한다면, 이 창의 경계를 결정하는 메커니즘은 무엇이며, 모델 규모가 커질수록 이 창은 어떻게 변화하는가?</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후기 도입(105B 토큰 시점)에서 80% 혼합조차 조기 도입(12.6B 토큰 시점)의 10% 혼합보다 열등한 결과는, 사전학습 초기에 모델의 내부 표현이 아직 고착되지 않아 새로운 분포를 흡수할 수 있는 유연성이 존재함을 시사한다. 논문은 12.6B 시점이 창 내에 있고 105B 시점은 밖에 있음을 보여주지만, 창의 정확한 경계를 결정하는 메커니즘(loss landscape의 곡률 변화, 파라미터 노름 안정화 시점 등)은 명시적으로 분석하지 않는다. 모델 규모가 커질수록 학습 토큰 수도 비례하여 증가하므로 절대적 토큰 수 기준의 가소성 창은 확장될 가능성이 높으나, 사전학습 진행률 대비 상대적 위치가 보존되는지는 추가 검증이 필요하다.</a:t>
            </a:r>
          </a:p>
        </p:txBody>
      </p:sp>
      <p:sp>
        <p:nvSpPr>
          <p:cNvPr id="7" name="Oval 6"/>
          <p:cNvSpPr/>
          <p:nvPr/>
        </p:nvSpPr>
        <p:spPr>
          <a:xfrm>
            <a:off x="1004547" y="364827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Proximity advantage가 유니그램 토큰 통계만으로 r=0.869의 높은 예측력을 보이는데, 이처럼 단순한 표면 통계가 깊은 의미적 유사성의 프록시로 작동할 수 있는 이유는 무엇인가?</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Proximity advantage가 유니그램 토큰 통계만으로 r=0.869의 높은 예측력을 보이는데, 이처럼 단순한 표면 통계가 깊은 의미적 유사성의 프록시로 작동할 수 있는…</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유니그램 토큰 분포는 도메인의 어휘적 특성을 직접 포착한다. 코드 데이터는 괄호, 들여쓰기 토큰, 예약어가 지배적이고, 수학 데이터는 수식 관련 토큰이 집중되는데, 이러한 표면적 분포 차이가 실제로 해당 도메인의 구문적-의미적 특성과 강하게 상관된다. 자연어 웹 텍스트와 코드 사이의 토큰 분포 거리는 단순한 표면 차이가 아니라 근본적으로 다른 생성 과정을 반영한다. 다만 더 큰 모델에서는 토큰 수준 통계를 넘어 더 복잡한 의미적 관계가 중요해질 수 있으므로, 이 프록시의 유효성이 규모에 따라 감소할 가능성을 배제할 수 없다.</a:t>
            </a:r>
          </a:p>
        </p:txBody>
      </p:sp>
      <p:sp>
        <p:nvSpPr>
          <p:cNvPr id="7" name="Oval 6"/>
          <p:cNvSpPr/>
          <p:nvPr/>
        </p:nvSpPr>
        <p:spPr>
          <a:xfrm>
            <a:off x="4610790" y="1016369"/>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20% Starcoder 혼합이 100% 지속 사전학습보다 우수한 결과를 보이는 현상을 그래디언트 정렬-forgetting 분해 프레임워크로 어떻게 설명할 수 있는가?</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20% Starcoder 혼합이 100% 지속 사전학습보다 우수한 결과를 보이는 현상을 그래디언트 정렬-forgetting 분해 프레임워크로 어떻게 설명할 수 있는가?</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그래디언트 정렬-forgetting 분해 프레임워크에서, 100% 특화 데이터 지속 사전학습은 타겟 도메인과의 그래디언트 정렬은 극대화하지만 동시에 사전학습 분포로부터의 forgetting(effort 항)도 극대화한다. 반면 20% 혼합은 그래디언트 정렬을 적당히 유지하면서 나머지 80% 일반 데이터가 사전학습 분포와의 연속성을 보존하여 forgetting을 억제한다. 코드에서 20% 혼합(2.134)이 100% 지속 사전학습(2.219)보다 낮은 검증 손실을 달성한 것은, forgetting 감소의 이득이 그래디언트 정렬 감소의 손실을 초과했음을 의미하며, 미드-트레이닝의 핵심 기제가 "분포적 가교"라는 논문의 중심 주장을 뒷받침한다.</a:t>
            </a:r>
          </a:p>
        </p:txBody>
      </p:sp>
      <p:sp>
        <p:nvSpPr>
          <p:cNvPr id="7" name="Oval 6"/>
          <p:cNvSpPr/>
          <p:nvPr/>
        </p:nvSpPr>
        <p:spPr>
          <a:xfrm>
            <a:off x="4924984" y="15427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FLAN과 같은 광범위 명령 데이터가 미드-트레이닝에서 미미한 효과를 보인 이유는 무엇이며, 이는 instruction tuning의 효과가 미드-트레이닝 단계가 아닌 포스트-트레이닝 단계에서만 발현된다는 것을 의미하는가?</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FLAN과 같은 광범위 명령 데이터가 미드-트레이닝에서 미미한 효과를 보인 이유는 무엇이며, 이는 instruction tuning의 효과가 미드-트레이닝 단계가 아닌 포스트-트…</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FLAN 데이터의 미미한 효과는 두 가지로 해석된다. 첫째, FLAN은 다양한 NLP 태스크를 명령-응답 포맷으로 변환한 것으로, 특정 도메인(코드, 수학)에 대한 proximity advantage가 낮다. 둘째, FLAN의 가치는 "포맷 학습"(명령을 따르는 행동 양식)에 있는데, 이는 토큰 분포 이동이 아니라 행동 패턴의 습득이므로 미드-트레이닝의 분포적 가교 메커니즘과 다른 학습 축에 해당한다. 이는 instruction tuning이 무효하다는 의미가 아니라, 그 효과가 포스트-트레이닝 단계에서 소량의 고품질 데이터와 정렬 기법(RLHF/DPO)과 결합될 때 발현된다는 것이다.</a:t>
            </a:r>
          </a:p>
        </p:txBody>
      </p:sp>
      <p:sp>
        <p:nvSpPr>
          <p:cNvPr id="7" name="Oval 6"/>
          <p:cNvSpPr/>
          <p:nvPr/>
        </p:nvSpPr>
        <p:spPr>
          <a:xfrm>
            <a:off x="10139045" y="120067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CKA 분석에서 최종 레이어의 표현 안정성이 높다는 것이 실질적으로 파인튜닝 효율성에 어떤 메커니즘으로 기여하며, 이것이 catastrophic forgetting 완화와 어떤 관계에 있는가?</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CKA 분석에서 최종 레이어의 표현 안정성이 높다는 것이 실질적으로 파인튜닝 효율성에 어떤 메커니즘으로 기여하며, 이것이 catastrophic forgetting 완화와 어떤…</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미드-트레이닝된 모델은 파인튜닝 시 최종 레이어에서 더 작은 표현 이동으로 동등한 다운스트림 성능을 달성한다. 이는 미드-트레이닝이 사전학습 표현 공간과 타겟 태스크 표현 공간 사이에 중간 지점을 형성하여, 파인튜닝이 "더 짧은 거리"만 이동하면 되도록 만든다는 것이다. Catastrophic forgetting 관점에서, 표현 이동이 작다는 것은 파인튜닝 과정에서 사전학습 때 획득한 일반 지식을 인코딩하는 초기-중간 레이어의 표현이 덜 교란됨을 뜻한다. 즉 미드-트레이닝은 forgetting-adaptation 트레이드오프에서 더 유리한 출발점을 제공한다.</a:t>
            </a:r>
          </a:p>
        </p:txBody>
      </p:sp>
      <p:sp>
        <p:nvSpPr>
          <p:cNvPr id="7" name="Oval 6"/>
          <p:cNvSpPr/>
          <p:nvPr/>
        </p:nvSpPr>
        <p:spPr>
          <a:xfrm>
            <a:off x="979244" y="25705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Pythia 70M~1B 규모에서 검증된 이 발견들이 현대 LLM(수십~수백B 파라미터)에 그대로 적용 가능한가, 아니면 규모에 따른 질적 전환이 예상되는가?</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Pythia 70M~1B 규모에서 검증된 이 발견들이 현대 LLM(수십~수백B 파라미터)에 그대로 적용 가능한가, 아니면 규모에 따른 질적 전환이 예상되는가?</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Pythia 70M~1B는 현대 LLM 대비 2~3 자릿수 작은 규모이며, 직접 외삽에는 몇 가지 주의가 필요하다. 대규모 모델은 사전학습 데이터가 수조 토큰에 달하여 이미 코드와 수학을 상당량 포함하므로 미드-트레이닝의 marginal gain이 줄어들 수 있다. 또한 emergence 현상으로 인해 큰 모델은 적은 도메인 데이터로도 빠르게 적응할 수 있어 가소성 창의 형태가 달라질 수 있다. 반면, 도메인 특이성 원칙(불일치 도메인 효과 미미)과 점진적 분포 이동의 우위는 규모에 관계없이 유지될 가능성이 높다. Llama, DeepSeek의 멀티-스테이지 학습이 유사한 원칙을 따르는 것이 간접적 증거다.</a:t>
            </a:r>
          </a:p>
        </p:txBody>
      </p:sp>
      <p:sp>
        <p:nvSpPr>
          <p:cNvPr id="7" name="Oval 6"/>
          <p:cNvSpPr/>
          <p:nvPr/>
        </p:nvSpPr>
        <p:spPr>
          <a:xfrm>
            <a:off x="174124" y="1974325"/>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8748360" y="58567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44997" y="62374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51040" y="53656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698270" y="3820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3474854" y="10094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619582" y="676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65857" y="8892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79272" y="38427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657338" y="12391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4211" y="4607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타이밍-혼합 비율의 상호작용 발견은 현재 산업계의 멀티-스테이지 학습 파이프라인 설계에 어떤 실질적 시사점을 주며, 최적 스케줄을 자동으로 탐색하는 것이 가능한가?</a:t>
            </a:r>
          </a:p>
        </p:txBody>
      </p:sp>
      <p:sp>
        <p:nvSpPr>
          <p:cNvPr id="15" name="Isosceles Triangle 14"/>
          <p:cNvSpPr/>
          <p:nvPr/>
        </p:nvSpPr>
        <p:spPr>
          <a:xfrm>
            <a:off x="11359782" y="5075169"/>
            <a:ext cx="314181" cy="314181"/>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941740" y="1040409"/>
            <a:ext cx="531412" cy="531412"/>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0305119" y="859194"/>
            <a:ext cx="386408" cy="386408"/>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1194304" y="352289"/>
            <a:ext cx="277335" cy="277335"/>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arallelogram 18"/>
          <p:cNvSpPr/>
          <p:nvPr/>
        </p:nvSpPr>
        <p:spPr>
          <a:xfrm>
            <a:off x="1003849" y="3499548"/>
            <a:ext cx="688821" cy="688821"/>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arallelogram 19"/>
          <p:cNvSpPr/>
          <p:nvPr/>
        </p:nvSpPr>
        <p:spPr>
          <a:xfrm>
            <a:off x="406891" y="4855215"/>
            <a:ext cx="291119" cy="291119"/>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타이밍-혼합 비율의 상호작용 발견은 현재 산업계의 멀티-스테이지 학습 파이프라인 설계에 어떤 실질적 시사점을 주며, 최적 스케줄을 자동으로 탐색하는 것이 가능한가?</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핵심 시사점은 "특화 데이터를 조기에, 적절한 비율로 도입해야 한다"는 것이다. 산업계에서는 학습 파이프라인 설계 시 특화 데이터의 도입 시점을 사전학습 초기~중기로 앞당기고, 도입 시점에 따라 혼합 비율을 차등 적용해야 한다(조기: 높은 비율 허용, 후기: 낮은 비율만 유효). 최적 스케줄 자동 탐색과 관련하여, proximity advantage 메트릭(r=0.869)은 대규모 grid search 없이도 후보 혼합의 효과를 사전에 추정할 수 있는 저비용 프록시로 활용 가능하다. 현실적으로는 소규모 프록시 모델에서 최적 스케줄을 탐색한 후 scaling law로 외삽하는 2단계 접근이 실용적이다.</a:t>
            </a:r>
          </a:p>
        </p:txBody>
      </p:sp>
      <p:sp>
        <p:nvSpPr>
          <p:cNvPr id="7" name="Oval 6"/>
          <p:cNvSpPr/>
          <p:nvPr/>
        </p:nvSpPr>
        <p:spPr>
          <a:xfrm>
            <a:off x="2810735" y="13534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075627" y="82259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674643" y="551962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46464" y="457949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014253" y="62782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Rectangle 1"/>
          <p:cNvSpPr/>
          <p:nvPr/>
        </p:nvSpPr>
        <p:spPr>
          <a:xfrm>
            <a:off x="264706" y="5217664"/>
            <a:ext cx="480108" cy="480108"/>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3936457" y="6211983"/>
            <a:ext cx="646016" cy="646016"/>
          </a:xfrm>
          <a:prstGeom prst="diamond">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Hexagon 3"/>
          <p:cNvSpPr/>
          <p:nvPr/>
        </p:nvSpPr>
        <p:spPr>
          <a:xfrm>
            <a:off x="224202" y="342761"/>
            <a:ext cx="653145" cy="653145"/>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Hexagon 4"/>
          <p:cNvSpPr/>
          <p:nvPr/>
        </p:nvSpPr>
        <p:spPr>
          <a:xfrm>
            <a:off x="970810" y="410154"/>
            <a:ext cx="566791" cy="56679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66752" y="3211370"/>
            <a:ext cx="335359" cy="335359"/>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11501348" y="4769981"/>
            <a:ext cx="687603" cy="687603"/>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124370" y="5632365"/>
            <a:ext cx="584047" cy="584047"/>
          </a:xfrm>
          <a:prstGeom prst="ellips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0" name="TextBox 9"/>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도메인 특이성: 코드 미드-트레이닝 → 코드 태스크 검증 손실 0.286 향상; 수학 → GSM8K 0.091 향상; FLAN(일반 명령) → 미미한 효과 — 불일치 도메인은 거의 이득 없음
▶  Proximity Advantage: 미드-트레이닝 데이터와 타겟 분포의 거리가 성능 향상을 강하게 예측(r=0.869, p&lt;0.001 @ 70M) — 유니그램 토큰 분포만으로 효과 사전 추정 가능
▶  가소성 창(Plasticity Window) 발견: 조기 도입(12.6B 토큰)에서 80% 혼합 최적 vs. 후기 도입(105B 토큰)에서 10% 혼합이 80%보다 오히려 우수 — 창 밖에서는 비율 증가로 보상 불가</a:t>
            </a:r>
          </a:p>
        </p:txBody>
      </p:sp>
      <p:sp>
        <p:nvSpPr>
          <p:cNvPr id="11" name="Rectangle 10"/>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3" name="TextBox 22"/>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Midtraining Bridges Pretraining and Posttraining Distributi…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