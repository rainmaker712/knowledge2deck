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6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>
            <a:off x="2268743" y="5804754"/>
            <a:ext cx="714281" cy="714281"/>
          </a:xfrm>
          <a:prstGeom prst="triangl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Parallelogram 2"/>
          <p:cNvSpPr/>
          <p:nvPr/>
        </p:nvSpPr>
        <p:spPr>
          <a:xfrm>
            <a:off x="4609268" y="5791190"/>
            <a:ext cx="731121" cy="731121"/>
          </a:xfrm>
          <a:prstGeom prst="parallelogram">
            <a:avLst/>
          </a:prstGeom>
          <a:solidFill>
            <a:srgbClr val="00D084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0208537" y="6165755"/>
            <a:ext cx="500626" cy="500626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Parallelogram 4"/>
          <p:cNvSpPr/>
          <p:nvPr/>
        </p:nvSpPr>
        <p:spPr>
          <a:xfrm>
            <a:off x="592718" y="2910626"/>
            <a:ext cx="283460" cy="283460"/>
          </a:xfrm>
          <a:prstGeom prst="parallelogram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Hexagon 5"/>
          <p:cNvSpPr/>
          <p:nvPr/>
        </p:nvSpPr>
        <p:spPr>
          <a:xfrm>
            <a:off x="4447579" y="918022"/>
            <a:ext cx="392440" cy="392440"/>
          </a:xfrm>
          <a:prstGeom prst="hexagon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Isosceles Triangle 6"/>
          <p:cNvSpPr/>
          <p:nvPr/>
        </p:nvSpPr>
        <p:spPr>
          <a:xfrm>
            <a:off x="5701437" y="728940"/>
            <a:ext cx="381496" cy="381496"/>
          </a:xfrm>
          <a:prstGeom prst="triangl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Pentagon 7"/>
          <p:cNvSpPr/>
          <p:nvPr/>
        </p:nvSpPr>
        <p:spPr>
          <a:xfrm>
            <a:off x="5600939" y="249569"/>
            <a:ext cx="303751" cy="303751"/>
          </a:xfrm>
          <a:prstGeom prst="homePlate">
            <a:avLst/>
          </a:prstGeom>
          <a:solidFill>
            <a:srgbClr val="FF6B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000000"/>
                </a:solidFill>
                <a:latin typeface="Arial Black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"/>
            <a:ext cx="11274552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>
                <a:solidFill>
                  <a:srgbClr val="000000"/>
                </a:solidFill>
                <a:latin typeface="Arial Black"/>
              </a:rPr>
              <a:t>daVinci-Dev: Agent-native Mid-training for Software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9445752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Ji Zeng, Dayuan Fu, Tiantian Mi, Yumin Zhuang, Yaxing Huang, Xuefeng Li, Lyumanshan Ye, Muhang Xie, Qishuo Hua, Zhen Huang, Mohan Jiang, et 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572000"/>
            <a:ext cx="1463040" cy="3200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E600"/>
                </a:solidFill>
                <a:latin typeface="Arial"/>
              </a:rPr>
              <a:t>26-01-26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3E3E"/>
                </a:solidFill>
                <a:latin typeface="Arial Black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00D084"/>
                </a:solidFill>
                <a:latin typeface="Arial Black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9752" y="640080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https://arxiv.org/abs/2601.18418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57600"/>
            <a:ext cx="164592" cy="146304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21792" y="3657600"/>
            <a:ext cx="164592" cy="146304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786384" y="3657600"/>
            <a:ext cx="164592" cy="146304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50976" y="3657600"/>
            <a:ext cx="164592" cy="146304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1115568" y="3657600"/>
            <a:ext cx="164592" cy="146304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319640" y="126231"/>
            <a:ext cx="493995" cy="493995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Hexagon 2"/>
          <p:cNvSpPr/>
          <p:nvPr/>
        </p:nvSpPr>
        <p:spPr>
          <a:xfrm>
            <a:off x="363337" y="2082922"/>
            <a:ext cx="376015" cy="376015"/>
          </a:xfrm>
          <a:prstGeom prst="hexagon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2732" y="5683493"/>
            <a:ext cx="635161" cy="635161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081958" y="4743206"/>
            <a:ext cx="483163" cy="483163"/>
          </a:xfrm>
          <a:prstGeom prst="rect">
            <a:avLst/>
          </a:prstGeom>
          <a:solidFill>
            <a:srgbClr val="00A3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65498" y="3162755"/>
            <a:ext cx="634513" cy="634513"/>
          </a:xfrm>
          <a:prstGeom prst="rect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Pentagon 6"/>
          <p:cNvSpPr/>
          <p:nvPr/>
        </p:nvSpPr>
        <p:spPr>
          <a:xfrm>
            <a:off x="9478300" y="876800"/>
            <a:ext cx="294439" cy="294439"/>
          </a:xfrm>
          <a:prstGeom prst="homePlate">
            <a:avLst/>
          </a:prstGeom>
          <a:solidFill>
            <a:srgbClr val="FF6B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Diamond 7"/>
          <p:cNvSpPr/>
          <p:nvPr/>
        </p:nvSpPr>
        <p:spPr>
          <a:xfrm>
            <a:off x="365644" y="2830740"/>
            <a:ext cx="498296" cy="498296"/>
          </a:xfrm>
          <a:prstGeom prst="diamond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Hexagon 8"/>
          <p:cNvSpPr/>
          <p:nvPr/>
        </p:nvSpPr>
        <p:spPr>
          <a:xfrm>
            <a:off x="5110110" y="954575"/>
            <a:ext cx="494806" cy="494806"/>
          </a:xfrm>
          <a:prstGeom prst="hexagon">
            <a:avLst/>
          </a:prstGeom>
          <a:solidFill>
            <a:srgbClr val="FFE6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65760" y="274320"/>
            <a:ext cx="2194560" cy="475488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Arial Black"/>
              </a:rPr>
              <a:t>ABSTRACT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20040"/>
            <a:ext cx="8897112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daVinci-Dev: Agent-native Mid-training for Software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960120"/>
            <a:ext cx="10725912" cy="5212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000000"/>
                </a:solidFill>
                <a:latin typeface="Arial"/>
              </a:rPr>
              <a:t>값비싼 RL 없이 실제 개발 워크플로우를 반영하는 "에이전트 네이티브 데이터"에 대한 미드-트레이닝만으로 SWE-bench Verified 58.5%(72B)를 달성한다. 핵심은 정적 학습 데이터와 동적 개발 환경 간의 분포 불일치를 미드-트레이닝 단계에서 직접 해소하는 것이다.</a:t>
            </a:r>
          </a:p>
        </p:txBody>
      </p:sp>
      <p:sp>
        <p:nvSpPr>
          <p:cNvPr id="13" name="Oval 12"/>
          <p:cNvSpPr/>
          <p:nvPr/>
        </p:nvSpPr>
        <p:spPr>
          <a:xfrm>
            <a:off x="11444403" y="1341265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6160411" y="1140210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11137111" y="3521356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23904" y="938963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11254391" y="2326044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462719" y="6534885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6B00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11346629" y="5955948"/>
            <a:ext cx="540766" cy="540766"/>
          </a:xfrm>
          <a:prstGeom prst="parallelogram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Parallelogram 2"/>
          <p:cNvSpPr/>
          <p:nvPr/>
        </p:nvSpPr>
        <p:spPr>
          <a:xfrm>
            <a:off x="5067776" y="956131"/>
            <a:ext cx="597361" cy="597361"/>
          </a:xfrm>
          <a:prstGeom prst="parallelogram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Pentagon 3"/>
          <p:cNvSpPr/>
          <p:nvPr/>
        </p:nvSpPr>
        <p:spPr>
          <a:xfrm>
            <a:off x="11835138" y="2731630"/>
            <a:ext cx="351427" cy="351427"/>
          </a:xfrm>
          <a:prstGeom prst="homePlate">
            <a:avLst/>
          </a:prstGeom>
          <a:solidFill>
            <a:srgbClr val="00A3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32452" y="1028748"/>
            <a:ext cx="588521" cy="588521"/>
          </a:xfrm>
          <a:prstGeom prst="ellipse">
            <a:avLst/>
          </a:prstGeom>
          <a:solidFill>
            <a:srgbClr val="00A3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740545" y="289119"/>
            <a:ext cx="522161" cy="522161"/>
          </a:xfrm>
          <a:prstGeom prst="ellipse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Isosceles Triangle 6"/>
          <p:cNvSpPr/>
          <p:nvPr/>
        </p:nvSpPr>
        <p:spPr>
          <a:xfrm>
            <a:off x="3595328" y="304382"/>
            <a:ext cx="683413" cy="683413"/>
          </a:xfrm>
          <a:prstGeom prst="triangl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Parallelogram 7"/>
          <p:cNvSpPr/>
          <p:nvPr/>
        </p:nvSpPr>
        <p:spPr>
          <a:xfrm>
            <a:off x="11527060" y="1674887"/>
            <a:ext cx="661891" cy="661891"/>
          </a:xfrm>
          <a:prstGeom prst="parallelogram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451765" y="6086871"/>
            <a:ext cx="537836" cy="537836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1498521" y="367387"/>
            <a:ext cx="505409" cy="505409"/>
          </a:xfrm>
          <a:prstGeom prst="rect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65760" y="228600"/>
            <a:ext cx="2926080" cy="50292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000000"/>
                </a:solidFill>
                <a:latin typeface="Arial Black"/>
              </a:rPr>
              <a:t>KEY FINDINGS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4552" y="274320"/>
            <a:ext cx="640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960120"/>
            <a:ext cx="11091672" cy="5212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600"/>
              </a:spcBef>
            </a:pPr>
            <a:r>
              <a:rPr sz="2000" b="0">
                <a:solidFill>
                  <a:srgbClr val="FFFFFF"/>
                </a:solidFill>
                <a:latin typeface="Arial"/>
              </a:rPr>
              <a:t>▶  두 가지 에이전트 네이티브 데이터 유형: Contextually-native(완전한 정보 흐름 보존 — 파일 구조·히스토리·관련 코드 포함) + Environmentally-native(실행 가능 리포지토리에서 실제 도구 호출 포함 궤적) — 전자가 "무엇을 봐야 하는가", 후자가 "어떻게 행동해야 하는가"를 담당</a:t>
            </a:r>
          </a:p>
          <a:p>
            <a:pPr algn="l">
              <a:spcBef>
                <a:spcPts val="600"/>
              </a:spcBef>
            </a:pPr>
            <a:r>
              <a:rPr sz="2000" b="0">
                <a:solidFill>
                  <a:srgbClr val="FFFFFF"/>
                </a:solidFill>
                <a:latin typeface="Arial"/>
              </a:rPr>
              <a:t>▶  토큰 효율: 73.1B 미드-트레이닝 토큰으로 Kimi-Dev(~150B 토큰, 60.4%) 대비 절반 이하 토큰 사용 — 에이전트 특화 데이터 구성이 일반 코드 데이터 대량 투입보다 토큰 당 학습 신호 밀도를 높임</a:t>
            </a:r>
          </a:p>
          <a:p>
            <a:pPr algn="l">
              <a:spcBef>
                <a:spcPts val="600"/>
              </a:spcBef>
            </a:pPr>
            <a:r>
              <a:rPr sz="2000" b="0">
                <a:solidFill>
                  <a:srgbClr val="FFFFFF"/>
                </a:solidFill>
                <a:latin typeface="Arial"/>
              </a:rPr>
              <a:t>▶  스케일링 결과: 32B → 56.1%, 72B → 58.5%; 완만한 향상은 현재 성능 병목이 모델 용량보다 에이전트 전략의 질에 있음을 시사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817352" y="914400"/>
            <a:ext cx="164592" cy="14630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981944" y="914400"/>
            <a:ext cx="164592" cy="14630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1146536" y="914400"/>
            <a:ext cx="164592" cy="14630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1311128" y="914400"/>
            <a:ext cx="164592" cy="14630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1475720" y="914400"/>
            <a:ext cx="164592" cy="14630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10817352" y="13716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10981944" y="13716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1146536" y="13716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11311128" y="13716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11475720" y="13716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FFFF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3E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233349" y="348608"/>
            <a:ext cx="325708" cy="32570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Hexagon 2"/>
          <p:cNvSpPr/>
          <p:nvPr/>
        </p:nvSpPr>
        <p:spPr>
          <a:xfrm>
            <a:off x="11159831" y="5794029"/>
            <a:ext cx="620691" cy="620691"/>
          </a:xfrm>
          <a:prstGeom prst="hexagon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Diamond 3"/>
          <p:cNvSpPr/>
          <p:nvPr/>
        </p:nvSpPr>
        <p:spPr>
          <a:xfrm>
            <a:off x="11620813" y="1309455"/>
            <a:ext cx="519224" cy="519224"/>
          </a:xfrm>
          <a:prstGeom prst="diamond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1435199" y="1315391"/>
            <a:ext cx="283631" cy="283631"/>
          </a:xfrm>
          <a:prstGeom prst="ellipse">
            <a:avLst/>
          </a:prstGeom>
          <a:solidFill>
            <a:srgbClr val="00D084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Pentagon 5"/>
          <p:cNvSpPr/>
          <p:nvPr/>
        </p:nvSpPr>
        <p:spPr>
          <a:xfrm>
            <a:off x="8253926" y="6147002"/>
            <a:ext cx="710997" cy="710997"/>
          </a:xfrm>
          <a:prstGeom prst="homePlat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87407" y="968864"/>
            <a:ext cx="657765" cy="657765"/>
          </a:xfrm>
          <a:prstGeom prst="ellips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65760" y="228600"/>
            <a:ext cx="2926080" cy="50292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000000"/>
                </a:solidFill>
                <a:latin typeface="Arial Black"/>
              </a:rPr>
              <a:t>KEY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4552" y="274320"/>
            <a:ext cx="640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60120"/>
            <a:ext cx="11091672" cy="5212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600"/>
              </a:spcBef>
            </a:pPr>
            <a:r>
              <a:rPr sz="2000" b="0">
                <a:solidFill>
                  <a:srgbClr val="FFFFFF"/>
                </a:solidFill>
                <a:latin typeface="Arial"/>
              </a:rPr>
              <a:t>▶  분포 불일치 해소: 입출력 형식뿐 아니라 상호작용의 시간적 구조(temporal structure)까지 학습 분포에 포함 — 추론 시 환경 피드백에 대한 자연스러운 적응 가능</a:t>
            </a:r>
          </a:p>
          <a:p>
            <a:pPr algn="l">
              <a:spcBef>
                <a:spcPts val="600"/>
              </a:spcBef>
            </a:pPr>
            <a:r>
              <a:rPr sz="2000" b="0">
                <a:solidFill>
                  <a:srgbClr val="FFFFFF"/>
                </a:solidFill>
                <a:latin typeface="Arial"/>
              </a:rPr>
              <a:t>▶  두 포스트-트레이닝 설정에서 우수성: 정렬된 기반 모델 기준으로 일관된 개선 — RL 추가 시 시너지 가능성 내포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817352" y="914400"/>
            <a:ext cx="164592" cy="14630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0981944" y="914400"/>
            <a:ext cx="164592" cy="14630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11146536" y="914400"/>
            <a:ext cx="164592" cy="14630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11311128" y="914400"/>
            <a:ext cx="164592" cy="14630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1475720" y="914400"/>
            <a:ext cx="164592" cy="14630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817352" y="13716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0981944" y="13716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1146536" y="13716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11311128" y="13716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11475720" y="13716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E600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92781" y="190411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1264502" y="3351613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49113" y="3493097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7033366" y="250681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730867" y="5505059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6176800" y="254122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9171955" y="6510704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954332" y="251092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1804096" y="2560327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0867744" y="6195523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28600"/>
            <a:ext cx="822960" cy="8229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000000"/>
                </a:solidFill>
                <a:latin typeface="Arial Black"/>
              </a:rPr>
              <a:t>Q1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20040"/>
            <a:ext cx="2011680" cy="457200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Arial Black"/>
              </a:rPr>
              <a:t>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280160"/>
            <a:ext cx="11365992" cy="4846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Contextually-native trajectories와 environmentally-native trajectories를 분리하여 정의한 이유는 무엇이며, 두 유형의 데이터가 모델 성능에 기여하는 메커니즘은 어떻게 다른가?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2577938" y="6407476"/>
            <a:ext cx="450523" cy="450523"/>
          </a:xfrm>
          <a:prstGeom prst="triangle">
            <a:avLst/>
          </a:prstGeom>
          <a:solidFill>
            <a:srgbClr val="FFE6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Hexagon 15"/>
          <p:cNvSpPr/>
          <p:nvPr/>
        </p:nvSpPr>
        <p:spPr>
          <a:xfrm>
            <a:off x="10902568" y="5787986"/>
            <a:ext cx="437125" cy="437125"/>
          </a:xfrm>
          <a:prstGeom prst="hexagon">
            <a:avLst/>
          </a:prstGeom>
          <a:solidFill>
            <a:srgbClr val="FFE6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489664" y="4562677"/>
            <a:ext cx="323679" cy="323679"/>
          </a:xfrm>
          <a:prstGeom prst="ellipse">
            <a:avLst/>
          </a:prstGeom>
          <a:solidFill>
            <a:srgbClr val="00D084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Isosceles Triangle 17"/>
          <p:cNvSpPr/>
          <p:nvPr/>
        </p:nvSpPr>
        <p:spPr>
          <a:xfrm>
            <a:off x="11524996" y="3525237"/>
            <a:ext cx="601775" cy="601775"/>
          </a:xfrm>
          <a:prstGeom prst="triangl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Hexagon 18"/>
          <p:cNvSpPr/>
          <p:nvPr/>
        </p:nvSpPr>
        <p:spPr>
          <a:xfrm>
            <a:off x="7439527" y="1010671"/>
            <a:ext cx="598435" cy="598435"/>
          </a:xfrm>
          <a:prstGeom prst="hexagon">
            <a:avLst/>
          </a:prstGeom>
          <a:solidFill>
            <a:srgbClr val="FF6B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Pentagon 19"/>
          <p:cNvSpPr/>
          <p:nvPr/>
        </p:nvSpPr>
        <p:spPr>
          <a:xfrm>
            <a:off x="11570821" y="5706507"/>
            <a:ext cx="618130" cy="618130"/>
          </a:xfrm>
          <a:prstGeom prst="homePlate">
            <a:avLst/>
          </a:prstGeom>
          <a:solidFill>
            <a:srgbClr val="00A3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Hexagon 20"/>
          <p:cNvSpPr/>
          <p:nvPr/>
        </p:nvSpPr>
        <p:spPr>
          <a:xfrm>
            <a:off x="6075496" y="5831854"/>
            <a:ext cx="434821" cy="434821"/>
          </a:xfrm>
          <a:prstGeom prst="hexagon">
            <a:avLst/>
          </a:prstGeom>
          <a:solidFill>
            <a:srgbClr val="00A3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E600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411480" y="228600"/>
            <a:ext cx="777240" cy="777240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 Black"/>
              </a:rPr>
              <a:t>A1</a:t>
            </a:r>
          </a:p>
        </p:txBody>
      </p:sp>
      <p:sp>
        <p:nvSpPr>
          <p:cNvPr id="4" name="Rectangle 3"/>
          <p:cNvSpPr/>
          <p:nvPr/>
        </p:nvSpPr>
        <p:spPr>
          <a:xfrm>
            <a:off x="1325880" y="320040"/>
            <a:ext cx="182880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Arial Black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97280"/>
            <a:ext cx="11457432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Contextually-native trajectories와 environmentally-native trajectories를 분리하여 정의한 이유는 무엇이며, 두 유형의 데이터…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11457432" cy="46634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두 유형의 분리는 에이전트 행동의 서로 다른 역량 축을 타겟팅한다. Contextually-native trajectories는 에이전트가 올바른 정보를 올바른 시점에 참조하는 능력 — 코드베이스의 구조적 이해와 관련 컨텍스트 선별 능력 — 을 학습시킨다. 이는 실제 개발에서 개발자가 파일 구조, 커밋 히스토리, 의존성 그래프를 탐색하며 문제를 파악하는 과정에 대응한다. 반면 environmentally-native trajectories는 도구 호출의 정확한 시퀀싱과 런타임 피드백 해석 능력을 학습시킨다. 전자가 "무엇을 봐야 하는가"를 가르친다면, 후자는 "어떻게 행동해야 하는가"를 가르치며, 이 두 축의 결합이 완전한 에이전트 역량을 구성한다.</a:t>
            </a:r>
          </a:p>
        </p:txBody>
      </p:sp>
      <p:sp>
        <p:nvSpPr>
          <p:cNvPr id="7" name="Oval 6"/>
          <p:cNvSpPr/>
          <p:nvPr/>
        </p:nvSpPr>
        <p:spPr>
          <a:xfrm>
            <a:off x="1004547" y="3648270"/>
            <a:ext cx="109728" cy="109728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4746706" y="5633156"/>
            <a:ext cx="109728" cy="109728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66162" y="314427"/>
            <a:ext cx="109728" cy="109728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1228111" y="5268862"/>
            <a:ext cx="109728" cy="109728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1883589" y="5251828"/>
            <a:ext cx="109728" cy="109728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3E3E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77941" y="2293919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4758455" y="905569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5445114" y="285023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72365" y="1618079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236620" y="2460137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0479739" y="6054177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228154" y="165045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1118025" y="4047009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1692916" y="1323021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318935" y="2437822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28600"/>
            <a:ext cx="822960" cy="8229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000000"/>
                </a:solidFill>
                <a:latin typeface="Arial Black"/>
              </a:rPr>
              <a:t>Q2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20040"/>
            <a:ext cx="2011680" cy="457200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Arial Black"/>
              </a:rPr>
              <a:t>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280160"/>
            <a:ext cx="11365992" cy="4846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73.1B 토큰의 미드-트레이닝만으로 Kimi-Dev(~150B 토큰) 대비 경쟁력 있는 성능을 달성한 핵심 요인은 데이터 효율성인가, 아니면 데이터 구성(composition)의 질적 차이인가?</a:t>
            </a:r>
          </a:p>
        </p:txBody>
      </p:sp>
      <p:sp>
        <p:nvSpPr>
          <p:cNvPr id="15" name="Parallelogram 14"/>
          <p:cNvSpPr/>
          <p:nvPr/>
        </p:nvSpPr>
        <p:spPr>
          <a:xfrm>
            <a:off x="11507660" y="2960390"/>
            <a:ext cx="681291" cy="681291"/>
          </a:xfrm>
          <a:prstGeom prst="parallelogram">
            <a:avLst/>
          </a:prstGeom>
          <a:solidFill>
            <a:srgbClr val="FF6B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Hexagon 15"/>
          <p:cNvSpPr/>
          <p:nvPr/>
        </p:nvSpPr>
        <p:spPr>
          <a:xfrm>
            <a:off x="9767109" y="84409"/>
            <a:ext cx="482182" cy="482182"/>
          </a:xfrm>
          <a:prstGeom prst="hexagon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Hexagon 16"/>
          <p:cNvSpPr/>
          <p:nvPr/>
        </p:nvSpPr>
        <p:spPr>
          <a:xfrm>
            <a:off x="1999512" y="424530"/>
            <a:ext cx="334837" cy="334837"/>
          </a:xfrm>
          <a:prstGeom prst="hexagon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Diamond 17"/>
          <p:cNvSpPr/>
          <p:nvPr/>
        </p:nvSpPr>
        <p:spPr>
          <a:xfrm>
            <a:off x="579428" y="3937121"/>
            <a:ext cx="332169" cy="332169"/>
          </a:xfrm>
          <a:prstGeom prst="diamond">
            <a:avLst/>
          </a:prstGeom>
          <a:solidFill>
            <a:srgbClr val="00A3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1111893" y="6431757"/>
            <a:ext cx="426242" cy="426242"/>
          </a:xfrm>
          <a:prstGeom prst="ellipse">
            <a:avLst/>
          </a:prstGeom>
          <a:solidFill>
            <a:srgbClr val="00D084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647777" y="6131311"/>
            <a:ext cx="726688" cy="726688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Isosceles Triangle 20"/>
          <p:cNvSpPr/>
          <p:nvPr/>
        </p:nvSpPr>
        <p:spPr>
          <a:xfrm>
            <a:off x="10164440" y="5840575"/>
            <a:ext cx="545069" cy="545069"/>
          </a:xfrm>
          <a:prstGeom prst="triangl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Parallelogram 21"/>
          <p:cNvSpPr/>
          <p:nvPr/>
        </p:nvSpPr>
        <p:spPr>
          <a:xfrm>
            <a:off x="11643137" y="1618758"/>
            <a:ext cx="492949" cy="492949"/>
          </a:xfrm>
          <a:prstGeom prst="parallelogram">
            <a:avLst/>
          </a:prstGeom>
          <a:solidFill>
            <a:srgbClr val="FFE6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2336849" y="6299019"/>
            <a:ext cx="338912" cy="338912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11813274" y="1122878"/>
            <a:ext cx="375677" cy="375677"/>
          </a:xfrm>
          <a:prstGeom prst="rect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E600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411480" y="228600"/>
            <a:ext cx="777240" cy="777240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 Black"/>
              </a:rPr>
              <a:t>A2</a:t>
            </a:r>
          </a:p>
        </p:txBody>
      </p:sp>
      <p:sp>
        <p:nvSpPr>
          <p:cNvPr id="4" name="Rectangle 3"/>
          <p:cNvSpPr/>
          <p:nvPr/>
        </p:nvSpPr>
        <p:spPr>
          <a:xfrm>
            <a:off x="1325880" y="320040"/>
            <a:ext cx="182880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Arial Black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97280"/>
            <a:ext cx="11457432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73.1B 토큰의 미드-트레이닝만으로 Kimi-Dev(~150B 토큰) 대비 경쟁력 있는 성능을 달성한 핵심 요인은 데이터 효율성인가, 아니면 데이터 구성(composition)…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11457432" cy="46634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토큰 수 대비 성능 효율의 핵심은 데이터의 질적 구성에 있을 가능성이 높다. 일반적인 코드 사전학습 데이터에는 에이전트 행동과 무관한 정보(단순 코드 스니펫, 문서, 주석 등)가 상당 비율을 차지하지만, daVinci-Dev의 미드-트레이닝 데이터는 컨텍스트 탐색-도구 호출-결과 해석이라는 에이전트 특화 패턴으로 구성되어 있다. 이는 instruction tuning에서 데이터 큐레이션이 데이터 양보다 중요하다는 기존 연구 결과와 일맥상통하며, 동일 토큰 예산에서 더 높은 태스크 관련 학습 신호 밀도를 달성한다.</a:t>
            </a:r>
          </a:p>
        </p:txBody>
      </p:sp>
      <p:sp>
        <p:nvSpPr>
          <p:cNvPr id="7" name="Oval 6"/>
          <p:cNvSpPr/>
          <p:nvPr/>
        </p:nvSpPr>
        <p:spPr>
          <a:xfrm>
            <a:off x="4610790" y="1016369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4447861" y="684596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1082784" y="4049241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1159141" y="1847692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547548" y="596478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00A3FF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35799" y="754912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1354226" y="1204736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11371994" y="6083935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2531453" y="6240036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9026996" y="485540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1228881" y="750487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3919658" y="6526406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692661" y="1230337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1289614" y="4081761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1311257" y="6327305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28600"/>
            <a:ext cx="822960" cy="8229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000000"/>
                </a:solidFill>
                <a:latin typeface="Arial Black"/>
              </a:rPr>
              <a:t>Q3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20040"/>
            <a:ext cx="2011680" cy="457200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Arial Black"/>
              </a:rPr>
              <a:t>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280160"/>
            <a:ext cx="11365992" cy="4846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정적 학습 데이터와 동적 개발 환경 간의 분포 불일치(distribution mismatch) 문제를 구체적으로 어떤 메커니즘으로 완화하며, 이 접근이 기존 domain adaptation 기법과 어떻게 구별되는가?</a:t>
            </a:r>
          </a:p>
        </p:txBody>
      </p:sp>
      <p:sp>
        <p:nvSpPr>
          <p:cNvPr id="15" name="Oval 14"/>
          <p:cNvSpPr/>
          <p:nvPr/>
        </p:nvSpPr>
        <p:spPr>
          <a:xfrm>
            <a:off x="11509390" y="5707405"/>
            <a:ext cx="624535" cy="624535"/>
          </a:xfrm>
          <a:prstGeom prst="ellipse">
            <a:avLst/>
          </a:prstGeom>
          <a:solidFill>
            <a:srgbClr val="00D084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ntagon 15"/>
          <p:cNvSpPr/>
          <p:nvPr/>
        </p:nvSpPr>
        <p:spPr>
          <a:xfrm>
            <a:off x="7349984" y="6430008"/>
            <a:ext cx="401433" cy="401433"/>
          </a:xfrm>
          <a:prstGeom prst="homePlat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iamond 16"/>
          <p:cNvSpPr/>
          <p:nvPr/>
        </p:nvSpPr>
        <p:spPr>
          <a:xfrm>
            <a:off x="7788953" y="562246"/>
            <a:ext cx="475241" cy="475241"/>
          </a:xfrm>
          <a:prstGeom prst="diamond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Hexagon 17"/>
          <p:cNvSpPr/>
          <p:nvPr/>
        </p:nvSpPr>
        <p:spPr>
          <a:xfrm>
            <a:off x="4574371" y="599465"/>
            <a:ext cx="677410" cy="677410"/>
          </a:xfrm>
          <a:prstGeom prst="hexagon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Isosceles Triangle 18"/>
          <p:cNvSpPr/>
          <p:nvPr/>
        </p:nvSpPr>
        <p:spPr>
          <a:xfrm>
            <a:off x="11677232" y="4897011"/>
            <a:ext cx="511719" cy="511719"/>
          </a:xfrm>
          <a:prstGeom prst="triangl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Isosceles Triangle 19"/>
          <p:cNvSpPr/>
          <p:nvPr/>
        </p:nvSpPr>
        <p:spPr>
          <a:xfrm>
            <a:off x="835451" y="631963"/>
            <a:ext cx="347530" cy="347530"/>
          </a:xfrm>
          <a:prstGeom prst="triangl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E600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411480" y="228600"/>
            <a:ext cx="777240" cy="777240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 Black"/>
              </a:rPr>
              <a:t>A3</a:t>
            </a:r>
          </a:p>
        </p:txBody>
      </p:sp>
      <p:sp>
        <p:nvSpPr>
          <p:cNvPr id="4" name="Rectangle 3"/>
          <p:cNvSpPr/>
          <p:nvPr/>
        </p:nvSpPr>
        <p:spPr>
          <a:xfrm>
            <a:off x="1325880" y="320040"/>
            <a:ext cx="182880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Arial Black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97280"/>
            <a:ext cx="11457432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정적 학습 데이터와 동적 개발 환경 간의 분포 불일치(distribution mismatch) 문제를 구체적으로 어떤 메커니즘으로 완화하며, 이 접근이 기존 domain adap…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11457432" cy="46634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분포 불일치 문제의 핵심은, 기존 사전학습 데이터가 정적 텍스트(코드 파일, 문서)인 반면 실제 에이전트 운영 시에는 동적 환경 피드백(테스트 출력, 에러 로그, 파일 시스템 변화)을 처리해야 한다는 점이다. daVinci-Dev는 이를 미드-트레이닝 단계에서 실제 환경 상호작용 데이터를 직접 학습 분포에 포함시키는 방식으로 해결한다. 기존 domain adaptation이 주로 타겟 도메인의 텍스트 분포를 맞추는 데 집중하는 반면, 이 접근은 입출력 형식뿐 아니라 상호작용의 시간적 구조(temporal structure)까지 맞춘다는 점에서 차별화된다.</a:t>
            </a:r>
          </a:p>
        </p:txBody>
      </p:sp>
      <p:sp>
        <p:nvSpPr>
          <p:cNvPr id="7" name="Oval 6"/>
          <p:cNvSpPr/>
          <p:nvPr/>
        </p:nvSpPr>
        <p:spPr>
          <a:xfrm>
            <a:off x="4924984" y="154271"/>
            <a:ext cx="109728" cy="109728"/>
          </a:xfrm>
          <a:prstGeom prst="ellips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236871" y="6275184"/>
            <a:ext cx="109728" cy="109728"/>
          </a:xfrm>
          <a:prstGeom prst="ellips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1506200" y="3488811"/>
            <a:ext cx="109728" cy="109728"/>
          </a:xfrm>
          <a:prstGeom prst="ellips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027161" y="2302395"/>
            <a:ext cx="109728" cy="109728"/>
          </a:xfrm>
          <a:prstGeom prst="ellips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677174" y="5900537"/>
            <a:ext cx="109728" cy="109728"/>
          </a:xfrm>
          <a:prstGeom prst="ellips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00D084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53453" y="4820548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3298901" y="1209159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11155917" y="2110879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1442701" y="1475850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284746" y="1165088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519452" y="2682434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1591387" y="1560585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1684901" y="1405708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6412916" y="1002287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322087" y="6343533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28600"/>
            <a:ext cx="822960" cy="8229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000000"/>
                </a:solidFill>
                <a:latin typeface="Arial Black"/>
              </a:rPr>
              <a:t>Q4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20040"/>
            <a:ext cx="2011680" cy="457200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Arial Black"/>
              </a:rPr>
              <a:t>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280160"/>
            <a:ext cx="11365992" cy="4846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RL 기반 포스트-트레이닝 없이 미드-트레이닝만으로 56.1~58.5%를 달성했다면, 여기에 RL을 추가했을 때의 성능 상한은 어디까지이며, 미드-트레이닝과 RL의 상호작용은 어떤 양상을 보이는가?</a:t>
            </a:r>
          </a:p>
        </p:txBody>
      </p:sp>
      <p:sp>
        <p:nvSpPr>
          <p:cNvPr id="15" name="Parallelogram 14"/>
          <p:cNvSpPr/>
          <p:nvPr/>
        </p:nvSpPr>
        <p:spPr>
          <a:xfrm>
            <a:off x="11430450" y="5508612"/>
            <a:ext cx="481561" cy="481561"/>
          </a:xfrm>
          <a:prstGeom prst="parallelogram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Hexagon 15"/>
          <p:cNvSpPr/>
          <p:nvPr/>
        </p:nvSpPr>
        <p:spPr>
          <a:xfrm>
            <a:off x="1246798" y="428472"/>
            <a:ext cx="623132" cy="623132"/>
          </a:xfrm>
          <a:prstGeom prst="hexagon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Isosceles Triangle 16"/>
          <p:cNvSpPr/>
          <p:nvPr/>
        </p:nvSpPr>
        <p:spPr>
          <a:xfrm>
            <a:off x="326420" y="1040590"/>
            <a:ext cx="586381" cy="586381"/>
          </a:xfrm>
          <a:prstGeom prst="triangl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Parallelogram 17"/>
          <p:cNvSpPr/>
          <p:nvPr/>
        </p:nvSpPr>
        <p:spPr>
          <a:xfrm>
            <a:off x="240124" y="5378812"/>
            <a:ext cx="630306" cy="630306"/>
          </a:xfrm>
          <a:prstGeom prst="parallelogram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Diamond 18"/>
          <p:cNvSpPr/>
          <p:nvPr/>
        </p:nvSpPr>
        <p:spPr>
          <a:xfrm>
            <a:off x="6376360" y="1054838"/>
            <a:ext cx="592927" cy="592927"/>
          </a:xfrm>
          <a:prstGeom prst="diamond">
            <a:avLst/>
          </a:prstGeom>
          <a:solidFill>
            <a:srgbClr val="00D084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Isosceles Triangle 19"/>
          <p:cNvSpPr/>
          <p:nvPr/>
        </p:nvSpPr>
        <p:spPr>
          <a:xfrm>
            <a:off x="661062" y="4367980"/>
            <a:ext cx="434016" cy="434016"/>
          </a:xfrm>
          <a:prstGeom prst="triangl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965184" y="5251064"/>
            <a:ext cx="718338" cy="718338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1380067" y="6388273"/>
            <a:ext cx="320190" cy="320190"/>
          </a:xfrm>
          <a:prstGeom prst="rect">
            <a:avLst/>
          </a:prstGeom>
          <a:solidFill>
            <a:srgbClr val="00A3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arallelogram 22"/>
          <p:cNvSpPr/>
          <p:nvPr/>
        </p:nvSpPr>
        <p:spPr>
          <a:xfrm>
            <a:off x="4501684" y="227549"/>
            <a:ext cx="721736" cy="721736"/>
          </a:xfrm>
          <a:prstGeom prst="parallelogram">
            <a:avLst/>
          </a:prstGeom>
          <a:solidFill>
            <a:srgbClr val="FFE6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1202784" y="5505987"/>
            <a:ext cx="384347" cy="384347"/>
          </a:xfrm>
          <a:prstGeom prst="rect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E600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411480" y="228600"/>
            <a:ext cx="777240" cy="7772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 Black"/>
              </a:rPr>
              <a:t>A4</a:t>
            </a:r>
          </a:p>
        </p:txBody>
      </p:sp>
      <p:sp>
        <p:nvSpPr>
          <p:cNvPr id="4" name="Rectangle 3"/>
          <p:cNvSpPr/>
          <p:nvPr/>
        </p:nvSpPr>
        <p:spPr>
          <a:xfrm>
            <a:off x="1325880" y="320040"/>
            <a:ext cx="182880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Arial Black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97280"/>
            <a:ext cx="11457432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RL 기반 포스트-트레이닝 없이 미드-트레이닝만으로 56.1~58.5%를 달성했다면, 여기에 RL을 추가했을 때의 성능 상한은 어디까지이며, 미드-트레이닝과 RL의 상호작용은 어…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11457432" cy="46634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일반적으로 미드-트레이닝은 모델의 기반 역량을 확장하고, RL은 특정 보상 신호에 대한 행동 최적화를 수행하므로 상호 보완적이다. 강력한 미드-트레이닝 기반 위의 RL은 탐색 효율성이 높아져 더 적은 RL 스텝으로도 높은 성능에 도달할 수 있다. 다만 32B에서 72B로의 완만한 성능 증가를 고려하면, 현재 성능 병목이 모델 용량보다는 평가 벤치마크의 특성이나 데이터 커버리지에 있을 수 있어, RL 추가의 한계 효용도 이 요인에 의해 제약될 수 있다.</a:t>
            </a:r>
          </a:p>
        </p:txBody>
      </p:sp>
      <p:sp>
        <p:nvSpPr>
          <p:cNvPr id="7" name="Oval 6"/>
          <p:cNvSpPr/>
          <p:nvPr/>
        </p:nvSpPr>
        <p:spPr>
          <a:xfrm>
            <a:off x="10139045" y="1200677"/>
            <a:ext cx="109728" cy="109728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2727894" y="738375"/>
            <a:ext cx="109728" cy="109728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880191" y="1081091"/>
            <a:ext cx="109728" cy="109728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74012" y="443521"/>
            <a:ext cx="109728" cy="109728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176368" y="3992004"/>
            <a:ext cx="109728" cy="109728"/>
          </a:xfrm>
          <a:prstGeom prst="ellips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6B00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81429" y="6562429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1152814" y="4428563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11127116" y="5712982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704594" y="5736782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786443" y="1952542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95330" y="2769658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1885839" y="4871267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542269" y="6457588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802707" y="4481778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46260" y="3049061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28600"/>
            <a:ext cx="822960" cy="8229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000000"/>
                </a:solidFill>
                <a:latin typeface="Arial Black"/>
              </a:rPr>
              <a:t>Q5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20040"/>
            <a:ext cx="2011680" cy="457200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Arial Black"/>
              </a:rPr>
              <a:t>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280160"/>
            <a:ext cx="11365992" cy="4846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Environmentally-native trajectories 수집 시 실행 가능한 리포지토리에서의 도구 호출 데이터를 어떻게 품질 필터링하며, 실패한 궤적(failed trajectories)은 훈련에 포함하는가 배제하는가?</a:t>
            </a:r>
          </a:p>
        </p:txBody>
      </p:sp>
      <p:sp>
        <p:nvSpPr>
          <p:cNvPr id="15" name="Pentagon 14"/>
          <p:cNvSpPr/>
          <p:nvPr/>
        </p:nvSpPr>
        <p:spPr>
          <a:xfrm>
            <a:off x="11471229" y="83754"/>
            <a:ext cx="717722" cy="717722"/>
          </a:xfrm>
          <a:prstGeom prst="homePlat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Hexagon 15"/>
          <p:cNvSpPr/>
          <p:nvPr/>
        </p:nvSpPr>
        <p:spPr>
          <a:xfrm>
            <a:off x="596952" y="6457200"/>
            <a:ext cx="400799" cy="400799"/>
          </a:xfrm>
          <a:prstGeom prst="hexagon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Hexagon 16"/>
          <p:cNvSpPr/>
          <p:nvPr/>
        </p:nvSpPr>
        <p:spPr>
          <a:xfrm>
            <a:off x="340537" y="4820588"/>
            <a:ext cx="570868" cy="570868"/>
          </a:xfrm>
          <a:prstGeom prst="hexagon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Diamond 17"/>
          <p:cNvSpPr/>
          <p:nvPr/>
        </p:nvSpPr>
        <p:spPr>
          <a:xfrm>
            <a:off x="698631" y="3661981"/>
            <a:ext cx="358723" cy="358723"/>
          </a:xfrm>
          <a:prstGeom prst="diamond">
            <a:avLst/>
          </a:prstGeom>
          <a:solidFill>
            <a:srgbClr val="FF6B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Pentagon 18"/>
          <p:cNvSpPr/>
          <p:nvPr/>
        </p:nvSpPr>
        <p:spPr>
          <a:xfrm>
            <a:off x="8380135" y="764278"/>
            <a:ext cx="575316" cy="575316"/>
          </a:xfrm>
          <a:prstGeom prst="homePlate">
            <a:avLst/>
          </a:prstGeom>
          <a:solidFill>
            <a:srgbClr val="00D084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442594" y="5961517"/>
            <a:ext cx="285420" cy="285420"/>
          </a:xfrm>
          <a:prstGeom prst="ellipse">
            <a:avLst/>
          </a:prstGeom>
          <a:solidFill>
            <a:srgbClr val="00D084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6439638" y="60636"/>
            <a:ext cx="684363" cy="684363"/>
          </a:xfrm>
          <a:prstGeom prst="ellipse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Diamond 21"/>
          <p:cNvSpPr/>
          <p:nvPr/>
        </p:nvSpPr>
        <p:spPr>
          <a:xfrm>
            <a:off x="11678739" y="567717"/>
            <a:ext cx="510212" cy="510212"/>
          </a:xfrm>
          <a:prstGeom prst="diamond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ntagon 22"/>
          <p:cNvSpPr/>
          <p:nvPr/>
        </p:nvSpPr>
        <p:spPr>
          <a:xfrm>
            <a:off x="5189508" y="528426"/>
            <a:ext cx="550160" cy="550160"/>
          </a:xfrm>
          <a:prstGeom prst="homePlate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Isosceles Triangle 23"/>
          <p:cNvSpPr/>
          <p:nvPr/>
        </p:nvSpPr>
        <p:spPr>
          <a:xfrm>
            <a:off x="11169991" y="347584"/>
            <a:ext cx="450570" cy="450570"/>
          </a:xfrm>
          <a:prstGeom prst="triangl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E600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411480" y="228600"/>
            <a:ext cx="777240" cy="77724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 Black"/>
              </a:rPr>
              <a:t>A5</a:t>
            </a:r>
          </a:p>
        </p:txBody>
      </p:sp>
      <p:sp>
        <p:nvSpPr>
          <p:cNvPr id="4" name="Rectangle 3"/>
          <p:cNvSpPr/>
          <p:nvPr/>
        </p:nvSpPr>
        <p:spPr>
          <a:xfrm>
            <a:off x="1325880" y="320040"/>
            <a:ext cx="182880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Arial Black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97280"/>
            <a:ext cx="11457432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Environmentally-native trajectories 수집 시 실행 가능한 리포지토리에서의 도구 호출 데이터를 어떻게 품질 필터링하며, 실패한 궤적(failed tra…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11457432" cy="46634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구체적인 필터링 파이프라인은 전문 확인이 필요하나, 일반적인 에이전트 궤적 데이터 합성에서는 최종 결과의 정확성(테스트 통과 여부)을 기준으로 성공 궤적만 선별하는 outcome filtering이 표준적이다. 그러나 실패 궤적에도 학습 신호가 존재한다 — 에러 진단 후 수정하는 패턴, 잘못된 접근을 포기하고 대안을 시도하는 패턴 등은 실제 개발자 행동의 핵심이다. "Environmentally-native"라는 명명이 실제 환경 상호작용의 충실성을 강조하는 만큼, 자기 수정(self-correction) 패턴도 포함했을 가능성이 있으며 이는 최근 반성(reflection) 데이터 연구 흐름과도 부합한다.</a:t>
            </a:r>
          </a:p>
        </p:txBody>
      </p:sp>
      <p:sp>
        <p:nvSpPr>
          <p:cNvPr id="7" name="Oval 6"/>
          <p:cNvSpPr/>
          <p:nvPr/>
        </p:nvSpPr>
        <p:spPr>
          <a:xfrm>
            <a:off x="979244" y="2570509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1661178" y="4843003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2239323" y="379680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1435510" y="4609616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1383309" y="1385322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E600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63428" y="852823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322826" y="6063435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4151406" y="726620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308102" y="725474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1696690" y="5302806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1823111" y="706930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990017" y="793388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1162094" y="5861712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423336" y="1314295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5329996" y="6295662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28600"/>
            <a:ext cx="822960" cy="8229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000000"/>
                </a:solidFill>
                <a:latin typeface="Arial Black"/>
              </a:rPr>
              <a:t>Q6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20040"/>
            <a:ext cx="2011680" cy="457200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Arial Black"/>
              </a:rPr>
              <a:t>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280160"/>
            <a:ext cx="11365992" cy="4846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32B에서 72B로의 스케일링에서 SWE-bench Verified 성능 향상이 56.1%에서 58.5%로 비교적 완만한데, 이는 미드-트레이닝 데이터의 스케일링 법칙이 모델 파라미터 크기보다 데이터 품질에 더 민감함을 시사하는가?</a:t>
            </a:r>
          </a:p>
        </p:txBody>
      </p:sp>
      <p:sp>
        <p:nvSpPr>
          <p:cNvPr id="15" name="Diamond 14"/>
          <p:cNvSpPr/>
          <p:nvPr/>
        </p:nvSpPr>
        <p:spPr>
          <a:xfrm>
            <a:off x="180297" y="711596"/>
            <a:ext cx="484302" cy="484302"/>
          </a:xfrm>
          <a:prstGeom prst="diamond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arallelogram 15"/>
          <p:cNvSpPr/>
          <p:nvPr/>
        </p:nvSpPr>
        <p:spPr>
          <a:xfrm>
            <a:off x="613238" y="6338122"/>
            <a:ext cx="381960" cy="381960"/>
          </a:xfrm>
          <a:prstGeom prst="parallelogram">
            <a:avLst/>
          </a:prstGeom>
          <a:solidFill>
            <a:srgbClr val="00A3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307671" y="700158"/>
            <a:ext cx="513002" cy="513002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1236802" y="2249330"/>
            <a:ext cx="672986" cy="672986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Hexagon 18"/>
          <p:cNvSpPr/>
          <p:nvPr/>
        </p:nvSpPr>
        <p:spPr>
          <a:xfrm>
            <a:off x="11472141" y="3871552"/>
            <a:ext cx="716810" cy="716810"/>
          </a:xfrm>
          <a:prstGeom prst="hexagon">
            <a:avLst/>
          </a:prstGeom>
          <a:solidFill>
            <a:srgbClr val="FFE6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Hexagon 19"/>
          <p:cNvSpPr/>
          <p:nvPr/>
        </p:nvSpPr>
        <p:spPr>
          <a:xfrm>
            <a:off x="11620847" y="3947090"/>
            <a:ext cx="373317" cy="373317"/>
          </a:xfrm>
          <a:prstGeom prst="hexagon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Isosceles Triangle 20"/>
          <p:cNvSpPr/>
          <p:nvPr/>
        </p:nvSpPr>
        <p:spPr>
          <a:xfrm>
            <a:off x="11701892" y="6370940"/>
            <a:ext cx="487059" cy="487059"/>
          </a:xfrm>
          <a:prstGeom prst="triangl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4160576" y="6159635"/>
            <a:ext cx="415311" cy="415311"/>
          </a:xfrm>
          <a:prstGeom prst="rect">
            <a:avLst/>
          </a:prstGeom>
          <a:solidFill>
            <a:srgbClr val="FF6B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E600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411480" y="228600"/>
            <a:ext cx="777240" cy="777240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 Black"/>
              </a:rPr>
              <a:t>A6</a:t>
            </a:r>
          </a:p>
        </p:txBody>
      </p:sp>
      <p:sp>
        <p:nvSpPr>
          <p:cNvPr id="4" name="Rectangle 3"/>
          <p:cNvSpPr/>
          <p:nvPr/>
        </p:nvSpPr>
        <p:spPr>
          <a:xfrm>
            <a:off x="1325880" y="320040"/>
            <a:ext cx="182880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Arial Black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97280"/>
            <a:ext cx="11457432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32B에서 72B로의 스케일링에서 SWE-bench Verified 성능 향상이 56.1%에서 58.5%로 비교적 완만한데, 이는 미드-트레이닝 데이터의 스케일링 법칙이 모델 파…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11457432" cy="46634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32B에서 72B로 2.25배의 파라미터 증가에서 2.4%p의 성능 향상은 파라미터 스케일링의 수확 체감을 시사한다. 두 가지 해석이 가능하다. 첫째, SWE-bench Verified에서 56~58% 구간의 문제들이 모델 크기보다는 에이전트 전략의 질에 더 의존하는 유형일 수 있다. 둘째, 미드-트레이닝 데이터가 73.1B로 고정된 상태에서 모델만 키우면 데이터 대비 모델이 과대해져 미드-트레이닝 이득이 줄어들 수 있다 — Chinchilla 관점에서 72B 모델에는 미드-트레이닝 데이터도 비례적으로 확대해야 최적 성능에 도달함을 암시한다.</a:t>
            </a:r>
          </a:p>
        </p:txBody>
      </p:sp>
      <p:sp>
        <p:nvSpPr>
          <p:cNvPr id="7" name="Oval 6"/>
          <p:cNvSpPr/>
          <p:nvPr/>
        </p:nvSpPr>
        <p:spPr>
          <a:xfrm>
            <a:off x="174124" y="1974325"/>
            <a:ext cx="109728" cy="109728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105847" y="1213707"/>
            <a:ext cx="109728" cy="109728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67069" y="6289688"/>
            <a:ext cx="109728" cy="109728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1742765" y="1918393"/>
            <a:ext cx="109728" cy="109728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291287" y="3120571"/>
            <a:ext cx="109728" cy="109728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3E3E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48360" y="5856762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1344997" y="6237443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151040" y="5365695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698270" y="3820429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3474854" y="1009433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1619582" y="676287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265857" y="889243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79272" y="3842729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8657338" y="1239148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1884211" y="4607287"/>
            <a:ext cx="109728" cy="109728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28600"/>
            <a:ext cx="822960" cy="8229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000000"/>
                </a:solidFill>
                <a:latin typeface="Arial Black"/>
              </a:rPr>
              <a:t>Q7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20040"/>
            <a:ext cx="2011680" cy="457200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FFFFFF"/>
                </a:solidFill>
                <a:latin typeface="Arial Black"/>
              </a:rPr>
              <a:t>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280160"/>
            <a:ext cx="11365992" cy="4846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이 미드-트레이닝 프레임워크를 소프트웨어 엔지니어링 이외의 에이전트 태스크(예: 웹 브라우징, 과학 실험 자동화)로 일반화할 때, contextually-native와 environmentally-native 데이터의 정의는 어떻게 재구성되어야 하는가?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11359782" y="5075169"/>
            <a:ext cx="314181" cy="314181"/>
          </a:xfrm>
          <a:prstGeom prst="triangle">
            <a:avLst/>
          </a:prstGeom>
          <a:solidFill>
            <a:srgbClr val="FFE6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ntagon 15"/>
          <p:cNvSpPr/>
          <p:nvPr/>
        </p:nvSpPr>
        <p:spPr>
          <a:xfrm>
            <a:off x="941740" y="1040409"/>
            <a:ext cx="531412" cy="531412"/>
          </a:xfrm>
          <a:prstGeom prst="homePlate">
            <a:avLst/>
          </a:prstGeom>
          <a:solidFill>
            <a:srgbClr val="00A3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Hexagon 16"/>
          <p:cNvSpPr/>
          <p:nvPr/>
        </p:nvSpPr>
        <p:spPr>
          <a:xfrm>
            <a:off x="10305119" y="859194"/>
            <a:ext cx="386408" cy="386408"/>
          </a:xfrm>
          <a:prstGeom prst="hexagon">
            <a:avLst/>
          </a:prstGeom>
          <a:solidFill>
            <a:srgbClr val="FF6B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11194304" y="352289"/>
            <a:ext cx="277335" cy="277335"/>
          </a:xfrm>
          <a:prstGeom prst="ellipse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Parallelogram 18"/>
          <p:cNvSpPr/>
          <p:nvPr/>
        </p:nvSpPr>
        <p:spPr>
          <a:xfrm>
            <a:off x="1003849" y="3499548"/>
            <a:ext cx="688821" cy="688821"/>
          </a:xfrm>
          <a:prstGeom prst="parallelogram">
            <a:avLst/>
          </a:prstGeom>
          <a:solidFill>
            <a:srgbClr val="00A3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Parallelogram 19"/>
          <p:cNvSpPr/>
          <p:nvPr/>
        </p:nvSpPr>
        <p:spPr>
          <a:xfrm>
            <a:off x="406891" y="4855215"/>
            <a:ext cx="291119" cy="291119"/>
          </a:xfrm>
          <a:prstGeom prst="parallelogram">
            <a:avLst/>
          </a:prstGeom>
          <a:solidFill>
            <a:srgbClr val="FF3E3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E600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411480" y="228600"/>
            <a:ext cx="777240" cy="777240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Arial Black"/>
              </a:rPr>
              <a:t>A7</a:t>
            </a:r>
          </a:p>
        </p:txBody>
      </p:sp>
      <p:sp>
        <p:nvSpPr>
          <p:cNvPr id="4" name="Rectangle 3"/>
          <p:cNvSpPr/>
          <p:nvPr/>
        </p:nvSpPr>
        <p:spPr>
          <a:xfrm>
            <a:off x="1325880" y="320040"/>
            <a:ext cx="1828800" cy="4114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Arial Black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97280"/>
            <a:ext cx="11457432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66666"/>
                </a:solidFill>
                <a:latin typeface="Arial"/>
              </a:rPr>
              <a:t>이 미드-트레이닝 프레임워크를 소프트웨어 엔지니어링 이외의 에이전트 태스크(예: 웹 브라우징, 과학 실험 자동화)로 일반화할 때, contextually-native와 envir…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91640"/>
            <a:ext cx="11457432" cy="46634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000000"/>
                </a:solidFill>
                <a:latin typeface="Arial"/>
              </a:rPr>
              <a:t>일반화를 위해서는 두 데이터 유형의 추상적 정의를 태스크에 맞게 재해석해야 한다. Contextually-native data는 "에이전트가 의사결정에 필요한 배경 정보의 완전한 흐름"으로 재정의될 수 있다. 웹 브라우징에서는 페이지 DOM 구조, 네비게이션 히스토리, 현재 페이지의 시맨틱 컨텍스트가 이에 해당하고, 과학 실험 자동화에서는 실험 프로토콜, 선행 결과, 장비 상태 정보가 된다. Environmentally-native data는 "실제 환경의 상태 변화와 피드백을 포함한 행동 기록"으로 재정의된다. 핵심 원칙은 동일하다: 정적 지식과 동적 환경 상호작용의 간극을 미드-트레이닝 데이터로 메우는 것이다.</a:t>
            </a:r>
          </a:p>
        </p:txBody>
      </p:sp>
      <p:sp>
        <p:nvSpPr>
          <p:cNvPr id="7" name="Oval 6"/>
          <p:cNvSpPr/>
          <p:nvPr/>
        </p:nvSpPr>
        <p:spPr>
          <a:xfrm>
            <a:off x="2810735" y="1353470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1075627" y="822590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674643" y="5519624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846464" y="4579494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1014253" y="6278271"/>
            <a:ext cx="109728" cy="109728"/>
          </a:xfrm>
          <a:prstGeom prst="ellipse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00A3FF"/>
                </a:solidFill>
                <a:latin typeface="Arial Black"/>
              </a:rPr>
              <a:t/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D08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64706" y="5217664"/>
            <a:ext cx="480108" cy="480108"/>
          </a:xfrm>
          <a:prstGeom prst="rect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Diamond 2"/>
          <p:cNvSpPr/>
          <p:nvPr/>
        </p:nvSpPr>
        <p:spPr>
          <a:xfrm>
            <a:off x="3936457" y="6211983"/>
            <a:ext cx="646016" cy="646016"/>
          </a:xfrm>
          <a:prstGeom prst="diamond">
            <a:avLst/>
          </a:prstGeom>
          <a:solidFill>
            <a:srgbClr val="FF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Hexagon 3"/>
          <p:cNvSpPr/>
          <p:nvPr/>
        </p:nvSpPr>
        <p:spPr>
          <a:xfrm>
            <a:off x="224202" y="342761"/>
            <a:ext cx="653145" cy="653145"/>
          </a:xfrm>
          <a:prstGeom prst="hexagon">
            <a:avLst/>
          </a:prstGeom>
          <a:solidFill>
            <a:srgbClr val="00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Hexagon 4"/>
          <p:cNvSpPr/>
          <p:nvPr/>
        </p:nvSpPr>
        <p:spPr>
          <a:xfrm>
            <a:off x="970810" y="410154"/>
            <a:ext cx="566791" cy="566791"/>
          </a:xfrm>
          <a:prstGeom prst="hexagon">
            <a:avLst/>
          </a:prstGeom>
          <a:solidFill>
            <a:srgbClr val="00A3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Hexagon 5"/>
          <p:cNvSpPr/>
          <p:nvPr/>
        </p:nvSpPr>
        <p:spPr>
          <a:xfrm>
            <a:off x="466752" y="3211370"/>
            <a:ext cx="335359" cy="335359"/>
          </a:xfrm>
          <a:prstGeom prst="hexagon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Pentagon 6"/>
          <p:cNvSpPr/>
          <p:nvPr/>
        </p:nvSpPr>
        <p:spPr>
          <a:xfrm>
            <a:off x="11501348" y="4769981"/>
            <a:ext cx="687603" cy="687603"/>
          </a:xfrm>
          <a:prstGeom prst="homePlate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1124370" y="5632365"/>
            <a:ext cx="584047" cy="584047"/>
          </a:xfrm>
          <a:prstGeom prst="ellipse">
            <a:avLst/>
          </a:prstGeom>
          <a:solidFill>
            <a:srgbClr val="FF6B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65760" y="228600"/>
            <a:ext cx="3474720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KEY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05840"/>
            <a:ext cx="11183112" cy="5029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>
                <a:solidFill>
                  <a:srgbClr val="000000"/>
                </a:solidFill>
                <a:latin typeface="Arial"/>
              </a:rPr>
              <a:t>▶  두 가지 에이전트 네이티브 데이터 유형: Contextually-native(완전한 정보 흐름 보존 — 파일 구조·히스토리·관련 코드 포함) + Environmentally-native(실행 가능 리포지토리에서 실제 도구 호출 포함 궤적) — 전자가 "무엇을 봐야 하는가", 후자가 "어떻게 행동해야 하는가"를 담당
▶  토큰 효율: 73.1B 미드-트레이닝 토큰으로 Kimi-Dev(~150B 토큰, 60.4%) 대비 절반 이하 토큰 사용 — 에이전트 특화 데이터 구성이 일반 코드 데이터 대량 투입보다 토큰 당 학습 신호 밀도를 높임
▶  스케일링 결과: 32B → 56.1%, 72B → 58.5%; 완만한 향상은 현재 성능 병목이 모델 용량보다 에이전트 전략의 질에 있음을 시사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852160"/>
            <a:ext cx="164592" cy="1463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1792" y="5852160"/>
            <a:ext cx="164592" cy="1463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86384" y="5852160"/>
            <a:ext cx="164592" cy="1463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950976" y="5852160"/>
            <a:ext cx="164592" cy="1463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115568" y="5852160"/>
            <a:ext cx="164592" cy="1463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57200" y="61722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21792" y="61722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786384" y="61722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50976" y="61722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1115568" y="6172200"/>
            <a:ext cx="164592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1987784" y="0"/>
            <a:ext cx="201168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000000"/>
                </a:solidFill>
                <a:latin typeface="Arial Black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>
                <a:solidFill>
                  <a:srgbClr val="FFE600"/>
                </a:solidFill>
                <a:latin typeface="Arial Black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355080"/>
            <a:ext cx="11274552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000000"/>
                </a:solidFill>
                <a:latin typeface="Arial"/>
              </a:rPr>
              <a:t>daVinci-Dev: Agent-native Mid-training for Software Enginee…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