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Authors: Ailin Huang, Heung-Yeung Shum, et al. (216+ authors, StepFun)</a:t>
            </a:r>
          </a:p>
        </p:txBody>
      </p:sp>
      <p:sp>
        <p:nvSpPr>
          <p:cNvPr id="11" name="Rectangle 10"/>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26-02-11</a:t>
            </a:r>
          </a:p>
        </p:txBody>
      </p:sp>
      <p:sp>
        <p:nvSpPr>
          <p:cNvPr id="12" name="Rectangle 11"/>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3" name="Rectangle 12"/>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4" name="Rectangle 13"/>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Authors: Ailin Huang, Heung-Yeung Shum, et al. (216+ authors, StepFun)</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Step 3.5 Flash is a sparse Mixture-of-Experts language model achieving frontier-level intelligence with only 11B active parameters out of 196B total, designed for sharp reasoning and fast, reliable agentic execution.</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Sparse MoE with 196B total / 11B active parameters rivaling frontier-scale dense models</a:t>
            </a:r>
          </a:p>
          <a:p>
            <a:pPr algn="l">
              <a:spcBef>
                <a:spcPts val="600"/>
              </a:spcBef>
            </a:pPr>
            <a:r>
              <a:rPr sz="2000" b="0">
                <a:solidFill>
                  <a:srgbClr val="FFFFFF"/>
                </a:solidFill>
                <a:latin typeface="Arial"/>
              </a:rPr>
              <a:t>▶  Hybrid 3:1 sliding-window/full attention (S3F1) with head-wise gated attention for efficiency without capability loss</a:t>
            </a:r>
          </a:p>
          <a:p>
            <a:pPr algn="l">
              <a:spcBef>
                <a:spcPts val="600"/>
              </a:spcBef>
            </a:pPr>
            <a:r>
              <a:rPr sz="2000" b="0">
                <a:solidFill>
                  <a:srgbClr val="FFFFFF"/>
                </a:solidFill>
                <a:latin typeface="Arial"/>
              </a:rPr>
              <a:t>▶  Multi-Token Prediction (MTP-3) enabling speculative decoding to reduce wall-clock latency</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Metropolis Independence Sampling-Filtered Policy Optimization (MIS-PO): discrete token/trajectory filtering replaces continuous importance weighting for stable long-horizon RL</a:t>
            </a:r>
          </a:p>
          <a:p>
            <a:pPr algn="l">
              <a:spcBef>
                <a:spcPts val="600"/>
              </a:spcBef>
            </a:pPr>
            <a:r>
              <a:rPr sz="2000" b="0">
                <a:solidFill>
                  <a:srgbClr val="FFFFFF"/>
                </a:solidFill>
                <a:latin typeface="Arial"/>
              </a:rPr>
              <a:t>▶  Comprehensive training stability diagnostics addressing optimizer precision, expert collapse, and localized activation blow-up</a:t>
            </a:r>
          </a:p>
          <a:p>
            <a:pPr algn="l">
              <a:spcBef>
                <a:spcPts val="600"/>
              </a:spcBef>
            </a:pPr>
            <a:r>
              <a:rPr sz="2000" b="0">
                <a:solidFill>
                  <a:srgbClr val="FFFFFF"/>
                </a:solidFill>
                <a:latin typeface="Arial"/>
              </a:rPr>
              <a:t>▶  *Architecture:** | Benchmark | Score | |---|---| | IMO-AnswerBench | 85.4% | | LiveCodeBench-v6 (2024.08–2025.05) | 86.4% | | τ²-Bench (agentic) | 88.2% | | BrowseComp (w/ context mgmt) | 69.0% | | Terminal-Bench 2.0 | 51.0% | | SimpleQA (base) | 31.6% | Base model surpasses DeepSeek-V3.2-Exp Base on SimpleQA using only 1/3 of the parameters. Competitive with GPT-5.2 xHigh and Gemini 3.0 Pro on frontier benchmarks.</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MIS-PO's discrete token/trajectory filtering compare theoretically to PPO's clipped surrogate objective — what failure mode does each specifically prevent?</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MIS-PO's discrete token/trajectory filtering compare theoretically to PPO's clipped surrog…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PPO's clipped surrogate prevents large policy updates by bounding the probability ratio r(θ) ∈ [1-ε, 1+ε], but for long-horizon reasoning tasks this continuous weighting still accumulates variance across many steps. MIS-PO instead applies discrete accept/reject filtering via Metropolis-Hastings independence sampling: a trajectory (or token) is included in the gradient only if it passes a quality threshold, eliminating gradients from low-quality samples entirely rather than down-weighting them. This hard filtering reduces variance at the cost of sample efficiency but produces more stable optimization when the reward signal is sparse or noisy.</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S3F1 layout uses a 3:1 ratio of sliding-window to full attention layers. How was this ratio chosen, and what would happen with 7:1 or 1:1?</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S3F1 layout uses a 3:1 ratio of sliding-window to full attention layers. How was this ratio cho…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3:1 ratio balances local context fidelity (sliding-window) against global information integration (full attention). Too sparse (7:1) would starve the model of long-range dependencies critical for reasoning chains; too dense (1:1) eliminates the computational savings and breaks speculative decoding compatibility. The ratio was determined empirically via ablation — the paper validates that S3F1 with augmented query heads (96 vs. 64) recovers the performance gap from naive sparse attention, suggesting the ratio choice interacts tightly with head count.</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Head-wise gated attention outperforms sink tokens by 1.97% average — what is the mechanism by which sink tokens fail, and how does per-head gating address it?</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Head-wise gated attention outperforms sink tokens by 1.97% average — what is the mechanism by which…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Sink tokens (e.g., the [BOS] token absorbing attention mass) are a fixed, position-dependent heuristic — they uniformly suppress attention to distant tokens regardless of content relevance. Head-wise gated attention instead learns a per-head gate that dynamically controls how much each attention head attends to its full context window vs. local window, allowing different heads to specialize (some heads may need global context; others are purely local). This dynamic specialization accounts for the +1.97% gain.</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Expert collapse is monitored via activation norms rather than routing statistics — why are routing statistics insufficient, and at what training stage does collapse typically manifest?</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Expert collapse is monitored via activation norms rather than routing statistics — why are routing…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Routing statistics (e.g., fraction of tokens routed to each expert) appear balanced even when experts collapse because a few dominant experts can receive normal token counts while their *outputs* degenerate (activation norms collapse to near-zero). The gradient signal still flows through routing but produces no useful expert specialization. Monitoring per-expert activation norms directly catches this degenerate regime. Collapse typically manifests in mid-to-late pre-training when the model has enough capacity to route tokens consistently but before sufficient diversity pressure from the data distribution.</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MTP-3 enables speculative decoding in a MoE setting. What are the unique challenges of applying speculative decoding to sparse expert models compared to dense models?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MTP-3 enables speculative decoding in a MoE setting. What are the unique challenges of applying spe…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 dense models, the draft model is a smaller version of the same architecture. In MoE, the draft model must either (a) use the same expert routing as the target (expensive), (b) use a dense draft (misaligned distribution), or (c) use a smaller MoE (routing mismatch). MTP-3 sidesteps this by predicting the next 3 tokens as additional output heads within the same forward pass, so no separate draft model is needed — the main model self-proposes continuations. The challenge is that MTP heads must be calibrated carefully to avoid the acceptance rate collapsing, especially for long-tail tokens where the main model is uncertain.</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achieves 88.2% on τ²-Bench — what specific agentic capabilities (tool use, multi-turn reasoning, error recovery) drive this score, and where does it still fail?</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achieves 88.2% on τ²-Bench — what specific agentic capabilities (tool use, multi-turn rea…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τ²-Bench tests multi-turn tool use in realistic environments (retail, airline, etc.). The 88.2% score likely reflects strong instruction following, tool call accuracy, and error recovery from API failures. Remaining failure modes typically include cascading errors across long tool chains (early mistakes compound), ambiguous user intent requiring clarification that models often skip, and state tracking across &gt;10 turns where context compression artifacts appear.</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the decoupled parallelism strategy (different strategies for attention vs. MoE layers) affect memory bandwidth utilization and communication overhead compared to uniform parallelism?</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the decoupled parallelism strategy (different strategies for attention vs. MoE layers) aff…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Uniform parallelism applies the same sharding strategy across all layers, creating communication imbalance: attention layers are bandwidth-bound (KV cache transfers) while MoE layers are compute-bound (expert dispatch/gather). Decoupled parallelism allows attention layers to use tensor parallelism optimized for KV transfer and MoE layers to use expert parallelism (routing tokens to expert replicas on different nodes). The tradeoff is increased implementation complexity and potential pipeline bubble overhead at layer boundaries, but the paper's 4,096 H800 setup achieves near-linear scaling suggesting the boundary overhead is manageable.</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Sparse MoE with 196B total / 11B active parameters rivaling frontier-scale dense models
▶  Hybrid 3:1 sliding-window/full attention (S3F1) with head-wise gated attention for efficiency without capability loss
▶  Multi-Token Prediction (MTP-3) enabling speculative decoding to reduce wall-clock latency</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Authors: Ailin Huang, Heung-Yeung Shum, et al. (216+ author…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