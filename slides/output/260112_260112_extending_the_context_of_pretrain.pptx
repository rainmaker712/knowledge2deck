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E600"/>
        </a:solidFill>
        <a:effectLst/>
      </p:bgPr>
    </p:bg>
    <p:spTree>
      <p:nvGrpSpPr>
        <p:cNvPr id="1" name=""/>
        <p:cNvGrpSpPr/>
        <p:nvPr/>
      </p:nvGrpSpPr>
      <p:grpSpPr/>
      <p:sp>
        <p:nvSpPr>
          <p:cNvPr id="2" name="Isosceles Triangle 1"/>
          <p:cNvSpPr/>
          <p:nvPr/>
        </p:nvSpPr>
        <p:spPr>
          <a:xfrm>
            <a:off x="2268743" y="5804754"/>
            <a:ext cx="714281" cy="714281"/>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4609268" y="5791190"/>
            <a:ext cx="731121" cy="731121"/>
          </a:xfrm>
          <a:prstGeom prst="parallelogram">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208537" y="6165755"/>
            <a:ext cx="500626" cy="500626"/>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592718" y="2910626"/>
            <a:ext cx="283460" cy="283460"/>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exagon 5"/>
          <p:cNvSpPr/>
          <p:nvPr/>
        </p:nvSpPr>
        <p:spPr>
          <a:xfrm>
            <a:off x="4447579" y="918022"/>
            <a:ext cx="392440" cy="392440"/>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5701437" y="728940"/>
            <a:ext cx="381496" cy="381496"/>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entagon 7"/>
          <p:cNvSpPr/>
          <p:nvPr/>
        </p:nvSpPr>
        <p:spPr>
          <a:xfrm>
            <a:off x="5600939" y="249569"/>
            <a:ext cx="303751" cy="303751"/>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0" y="0"/>
            <a:ext cx="12188952" cy="16459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10" name="TextBox 9"/>
          <p:cNvSpPr txBox="1"/>
          <p:nvPr/>
        </p:nvSpPr>
        <p:spPr>
          <a:xfrm>
            <a:off x="457200" y="365760"/>
            <a:ext cx="11274552" cy="3200400"/>
          </a:xfrm>
          <a:prstGeom prst="rect">
            <a:avLst/>
          </a:prstGeom>
          <a:noFill/>
        </p:spPr>
        <p:txBody>
          <a:bodyPr wrap="square"/>
          <a:lstStyle/>
          <a:p>
            <a:pPr algn="l"/>
            <a:r>
              <a:rPr sz="4000" b="1">
                <a:solidFill>
                  <a:srgbClr val="000000"/>
                </a:solidFill>
                <a:latin typeface="Arial Black"/>
              </a:rPr>
              <a:t>260112 Extending the Context of Pretrained LLMs by Dropping their Positional Embeddings</a:t>
            </a:r>
          </a:p>
        </p:txBody>
      </p:sp>
      <p:sp>
        <p:nvSpPr>
          <p:cNvPr id="11" name="TextBox 10"/>
          <p:cNvSpPr txBox="1"/>
          <p:nvPr/>
        </p:nvSpPr>
        <p:spPr>
          <a:xfrm>
            <a:off x="457200" y="3840480"/>
            <a:ext cx="9445752" cy="548640"/>
          </a:xfrm>
          <a:prstGeom prst="rect">
            <a:avLst/>
          </a:prstGeom>
          <a:noFill/>
        </p:spPr>
        <p:txBody>
          <a:bodyPr wrap="square"/>
          <a:lstStyle/>
          <a:p>
            <a:pPr algn="l"/>
            <a:r>
              <a:rPr sz="1600" b="0">
                <a:solidFill>
                  <a:srgbClr val="000000"/>
                </a:solidFill>
                <a:latin typeface="Arial"/>
              </a:rPr>
              <a:t>Yoav Gelberg, Koshi Eguchi, Takuya Akiba, Edoardo Cetin</a:t>
            </a:r>
          </a:p>
        </p:txBody>
      </p:sp>
      <p:sp>
        <p:nvSpPr>
          <p:cNvPr id="12" name="Rectangle 11"/>
          <p:cNvSpPr/>
          <p:nvPr/>
        </p:nvSpPr>
        <p:spPr>
          <a:xfrm>
            <a:off x="457200" y="4572000"/>
            <a:ext cx="1463040" cy="3200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1">
                <a:solidFill>
                  <a:srgbClr val="FFE600"/>
                </a:solidFill>
                <a:latin typeface="Arial"/>
              </a:rPr>
              <a:t>26-01-12</a:t>
            </a:r>
          </a:p>
        </p:txBody>
      </p:sp>
      <p:sp>
        <p:nvSpPr>
          <p:cNvPr id="13" name="Rectangle 12"/>
          <p:cNvSpPr/>
          <p:nvPr/>
        </p:nvSpPr>
        <p:spPr>
          <a:xfrm>
            <a:off x="0" y="0"/>
            <a:ext cx="201168"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
        <p:nvSpPr>
          <p:cNvPr id="14" name="Rectangle 13"/>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
        <p:nvSpPr>
          <p:cNvPr id="15" name="TextBox 14"/>
          <p:cNvSpPr txBox="1"/>
          <p:nvPr/>
        </p:nvSpPr>
        <p:spPr>
          <a:xfrm>
            <a:off x="7159752" y="6400800"/>
            <a:ext cx="4754880" cy="365760"/>
          </a:xfrm>
          <a:prstGeom prst="rect">
            <a:avLst/>
          </a:prstGeom>
          <a:noFill/>
        </p:spPr>
        <p:txBody>
          <a:bodyPr wrap="square"/>
          <a:lstStyle/>
          <a:p>
            <a:pPr algn="l"/>
            <a:r>
              <a:rPr sz="1100" b="0">
                <a:solidFill>
                  <a:srgbClr val="000000"/>
                </a:solidFill>
                <a:latin typeface="Arial"/>
              </a:rPr>
              <a:t>https://www.arxiv.org/abs/2512.12167</a:t>
            </a:r>
          </a:p>
        </p:txBody>
      </p:sp>
      <p:sp>
        <p:nvSpPr>
          <p:cNvPr id="16" name="Rectangle 15"/>
          <p:cNvSpPr/>
          <p:nvPr/>
        </p:nvSpPr>
        <p:spPr>
          <a:xfrm>
            <a:off x="457200"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1792"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86384"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50976"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15568"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7"/>
        </a:solidFill>
        <a:effectLst/>
      </p:bgPr>
    </p:bg>
    <p:spTree>
      <p:nvGrpSpPr>
        <p:cNvPr id="1" name=""/>
        <p:cNvGrpSpPr/>
        <p:nvPr/>
      </p:nvGrpSpPr>
      <p:grpSpPr/>
      <p:sp>
        <p:nvSpPr>
          <p:cNvPr id="2" name="Rectangle 1"/>
          <p:cNvSpPr/>
          <p:nvPr/>
        </p:nvSpPr>
        <p:spPr>
          <a:xfrm>
            <a:off x="11319640" y="126231"/>
            <a:ext cx="493995" cy="493995"/>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Hexagon 2"/>
          <p:cNvSpPr/>
          <p:nvPr/>
        </p:nvSpPr>
        <p:spPr>
          <a:xfrm>
            <a:off x="363337" y="2082922"/>
            <a:ext cx="376015" cy="376015"/>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2732" y="5683493"/>
            <a:ext cx="635161" cy="635161"/>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081958" y="4743206"/>
            <a:ext cx="483163" cy="483163"/>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65498" y="3162755"/>
            <a:ext cx="634513" cy="634513"/>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entagon 6"/>
          <p:cNvSpPr/>
          <p:nvPr/>
        </p:nvSpPr>
        <p:spPr>
          <a:xfrm>
            <a:off x="9478300" y="876800"/>
            <a:ext cx="294439" cy="294439"/>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Diamond 7"/>
          <p:cNvSpPr/>
          <p:nvPr/>
        </p:nvSpPr>
        <p:spPr>
          <a:xfrm>
            <a:off x="365644" y="2830740"/>
            <a:ext cx="498296" cy="498296"/>
          </a:xfrm>
          <a:prstGeom prst="diamond">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Hexagon 8"/>
          <p:cNvSpPr/>
          <p:nvPr/>
        </p:nvSpPr>
        <p:spPr>
          <a:xfrm>
            <a:off x="5110110" y="954575"/>
            <a:ext cx="494806" cy="494806"/>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74320"/>
            <a:ext cx="2194560" cy="475488"/>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latin typeface="Arial Black"/>
              </a:rPr>
              <a:t>ABSTRACT</a:t>
            </a:r>
          </a:p>
        </p:txBody>
      </p:sp>
      <p:sp>
        <p:nvSpPr>
          <p:cNvPr id="11" name="TextBox 10"/>
          <p:cNvSpPr txBox="1"/>
          <p:nvPr/>
        </p:nvSpPr>
        <p:spPr>
          <a:xfrm>
            <a:off x="2926080" y="320040"/>
            <a:ext cx="8897112" cy="411480"/>
          </a:xfrm>
          <a:prstGeom prst="rect">
            <a:avLst/>
          </a:prstGeom>
          <a:noFill/>
        </p:spPr>
        <p:txBody>
          <a:bodyPr wrap="square"/>
          <a:lstStyle/>
          <a:p>
            <a:pPr algn="l"/>
            <a:r>
              <a:rPr sz="1300" b="0">
                <a:solidFill>
                  <a:srgbClr val="000000"/>
                </a:solidFill>
                <a:latin typeface="Arial"/>
              </a:rPr>
              <a:t>260112 Extending the Context of Pretrained LLMs by Dropping their Pos…</a:t>
            </a:r>
          </a:p>
        </p:txBody>
      </p:sp>
      <p:sp>
        <p:nvSpPr>
          <p:cNvPr id="12" name="TextBox 11"/>
          <p:cNvSpPr txBox="1"/>
          <p:nvPr/>
        </p:nvSpPr>
        <p:spPr>
          <a:xfrm>
            <a:off x="365760" y="960120"/>
            <a:ext cx="10725912" cy="5212080"/>
          </a:xfrm>
          <a:prstGeom prst="rect">
            <a:avLst/>
          </a:prstGeom>
          <a:noFill/>
        </p:spPr>
        <p:txBody>
          <a:bodyPr wrap="square"/>
          <a:lstStyle/>
          <a:p>
            <a:pPr algn="l"/>
            <a:r>
              <a:rPr sz="1800" b="0">
                <a:solidFill>
                  <a:srgbClr val="000000"/>
                </a:solidFill>
                <a:latin typeface="Arial"/>
              </a:rPr>
              <a:t>So far, expensive finetuning beyond the pretraining sequence length has been a requirement for effectively extending the context of language models (LM). In this work, we break this key bottleneck by Dropping the Positional Embeddings of LMs after training (DroPE). Our simple method is motivated by three key theoretical and empirical observations. First, positional embeddings (PEs) serve a crucial role during pretraining, providing an important inductive bias that significantly facilitates convergence. Second, over-reliance on this explicit positional information is also precisely what prevents test-time generalization to sequences of unseen length, even when using popular PE-scaling methods. Third, positional embeddings are not an inherent requirement of effective language modeling and can be safely removed after pretraining, following a short recalibration phase. Empirically, DroPE yields seamless zero-shot context extension without any long-context finetuning, quickly adapting pretrained LMs without compromising their capabilities in the original training context. Our findings hold across different models and dataset sizes, far outperforming previous specialized architectures and established rotary positional embedding scaling methods.</a:t>
            </a:r>
          </a:p>
        </p:txBody>
      </p:sp>
      <p:sp>
        <p:nvSpPr>
          <p:cNvPr id="13" name="Oval 12"/>
          <p:cNvSpPr/>
          <p:nvPr/>
        </p:nvSpPr>
        <p:spPr>
          <a:xfrm>
            <a:off x="11444403" y="134126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160411" y="114021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1137111" y="352135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9723904" y="93896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11254391" y="232604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62719" y="653488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400534" y="41628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7395825" y="24428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415586" y="134762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863632" y="192151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188404" y="3055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4212087" y="133881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469951" y="18133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633904" y="352739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539622" y="61884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31353" y="195753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Q1</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paper argues that positional embeddings (PEs) are critical during pretraining as an inductive bias for convergence, but become a liability at inference time. Why does this dual role create the specific generalization bottleneck that DroPE addresses?</a:t>
            </a:r>
          </a:p>
        </p:txBody>
      </p:sp>
      <p:sp>
        <p:nvSpPr>
          <p:cNvPr id="15" name="Parallelogram 14"/>
          <p:cNvSpPr/>
          <p:nvPr/>
        </p:nvSpPr>
        <p:spPr>
          <a:xfrm>
            <a:off x="2504710" y="962373"/>
            <a:ext cx="698047" cy="698047"/>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82230" y="3448014"/>
            <a:ext cx="710018" cy="710018"/>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entagon 16"/>
          <p:cNvSpPr/>
          <p:nvPr/>
        </p:nvSpPr>
        <p:spPr>
          <a:xfrm>
            <a:off x="5867607" y="6269731"/>
            <a:ext cx="588268" cy="588268"/>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allelogram 17"/>
          <p:cNvSpPr/>
          <p:nvPr/>
        </p:nvSpPr>
        <p:spPr>
          <a:xfrm>
            <a:off x="726881" y="6158038"/>
            <a:ext cx="694296" cy="694296"/>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066318" y="5833601"/>
            <a:ext cx="435809" cy="435809"/>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6203073" y="127018"/>
            <a:ext cx="564987" cy="564987"/>
          </a:xfrm>
          <a:prstGeom prst="homePlat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Parallelogram 20"/>
          <p:cNvSpPr/>
          <p:nvPr/>
        </p:nvSpPr>
        <p:spPr>
          <a:xfrm>
            <a:off x="11374940" y="6118972"/>
            <a:ext cx="468272" cy="468272"/>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376172" y="375186"/>
            <a:ext cx="300658" cy="300658"/>
          </a:xfrm>
          <a:prstGeom prst="rect">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Hexagon 22"/>
          <p:cNvSpPr/>
          <p:nvPr/>
        </p:nvSpPr>
        <p:spPr>
          <a:xfrm>
            <a:off x="5480673" y="276669"/>
            <a:ext cx="716309" cy="716309"/>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A1</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paper argues that positional embeddings (PEs) are critical during pretraining as an inductive b…</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During pretraining, positional embeddings provide a clear signal about token order that helps the model rapidly learn syntactic and semantic patterns — without this signal, the model would need to infer order from context alone, making convergence significantly slower. However, this training dynamic causes the model's attention patterns and representations to become tightly coupled to specific absolute or relative position values. When inference sequences exceed the training length, the PE values fall outside the distribution seen during training, producing out-of-distribution positional signals that systematically distort attention scores and disrupt the representations the model has learned to rely on. DroPE addresses this by removing the very source of the distributional mismatch: a model without PEs cannot be confused by unseen position values because it has no positional input to misinterpret.</a:t>
            </a:r>
          </a:p>
        </p:txBody>
      </p:sp>
      <p:sp>
        <p:nvSpPr>
          <p:cNvPr id="7" name="Oval 6"/>
          <p:cNvSpPr/>
          <p:nvPr/>
        </p:nvSpPr>
        <p:spPr>
          <a:xfrm>
            <a:off x="841289" y="5503728"/>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374997" y="873086"/>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98058" y="449884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5457295" y="569942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260834" y="143081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6492781" y="19041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264502" y="335161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49113" y="349309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33366" y="25068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30867" y="55050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6176800" y="2541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9171955" y="651070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954332" y="25109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04096" y="256032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867744" y="61955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Q2</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What does the "short recalibration phase" after dropping PEs involve, and why is it needed? What does the model need to relearn or adjust during this phase?</a:t>
            </a:r>
          </a:p>
        </p:txBody>
      </p:sp>
      <p:sp>
        <p:nvSpPr>
          <p:cNvPr id="15" name="Isosceles Triangle 14"/>
          <p:cNvSpPr/>
          <p:nvPr/>
        </p:nvSpPr>
        <p:spPr>
          <a:xfrm>
            <a:off x="2577938" y="6407476"/>
            <a:ext cx="450523" cy="450523"/>
          </a:xfrm>
          <a:prstGeom prst="triangl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0902568" y="5787986"/>
            <a:ext cx="437125" cy="437125"/>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89664" y="4562677"/>
            <a:ext cx="323679" cy="323679"/>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a:off x="11524996" y="3525237"/>
            <a:ext cx="601775" cy="601775"/>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7439527" y="1010671"/>
            <a:ext cx="598435" cy="598435"/>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11570821" y="5706507"/>
            <a:ext cx="618130" cy="618130"/>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Hexagon 20"/>
          <p:cNvSpPr/>
          <p:nvPr/>
        </p:nvSpPr>
        <p:spPr>
          <a:xfrm>
            <a:off x="6075496" y="5831854"/>
            <a:ext cx="434821" cy="434821"/>
          </a:xfrm>
          <a:prstGeom prst="hexagon">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A2</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What does the "short recalibration phase" after dropping PEs involve, and why is it needed? What do…</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recalibration phase is a short continued training period (using the original data distribution) conducted after the PEs are dropped. It is needed because the model's internal representations — particularly in the attention layers — were calibrated to receive and process positional information as a consistent input feature. When that input is removed, the attention patterns and early layer activations need to re-settle to a new equilibrium where the model compensates for the absence of explicit position signals using positional information implicit in the token sequence itself (e.g., causal masking, token identity patterns). The recalibration is brief precisely because the model's general language modeling capability is intact; only the low-level mechanism for handling position needs to adapt.</a:t>
            </a:r>
          </a:p>
        </p:txBody>
      </p:sp>
      <p:sp>
        <p:nvSpPr>
          <p:cNvPr id="7" name="Oval 6"/>
          <p:cNvSpPr/>
          <p:nvPr/>
        </p:nvSpPr>
        <p:spPr>
          <a:xfrm>
            <a:off x="1004547" y="364827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746706" y="563315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66162" y="31442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28111" y="5268862"/>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883589" y="5251828"/>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477941" y="229391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4758455" y="9055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5445114" y="2850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72365" y="16180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36620" y="24601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0479739" y="605417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28154" y="16504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18025" y="404700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692916" y="132302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18935" y="24378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Q3</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How does the over-reliance on explicit positional information specifically prevent length generalization in popular PE-scaling methods like RoPE scaling or ALiBi? What breaks when the model encounters sequence lengths beyond the training distribution?</a:t>
            </a:r>
          </a:p>
        </p:txBody>
      </p:sp>
      <p:sp>
        <p:nvSpPr>
          <p:cNvPr id="15" name="Parallelogram 14"/>
          <p:cNvSpPr/>
          <p:nvPr/>
        </p:nvSpPr>
        <p:spPr>
          <a:xfrm>
            <a:off x="11507660" y="2960390"/>
            <a:ext cx="681291" cy="681291"/>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9767109" y="84409"/>
            <a:ext cx="482182" cy="482182"/>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1999512" y="424530"/>
            <a:ext cx="334837" cy="334837"/>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579428" y="3937121"/>
            <a:ext cx="332169" cy="332169"/>
          </a:xfrm>
          <a:prstGeom prst="diamond">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111893" y="6431757"/>
            <a:ext cx="426242" cy="426242"/>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647777" y="6131311"/>
            <a:ext cx="726688" cy="726688"/>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0164440" y="5840575"/>
            <a:ext cx="545069" cy="545069"/>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arallelogram 21"/>
          <p:cNvSpPr/>
          <p:nvPr/>
        </p:nvSpPr>
        <p:spPr>
          <a:xfrm>
            <a:off x="11643137" y="1618758"/>
            <a:ext cx="492949" cy="492949"/>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2336849" y="6299019"/>
            <a:ext cx="338912" cy="33891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1813274" y="1122878"/>
            <a:ext cx="375677" cy="37567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A3</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How does the over-reliance on explicit positional information specifically prevent length generaliz…</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RoPE scaling methods (e.g., NTK-aware scaling, linear interpolation) work by modifying the rotation frequencies so that the model's positional representations "fit" within the range seen during training when applied to longer sequences. However, this approach assumes the model's sensitivity to positional information transfers smoothly under a rescaled input, which is not always true — the attention patterns were trained to recognize specific rotational phase relationships at specific layer depths, and rescaling changes these relationships in ways that may not preserve the learned structure. ALiBi adds fixed position-dependent biases to attention logits, but the learned attention weights were not trained to handle the larger biases that appear at longer distances, causing attention distributions to become increasingly distorted. Both methods are fundamentally attempts to "trick" a positionally-sensitive model into handling longer sequences, whereas DroPE removes the positional sensitivity itself.</a:t>
            </a:r>
          </a:p>
        </p:txBody>
      </p:sp>
      <p:sp>
        <p:nvSpPr>
          <p:cNvPr id="7" name="Oval 6"/>
          <p:cNvSpPr/>
          <p:nvPr/>
        </p:nvSpPr>
        <p:spPr>
          <a:xfrm>
            <a:off x="4610790" y="1016369"/>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447861" y="684596"/>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82784" y="4049241"/>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159141" y="1847692"/>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547548" y="596478"/>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135799" y="7549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354226" y="12047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371994" y="60839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2531453" y="62400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9026996" y="48554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228881" y="7504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919658" y="65264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692661" y="12303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89614" y="40817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11257" y="632730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Q4</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method achieves zero-shot context extension without long-context finetuning. What are the remaining failure modes or edge cases where DroPE might still underperform compared to models specifically finetuned for long context?</a:t>
            </a:r>
          </a:p>
        </p:txBody>
      </p:sp>
      <p:sp>
        <p:nvSpPr>
          <p:cNvPr id="15" name="Oval 14"/>
          <p:cNvSpPr/>
          <p:nvPr/>
        </p:nvSpPr>
        <p:spPr>
          <a:xfrm>
            <a:off x="11509390" y="5707405"/>
            <a:ext cx="624535" cy="624535"/>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entagon 15"/>
          <p:cNvSpPr/>
          <p:nvPr/>
        </p:nvSpPr>
        <p:spPr>
          <a:xfrm>
            <a:off x="7349984" y="6430008"/>
            <a:ext cx="401433" cy="401433"/>
          </a:xfrm>
          <a:prstGeom prst="homePlat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788953" y="562246"/>
            <a:ext cx="475241" cy="475241"/>
          </a:xfrm>
          <a:prstGeom prst="diamond">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Hexagon 17"/>
          <p:cNvSpPr/>
          <p:nvPr/>
        </p:nvSpPr>
        <p:spPr>
          <a:xfrm>
            <a:off x="4574371" y="599465"/>
            <a:ext cx="677410" cy="677410"/>
          </a:xfrm>
          <a:prstGeom prst="hexagon">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a:off x="11677232" y="4897011"/>
            <a:ext cx="511719" cy="51171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835451" y="631963"/>
            <a:ext cx="347530" cy="347530"/>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A4</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method achieves zero-shot context extension without long-context finetuning. What are the remai…</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Remaining failure modes for DroPE include: very long documents where the model needs to track references across extreme distances (since without explicit position the model must rely on attention patterns that may not generalize to very long ranges); tasks that explicitly require exact position counting or ordered reasoning (where models trained with PEs often develop position-tracking circuits tied to the PE signal); and contexts where the recalibration data distribution does not cover the token patterns that appear at very long context lengths, leaving the model partially blind to structural cues that appear late in very long sequences. Models specifically finetuned for long context using long-context examples can directly learn to utilize long-range attention effectively, while DroPE's zero-shot extension is more passive.</a:t>
            </a:r>
          </a:p>
        </p:txBody>
      </p:sp>
      <p:sp>
        <p:nvSpPr>
          <p:cNvPr id="7" name="Oval 6"/>
          <p:cNvSpPr/>
          <p:nvPr/>
        </p:nvSpPr>
        <p:spPr>
          <a:xfrm>
            <a:off x="4924984" y="15427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36871" y="6275184"/>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06200" y="348881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027161" y="2302395"/>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677174" y="5900537"/>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0853453" y="482054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3298901" y="12091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55917" y="21108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442701" y="147585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84746" y="11650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519452" y="268243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591387" y="156058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684901" y="140570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412916" y="1002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22087" y="63435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Q5</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paper claims PEs can be "safely removed after pretraining" - what mechanism allows the model to maintain position sensitivity without explicit positional embeddings, and does this imply attention patterns alone carry sufficient positional information?</a:t>
            </a:r>
          </a:p>
        </p:txBody>
      </p:sp>
      <p:sp>
        <p:nvSpPr>
          <p:cNvPr id="15" name="Parallelogram 14"/>
          <p:cNvSpPr/>
          <p:nvPr/>
        </p:nvSpPr>
        <p:spPr>
          <a:xfrm>
            <a:off x="11430450" y="5508612"/>
            <a:ext cx="481561" cy="481561"/>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246798" y="428472"/>
            <a:ext cx="623132" cy="623132"/>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Isosceles Triangle 16"/>
          <p:cNvSpPr/>
          <p:nvPr/>
        </p:nvSpPr>
        <p:spPr>
          <a:xfrm>
            <a:off x="326420" y="1040590"/>
            <a:ext cx="586381" cy="586381"/>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allelogram 17"/>
          <p:cNvSpPr/>
          <p:nvPr/>
        </p:nvSpPr>
        <p:spPr>
          <a:xfrm>
            <a:off x="240124" y="5378812"/>
            <a:ext cx="630306" cy="630306"/>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Diamond 18"/>
          <p:cNvSpPr/>
          <p:nvPr/>
        </p:nvSpPr>
        <p:spPr>
          <a:xfrm>
            <a:off x="6376360" y="1054838"/>
            <a:ext cx="592927" cy="592927"/>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661062" y="4367980"/>
            <a:ext cx="434016" cy="434016"/>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965184" y="5251064"/>
            <a:ext cx="718338" cy="71833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380067" y="6388273"/>
            <a:ext cx="320190" cy="320190"/>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arallelogram 22"/>
          <p:cNvSpPr/>
          <p:nvPr/>
        </p:nvSpPr>
        <p:spPr>
          <a:xfrm>
            <a:off x="4501684" y="227549"/>
            <a:ext cx="721736" cy="721736"/>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202784" y="5505987"/>
            <a:ext cx="384347" cy="38434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A5</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paper claims PEs can be "safely removed after pretraining" - what mechanism allows the model to…</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After PE removal, the model retains positional sensitivity through several implicit mechanisms: causal masking inherently encodes an ordering signal (earlier tokens attend to a larger set of past tokens), and the learned residual stream representations encode token co-occurrence patterns that correlate with position implicitly (e.g., sentence-initial tokens have different statistical profiles than mid-sentence tokens). Attention patterns also carry positional information indirectly through the content of the KV vectors, which encode token identity and immediate context. The recalibration phase allows the model to strengthen these implicit channels. However, this implicit positional information is coarser than explicit PEs, which is why DroPE trades some short-context positional precision for long-context generalization ability.</a:t>
            </a:r>
          </a:p>
        </p:txBody>
      </p:sp>
      <p:sp>
        <p:nvSpPr>
          <p:cNvPr id="7" name="Oval 6"/>
          <p:cNvSpPr/>
          <p:nvPr/>
        </p:nvSpPr>
        <p:spPr>
          <a:xfrm>
            <a:off x="10139045" y="120067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727894" y="73837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880191" y="108109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74012" y="44352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76368" y="399200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581429" y="65624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152814" y="442856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27116" y="57129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4594" y="57367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86443" y="195254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95330" y="276965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885839" y="487126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542269" y="64575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02707" y="448177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46260" y="30490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Q6</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How does DroPE compare to training from scratch on NoPE (No Positional Embedding) architectures, and what does this comparison reveal about when in the training process positional information becomes most critical?</a:t>
            </a:r>
          </a:p>
        </p:txBody>
      </p:sp>
      <p:sp>
        <p:nvSpPr>
          <p:cNvPr id="15" name="Pentagon 14"/>
          <p:cNvSpPr/>
          <p:nvPr/>
        </p:nvSpPr>
        <p:spPr>
          <a:xfrm>
            <a:off x="11471229" y="83754"/>
            <a:ext cx="717722" cy="717722"/>
          </a:xfrm>
          <a:prstGeom prst="homePlat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596952" y="6457200"/>
            <a:ext cx="400799" cy="400799"/>
          </a:xfrm>
          <a:prstGeom prst="hexagon">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340537" y="4820588"/>
            <a:ext cx="570868" cy="570868"/>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698631" y="3661981"/>
            <a:ext cx="358723" cy="358723"/>
          </a:xfrm>
          <a:prstGeom prst="diamond">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entagon 18"/>
          <p:cNvSpPr/>
          <p:nvPr/>
        </p:nvSpPr>
        <p:spPr>
          <a:xfrm>
            <a:off x="8380135" y="764278"/>
            <a:ext cx="575316" cy="575316"/>
          </a:xfrm>
          <a:prstGeom prst="homePlat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42594" y="5961517"/>
            <a:ext cx="285420" cy="285420"/>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439638" y="60636"/>
            <a:ext cx="684363" cy="684363"/>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Diamond 21"/>
          <p:cNvSpPr/>
          <p:nvPr/>
        </p:nvSpPr>
        <p:spPr>
          <a:xfrm>
            <a:off x="11678739" y="567717"/>
            <a:ext cx="510212" cy="510212"/>
          </a:xfrm>
          <a:prstGeom prst="diamond">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entagon 22"/>
          <p:cNvSpPr/>
          <p:nvPr/>
        </p:nvSpPr>
        <p:spPr>
          <a:xfrm>
            <a:off x="5189508" y="528426"/>
            <a:ext cx="550160" cy="550160"/>
          </a:xfrm>
          <a:prstGeom prst="homePlat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a:off x="11169991" y="347584"/>
            <a:ext cx="450570" cy="450570"/>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A6</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How does DroPE compare to training from scratch on NoPE (No Positional Embedding) architectures, an…</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Compared to NoPE (no-positional-embedding) architectures trained from scratch, DroPE benefits from the strong language representations built during PE-assisted pretraining. NoPE architectures trained from scratch are known to converge more slowly and often require more tokens to reach the same loss as PE-equipped models — the explicit positional inductive bias meaningfully accelerates learning. DroPE effectively gets "the best of both worlds" by using PEs during the phase where they help most (early convergence) and removing them for the phase where they hurt (length generalization). This comparison reveals that positional information is most critical in the early stages of training when the model is learning basic language structure, and becomes less necessary (and actively harmful for generalization) once the model's representations are mature.</a:t>
            </a:r>
          </a:p>
        </p:txBody>
      </p:sp>
      <p:sp>
        <p:nvSpPr>
          <p:cNvPr id="7" name="Oval 6"/>
          <p:cNvSpPr/>
          <p:nvPr/>
        </p:nvSpPr>
        <p:spPr>
          <a:xfrm>
            <a:off x="979244" y="2570509"/>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61178" y="484300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2239323" y="379680"/>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435510" y="4609616"/>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83309" y="138532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3263428" y="8528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322826" y="60634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151406" y="72662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308102" y="72547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696690" y="53028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23111" y="70693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990017" y="7933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62094" y="58617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423336" y="131429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5329996" y="629566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Q7</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Given that DroPE relies on a recalibration phase after dropping PEs, what factors determine how long this phase needs to be, and is there a risk that recalibration degrades performance on the original training context length?</a:t>
            </a:r>
          </a:p>
        </p:txBody>
      </p:sp>
      <p:sp>
        <p:nvSpPr>
          <p:cNvPr id="15" name="Diamond 14"/>
          <p:cNvSpPr/>
          <p:nvPr/>
        </p:nvSpPr>
        <p:spPr>
          <a:xfrm>
            <a:off x="180297" y="711596"/>
            <a:ext cx="484302" cy="484302"/>
          </a:xfrm>
          <a:prstGeom prst="diamond">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613238" y="6338122"/>
            <a:ext cx="381960" cy="381960"/>
          </a:xfrm>
          <a:prstGeom prst="parallelogram">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307671" y="700158"/>
            <a:ext cx="513002" cy="513002"/>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236802" y="2249330"/>
            <a:ext cx="672986" cy="672986"/>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11472141" y="3871552"/>
            <a:ext cx="716810" cy="716810"/>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Hexagon 19"/>
          <p:cNvSpPr/>
          <p:nvPr/>
        </p:nvSpPr>
        <p:spPr>
          <a:xfrm>
            <a:off x="11620847" y="3947090"/>
            <a:ext cx="373317" cy="373317"/>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1701892" y="6370940"/>
            <a:ext cx="487059" cy="48705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160576" y="6159635"/>
            <a:ext cx="415311" cy="415311"/>
          </a:xfrm>
          <a:prstGeom prst="rect">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A7</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Given that DroPE relies on a recalibration phase after dropping PEs, what factors determine how lon…</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length of the recalibration phase is primarily determined by how strongly the model's attention patterns were coupled to the PE signal before dropping — models with stronger PE coupling require longer recalibration to re-route positional information through implicit channels. Empirically, the paper reports this phase is short (in relative terms), suggesting that removing PEs from a well-trained model requires relatively minor adjustments. There is some risk that recalibration degrades original-context performance if the recalibration updates overwrite learned attention patterns that were important for short-context tasks; the paper reports that DroPE maintains performance on original training context lengths, suggesting this risk is manageable with appropriate learning rates and early stopping, but it remains a consideration for practitioners using aggressive recalibration schedules.</a:t>
            </a:r>
          </a:p>
        </p:txBody>
      </p:sp>
      <p:sp>
        <p:nvSpPr>
          <p:cNvPr id="7" name="Oval 6"/>
          <p:cNvSpPr/>
          <p:nvPr/>
        </p:nvSpPr>
        <p:spPr>
          <a:xfrm>
            <a:off x="174124" y="197432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105847" y="121370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67069" y="6289688"/>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742765" y="191839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291287" y="3120571"/>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D084"/>
        </a:solidFill>
        <a:effectLst/>
      </p:bgPr>
    </p:bg>
    <p:spTree>
      <p:nvGrpSpPr>
        <p:cNvPr id="1" name=""/>
        <p:cNvGrpSpPr/>
        <p:nvPr/>
      </p:nvGrpSpPr>
      <p:grpSpPr/>
      <p:sp>
        <p:nvSpPr>
          <p:cNvPr id="2" name="Pentagon 1"/>
          <p:cNvSpPr/>
          <p:nvPr/>
        </p:nvSpPr>
        <p:spPr>
          <a:xfrm>
            <a:off x="4783784" y="873860"/>
            <a:ext cx="276942" cy="276942"/>
          </a:xfrm>
          <a:prstGeom prst="homePlat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Diamond 2"/>
          <p:cNvSpPr/>
          <p:nvPr/>
        </p:nvSpPr>
        <p:spPr>
          <a:xfrm>
            <a:off x="903296" y="220743"/>
            <a:ext cx="456033" cy="456033"/>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636872" y="265207"/>
            <a:ext cx="379113" cy="379113"/>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611110" y="4577622"/>
            <a:ext cx="669330" cy="669330"/>
          </a:xfrm>
          <a:prstGeom prst="parallelogram">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56064" y="755001"/>
            <a:ext cx="685853" cy="685853"/>
          </a:xfrm>
          <a:prstGeom prst="rect">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30537" y="6523345"/>
            <a:ext cx="334654" cy="334654"/>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arallelogram 7"/>
          <p:cNvSpPr/>
          <p:nvPr/>
        </p:nvSpPr>
        <p:spPr>
          <a:xfrm>
            <a:off x="11618920" y="2181194"/>
            <a:ext cx="570031" cy="570031"/>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0070" y="122609"/>
            <a:ext cx="353367" cy="353367"/>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28600"/>
            <a:ext cx="3474720" cy="5486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Arial Black"/>
              </a:rPr>
              <a:t>KEY TAKEAWAY</a:t>
            </a:r>
          </a:p>
        </p:txBody>
      </p:sp>
      <p:sp>
        <p:nvSpPr>
          <p:cNvPr id="11" name="TextBox 10"/>
          <p:cNvSpPr txBox="1"/>
          <p:nvPr/>
        </p:nvSpPr>
        <p:spPr>
          <a:xfrm>
            <a:off x="457200" y="1005840"/>
            <a:ext cx="11183112" cy="5029200"/>
          </a:xfrm>
          <a:prstGeom prst="rect">
            <a:avLst/>
          </a:prstGeom>
          <a:noFill/>
        </p:spPr>
        <p:txBody>
          <a:bodyPr wrap="square"/>
          <a:lstStyle/>
          <a:p>
            <a:pPr algn="l"/>
            <a:r>
              <a:rPr sz="2000" b="0">
                <a:solidFill>
                  <a:srgbClr val="000000"/>
                </a:solidFill>
                <a:latin typeface="Arial"/>
              </a:rPr>
              <a:t>▶  So far, expensive finetuning beyond the pretraining sequence length has been a requirement for effectively extending the context of language models (LM). In this work, we break this key bottleneck by Dropping the Positional Embeddings of LMs after training (DroPE). Our simple method is motivated by…</a:t>
            </a:r>
          </a:p>
        </p:txBody>
      </p:sp>
      <p:sp>
        <p:nvSpPr>
          <p:cNvPr id="12" name="Rectangle 11"/>
          <p:cNvSpPr/>
          <p:nvPr/>
        </p:nvSpPr>
        <p:spPr>
          <a:xfrm>
            <a:off x="457200"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21792"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786384"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950976"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115568"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57200"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621792"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86384"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950976"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15568"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987784" y="0"/>
            <a:ext cx="201168"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
        <p:nvSpPr>
          <p:cNvPr id="24" name="TextBox 23"/>
          <p:cNvSpPr txBox="1"/>
          <p:nvPr/>
        </p:nvSpPr>
        <p:spPr>
          <a:xfrm>
            <a:off x="457200" y="6355080"/>
            <a:ext cx="11274552" cy="347472"/>
          </a:xfrm>
          <a:prstGeom prst="rect">
            <a:avLst/>
          </a:prstGeom>
          <a:noFill/>
        </p:spPr>
        <p:txBody>
          <a:bodyPr wrap="square"/>
          <a:lstStyle/>
          <a:p>
            <a:pPr algn="l"/>
            <a:r>
              <a:rPr sz="1200" b="0">
                <a:solidFill>
                  <a:srgbClr val="000000"/>
                </a:solidFill>
                <a:latin typeface="Arial"/>
              </a:rPr>
              <a:t>260112 Extending the Context of Pretrained LLMs by Dropping…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