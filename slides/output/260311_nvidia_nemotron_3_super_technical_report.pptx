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E600"/>
        </a:solidFill>
        <a:effectLst/>
      </p:bgPr>
    </p:bg>
    <p:spTree>
      <p:nvGrpSpPr>
        <p:cNvPr id="1" name=""/>
        <p:cNvGrpSpPr/>
        <p:nvPr/>
      </p:nvGrpSpPr>
      <p:grpSpPr/>
      <p:sp>
        <p:nvSpPr>
          <p:cNvPr id="2" name="Isosceles Triangle 1"/>
          <p:cNvSpPr/>
          <p:nvPr/>
        </p:nvSpPr>
        <p:spPr>
          <a:xfrm>
            <a:off x="2268743" y="5804754"/>
            <a:ext cx="714281" cy="714281"/>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4609268" y="5791190"/>
            <a:ext cx="731121" cy="731121"/>
          </a:xfrm>
          <a:prstGeom prst="parallelogram">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10208537" y="6165755"/>
            <a:ext cx="500626" cy="500626"/>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Parallelogram 4"/>
          <p:cNvSpPr/>
          <p:nvPr/>
        </p:nvSpPr>
        <p:spPr>
          <a:xfrm>
            <a:off x="592718" y="2910626"/>
            <a:ext cx="283460" cy="283460"/>
          </a:xfrm>
          <a:prstGeom prst="parallelogram">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447579" y="918022"/>
            <a:ext cx="392440" cy="392440"/>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5701437" y="728940"/>
            <a:ext cx="381496" cy="381496"/>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entagon 7"/>
          <p:cNvSpPr/>
          <p:nvPr/>
        </p:nvSpPr>
        <p:spPr>
          <a:xfrm>
            <a:off x="5600939" y="249569"/>
            <a:ext cx="303751" cy="303751"/>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0" y="0"/>
            <a:ext cx="12188952" cy="164592"/>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10" name="TextBox 9"/>
          <p:cNvSpPr txBox="1"/>
          <p:nvPr/>
        </p:nvSpPr>
        <p:spPr>
          <a:xfrm>
            <a:off x="457200" y="365760"/>
            <a:ext cx="11274552" cy="3200400"/>
          </a:xfrm>
          <a:prstGeom prst="rect">
            <a:avLst/>
          </a:prstGeom>
          <a:noFill/>
        </p:spPr>
        <p:txBody>
          <a:bodyPr wrap="square"/>
          <a:lstStyle/>
          <a:p>
            <a:pPr algn="l"/>
            <a:r>
              <a:rPr sz="4000" b="1">
                <a:solidFill>
                  <a:srgbClr val="000000"/>
                </a:solidFill>
                <a:latin typeface="Arial Black"/>
              </a:rPr>
              <a:t>NVIDIA Nemotron 3 Super Technical Report</a:t>
            </a:r>
          </a:p>
        </p:txBody>
      </p:sp>
      <p:sp>
        <p:nvSpPr>
          <p:cNvPr id="11" name="TextBox 10"/>
          <p:cNvSpPr txBox="1"/>
          <p:nvPr/>
        </p:nvSpPr>
        <p:spPr>
          <a:xfrm>
            <a:off x="457200" y="3840480"/>
            <a:ext cx="9445752" cy="548640"/>
          </a:xfrm>
          <a:prstGeom prst="rect">
            <a:avLst/>
          </a:prstGeom>
          <a:noFill/>
        </p:spPr>
        <p:txBody>
          <a:bodyPr wrap="square"/>
          <a:lstStyle/>
          <a:p>
            <a:pPr algn="l"/>
            <a:r>
              <a:rPr sz="1600" b="0">
                <a:solidFill>
                  <a:srgbClr val="000000"/>
                </a:solidFill>
                <a:latin typeface="Arial"/>
              </a:rPr>
              <a:t>NVIDIA Corporation (357 authors; see arXiv:2512.20856)</a:t>
            </a:r>
          </a:p>
        </p:txBody>
      </p:sp>
      <p:sp>
        <p:nvSpPr>
          <p:cNvPr id="12" name="Rectangle 11"/>
          <p:cNvSpPr/>
          <p:nvPr/>
        </p:nvSpPr>
        <p:spPr>
          <a:xfrm>
            <a:off x="457200" y="4572000"/>
            <a:ext cx="1463040" cy="3200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1400" b="1">
                <a:solidFill>
                  <a:srgbClr val="FFE600"/>
                </a:solidFill>
                <a:latin typeface="Arial"/>
              </a:rPr>
              <a:t>26-03-11</a:t>
            </a:r>
          </a:p>
        </p:txBody>
      </p:sp>
      <p:sp>
        <p:nvSpPr>
          <p:cNvPr id="13" name="Rectangle 12"/>
          <p:cNvSpPr/>
          <p:nvPr/>
        </p:nvSpPr>
        <p:spPr>
          <a:xfrm>
            <a:off x="0" y="0"/>
            <a:ext cx="201168"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
        <p:nvSpPr>
          <p:cNvPr id="14" name="Rectangle 13"/>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
        <p:nvSpPr>
          <p:cNvPr id="15" name="TextBox 14"/>
          <p:cNvSpPr txBox="1"/>
          <p:nvPr/>
        </p:nvSpPr>
        <p:spPr>
          <a:xfrm>
            <a:off x="7159752" y="6400800"/>
            <a:ext cx="4754880" cy="365760"/>
          </a:xfrm>
          <a:prstGeom prst="rect">
            <a:avLst/>
          </a:prstGeom>
          <a:noFill/>
        </p:spPr>
        <p:txBody>
          <a:bodyPr wrap="square"/>
          <a:lstStyle/>
          <a:p>
            <a:pPr algn="l"/>
            <a:r>
              <a:rPr sz="1100" b="0">
                <a:solidFill>
                  <a:srgbClr val="000000"/>
                </a:solidFill>
                <a:latin typeface="Arial"/>
              </a:rPr>
              <a:t>https://research.nvidia.com/labs/nemotron/files/NVIDIA-Nemo…</a:t>
            </a:r>
          </a:p>
        </p:txBody>
      </p:sp>
      <p:sp>
        <p:nvSpPr>
          <p:cNvPr id="16" name="Rectangle 15"/>
          <p:cNvSpPr/>
          <p:nvPr/>
        </p:nvSpPr>
        <p:spPr>
          <a:xfrm>
            <a:off x="457200"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3657600"/>
            <a:ext cx="164592" cy="146304"/>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7"/>
        </a:solidFill>
        <a:effectLst/>
      </p:bgPr>
    </p:bg>
    <p:spTree>
      <p:nvGrpSpPr>
        <p:cNvPr id="1" name=""/>
        <p:cNvGrpSpPr/>
        <p:nvPr/>
      </p:nvGrpSpPr>
      <p:grpSpPr/>
      <p:sp>
        <p:nvSpPr>
          <p:cNvPr id="2" name="Rectangle 1"/>
          <p:cNvSpPr/>
          <p:nvPr/>
        </p:nvSpPr>
        <p:spPr>
          <a:xfrm>
            <a:off x="11319640" y="126231"/>
            <a:ext cx="493995" cy="493995"/>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363337" y="2082922"/>
            <a:ext cx="376015" cy="376015"/>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2732" y="5683493"/>
            <a:ext cx="635161" cy="635161"/>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081958" y="4743206"/>
            <a:ext cx="483163" cy="483163"/>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65498" y="3162755"/>
            <a:ext cx="634513" cy="634513"/>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9478300" y="876800"/>
            <a:ext cx="294439" cy="294439"/>
          </a:xfrm>
          <a:prstGeom prst="homePlat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Diamond 7"/>
          <p:cNvSpPr/>
          <p:nvPr/>
        </p:nvSpPr>
        <p:spPr>
          <a:xfrm>
            <a:off x="365644" y="2830740"/>
            <a:ext cx="498296" cy="498296"/>
          </a:xfrm>
          <a:prstGeom prst="diamond">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exagon 8"/>
          <p:cNvSpPr/>
          <p:nvPr/>
        </p:nvSpPr>
        <p:spPr>
          <a:xfrm>
            <a:off x="5110110" y="954575"/>
            <a:ext cx="494806" cy="494806"/>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365760" y="274320"/>
            <a:ext cx="2194560" cy="475488"/>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800" b="1">
                <a:solidFill>
                  <a:srgbClr val="FFFFFF"/>
                </a:solidFill>
                <a:latin typeface="Arial Black"/>
              </a:rPr>
              <a:t>ABSTRACT</a:t>
            </a:r>
          </a:p>
        </p:txBody>
      </p:sp>
      <p:sp>
        <p:nvSpPr>
          <p:cNvPr id="11" name="TextBox 10"/>
          <p:cNvSpPr txBox="1"/>
          <p:nvPr/>
        </p:nvSpPr>
        <p:spPr>
          <a:xfrm>
            <a:off x="2926080" y="320040"/>
            <a:ext cx="8897112" cy="411480"/>
          </a:xfrm>
          <a:prstGeom prst="rect">
            <a:avLst/>
          </a:prstGeom>
          <a:noFill/>
        </p:spPr>
        <p:txBody>
          <a:bodyPr wrap="square"/>
          <a:lstStyle/>
          <a:p>
            <a:pPr algn="l"/>
            <a:r>
              <a:rPr sz="1300" b="0">
                <a:solidFill>
                  <a:srgbClr val="000000"/>
                </a:solidFill>
                <a:latin typeface="Arial"/>
              </a:rPr>
              <a:t>NVIDIA Nemotron 3 Super Technical Report</a:t>
            </a:r>
          </a:p>
        </p:txBody>
      </p:sp>
      <p:sp>
        <p:nvSpPr>
          <p:cNvPr id="12" name="TextBox 11"/>
          <p:cNvSpPr txBox="1"/>
          <p:nvPr/>
        </p:nvSpPr>
        <p:spPr>
          <a:xfrm>
            <a:off x="365760" y="960120"/>
            <a:ext cx="10725912" cy="5212080"/>
          </a:xfrm>
          <a:prstGeom prst="rect">
            <a:avLst/>
          </a:prstGeom>
          <a:noFill/>
        </p:spPr>
        <p:txBody>
          <a:bodyPr wrap="square"/>
          <a:lstStyle/>
          <a:p>
            <a:pPr algn="l"/>
            <a:r>
              <a:rPr sz="1800" b="0">
                <a:solidFill>
                  <a:srgbClr val="000000"/>
                </a:solidFill>
                <a:latin typeface="Arial"/>
              </a:rPr>
              <a:t>Nemotron 3 Super is a 120B total / 12B active parameter Mixture-of-Experts hybrid Mamba-Transformer model designed to deliver agentic, reasoning, and conversational capabilities at high inference efficiency. It supports context lengths up to 1M tokens and is the first Nemotron model trained natively in NVFP4 precision from the start. The model targets agentic workflows requiring multi-step reasoning, tool use, and long-range memory, delivering 2.2x–7.5x higher inference throughput than comparable-accuracy models.</a:t>
            </a:r>
          </a:p>
        </p:txBody>
      </p:sp>
      <p:sp>
        <p:nvSpPr>
          <p:cNvPr id="13" name="Oval 12"/>
          <p:cNvSpPr/>
          <p:nvPr/>
        </p:nvSpPr>
        <p:spPr>
          <a:xfrm>
            <a:off x="11444403" y="134126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6160411" y="114021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11137111" y="352135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9723904" y="938963"/>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11254391" y="232604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6462719" y="6534885"/>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A3FF"/>
        </a:solidFill>
        <a:effectLst/>
      </p:bgPr>
    </p:bg>
    <p:spTree>
      <p:nvGrpSpPr>
        <p:cNvPr id="1" name=""/>
        <p:cNvGrpSpPr/>
        <p:nvPr/>
      </p:nvGrpSpPr>
      <p:grpSpPr/>
      <p:sp>
        <p:nvSpPr>
          <p:cNvPr id="2" name="Parallelogram 1"/>
          <p:cNvSpPr/>
          <p:nvPr/>
        </p:nvSpPr>
        <p:spPr>
          <a:xfrm>
            <a:off x="11346629" y="5955948"/>
            <a:ext cx="540766" cy="540766"/>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Parallelogram 2"/>
          <p:cNvSpPr/>
          <p:nvPr/>
        </p:nvSpPr>
        <p:spPr>
          <a:xfrm>
            <a:off x="5067776" y="956131"/>
            <a:ext cx="597361" cy="597361"/>
          </a:xfrm>
          <a:prstGeom prst="parallelogram">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Pentagon 3"/>
          <p:cNvSpPr/>
          <p:nvPr/>
        </p:nvSpPr>
        <p:spPr>
          <a:xfrm>
            <a:off x="11835138" y="2731630"/>
            <a:ext cx="351427" cy="351427"/>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932452" y="1028748"/>
            <a:ext cx="588521" cy="588521"/>
          </a:xfrm>
          <a:prstGeom prst="ellips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40545" y="289119"/>
            <a:ext cx="522161" cy="522161"/>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Isosceles Triangle 6"/>
          <p:cNvSpPr/>
          <p:nvPr/>
        </p:nvSpPr>
        <p:spPr>
          <a:xfrm>
            <a:off x="3595328" y="304382"/>
            <a:ext cx="683413" cy="683413"/>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allelogram 7"/>
          <p:cNvSpPr/>
          <p:nvPr/>
        </p:nvSpPr>
        <p:spPr>
          <a:xfrm>
            <a:off x="11527060" y="1674887"/>
            <a:ext cx="661891" cy="661891"/>
          </a:xfrm>
          <a:prstGeom prst="parallelogram">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451765" y="6086871"/>
            <a:ext cx="537836" cy="537836"/>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11498521" y="367387"/>
            <a:ext cx="505409" cy="505409"/>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365760" y="228600"/>
            <a:ext cx="2926080" cy="50292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000000"/>
                </a:solidFill>
                <a:latin typeface="Arial Black"/>
              </a:rPr>
              <a:t>KEY FINDINGS</a:t>
            </a:r>
          </a:p>
        </p:txBody>
      </p:sp>
      <p:sp>
        <p:nvSpPr>
          <p:cNvPr id="12" name="TextBox 11"/>
          <p:cNvSpPr txBox="1"/>
          <p:nvPr/>
        </p:nvSpPr>
        <p:spPr>
          <a:xfrm>
            <a:off x="11274552" y="274320"/>
            <a:ext cx="640080" cy="411480"/>
          </a:xfrm>
          <a:prstGeom prst="rect">
            <a:avLst/>
          </a:prstGeom>
          <a:noFill/>
        </p:spPr>
        <p:txBody>
          <a:bodyPr wrap="square"/>
          <a:lstStyle/>
          <a:p>
            <a:pPr algn="r"/>
            <a:r>
              <a:rPr sz="1600" b="1">
                <a:solidFill>
                  <a:srgbClr val="FFFFFF"/>
                </a:solidFill>
                <a:latin typeface="Arial"/>
              </a:rPr>
              <a:t>1</a:t>
            </a:r>
          </a:p>
        </p:txBody>
      </p:sp>
      <p:sp>
        <p:nvSpPr>
          <p:cNvPr id="13" name="TextBox 12"/>
          <p:cNvSpPr txBox="1"/>
          <p:nvPr/>
        </p:nvSpPr>
        <p:spPr>
          <a:xfrm>
            <a:off x="457200" y="960120"/>
            <a:ext cx="11091672" cy="5212080"/>
          </a:xfrm>
          <a:prstGeom prst="rect">
            <a:avLst/>
          </a:prstGeom>
          <a:noFill/>
        </p:spPr>
        <p:txBody>
          <a:bodyPr wrap="square"/>
          <a:lstStyle/>
          <a:p>
            <a:pPr algn="l">
              <a:spcBef>
                <a:spcPts val="600"/>
              </a:spcBef>
            </a:pPr>
            <a:r>
              <a:rPr sz="2000" b="0">
                <a:solidFill>
                  <a:srgbClr val="FFFFFF"/>
                </a:solidFill>
                <a:latin typeface="Arial"/>
              </a:rPr>
              <a:t>▶  Architecture — Three Innovations Combined: (1) LatentMoE — token embeddings are projected into a lower-rank latent space before expert routing, activating 22 of 512 experts per token at 4x lower routing cost; (2) Mamba-2 Hybrid — 88 layers interleave Mamba-2 (linear-time SSM, 4x memory efficiency), Transformer attention (precise retrieval), and LatentMoE layers; (3) Multi-Token Prediction (MTP) — shared-weight design that predicts multiple future tokens simultaneously, enabling native speculative decoding for up to 3x wall-clock speedup.</a:t>
            </a:r>
          </a:p>
          <a:p>
            <a:pPr algn="l">
              <a:spcBef>
                <a:spcPts val="600"/>
              </a:spcBef>
            </a:pPr>
            <a:r>
              <a:rPr sz="2000" b="0">
                <a:solidFill>
                  <a:srgbClr val="FFFFFF"/>
                </a:solidFill>
                <a:latin typeface="Arial"/>
              </a:rPr>
              <a:t>▶  Training Pipeline — 4 Stages: (0) Pretraining on 25T tokens via a two-phase curriculum (20T diversity-heavy → 5T quality-heavy) + two long-context stages up to 1M tokens; (1) SFT on ~7M samples across 15+ domains; (2) RL with async GRPO across 21 environment configurations / 1.2M rollouts; (3) Post-training quantization to FP8 and NVFP4.</a:t>
            </a:r>
          </a:p>
          <a:p>
            <a:pPr algn="l">
              <a:spcBef>
                <a:spcPts val="600"/>
              </a:spcBef>
            </a:pPr>
            <a:r>
              <a:rPr sz="2000" b="0">
                <a:solidFill>
                  <a:srgbClr val="FFFFFF"/>
                </a:solidFill>
                <a:latin typeface="Arial"/>
              </a:rPr>
              <a:t>▶  Checkpoint Merging as Mid-Training: During the stable LR phase, weighted averaging over a sliding window of recent checkpoints improved the 12-benchmark average by 2–4 points while saving ~16% of total compute — a clean efficiency win worth replicating.</a:t>
            </a:r>
          </a:p>
        </p:txBody>
      </p:sp>
      <p:sp>
        <p:nvSpPr>
          <p:cNvPr id="14" name="Rectangle 13"/>
          <p:cNvSpPr/>
          <p:nvPr/>
        </p:nvSpPr>
        <p:spPr>
          <a:xfrm>
            <a:off x="10817352"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0981944"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1146536"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1311128"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475720"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0817352"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0981944"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146536"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1311128"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11475720"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0" y="6693408"/>
            <a:ext cx="12188952" cy="1645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FFFF"/>
                </a:solidFill>
                <a:latin typeface="Arial Black"/>
              </a:rPr>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3E3E"/>
        </a:solidFill>
        <a:effectLst/>
      </p:bgPr>
    </p:bg>
    <p:spTree>
      <p:nvGrpSpPr>
        <p:cNvPr id="1" name=""/>
        <p:cNvGrpSpPr/>
        <p:nvPr/>
      </p:nvGrpSpPr>
      <p:grpSpPr/>
      <p:sp>
        <p:nvSpPr>
          <p:cNvPr id="2" name="Rectangle 1"/>
          <p:cNvSpPr/>
          <p:nvPr/>
        </p:nvSpPr>
        <p:spPr>
          <a:xfrm>
            <a:off x="11233349" y="348608"/>
            <a:ext cx="325708" cy="325708"/>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Hexagon 2"/>
          <p:cNvSpPr/>
          <p:nvPr/>
        </p:nvSpPr>
        <p:spPr>
          <a:xfrm>
            <a:off x="11159831" y="5794029"/>
            <a:ext cx="620691" cy="620691"/>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Diamond 3"/>
          <p:cNvSpPr/>
          <p:nvPr/>
        </p:nvSpPr>
        <p:spPr>
          <a:xfrm>
            <a:off x="11620813" y="1309455"/>
            <a:ext cx="519224" cy="519224"/>
          </a:xfrm>
          <a:prstGeom prst="diamond">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35199" y="1315391"/>
            <a:ext cx="283631" cy="283631"/>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Pentagon 5"/>
          <p:cNvSpPr/>
          <p:nvPr/>
        </p:nvSpPr>
        <p:spPr>
          <a:xfrm>
            <a:off x="8253926" y="6147002"/>
            <a:ext cx="710997" cy="710997"/>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87407" y="968864"/>
            <a:ext cx="657765" cy="657765"/>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365760" y="228600"/>
            <a:ext cx="2926080" cy="50292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000" b="1">
                <a:solidFill>
                  <a:srgbClr val="000000"/>
                </a:solidFill>
                <a:latin typeface="Arial Black"/>
              </a:rPr>
              <a:t>KEY FINDINGS</a:t>
            </a:r>
          </a:p>
        </p:txBody>
      </p:sp>
      <p:sp>
        <p:nvSpPr>
          <p:cNvPr id="9" name="TextBox 8"/>
          <p:cNvSpPr txBox="1"/>
          <p:nvPr/>
        </p:nvSpPr>
        <p:spPr>
          <a:xfrm>
            <a:off x="11274552" y="274320"/>
            <a:ext cx="640080" cy="411480"/>
          </a:xfrm>
          <a:prstGeom prst="rect">
            <a:avLst/>
          </a:prstGeom>
          <a:noFill/>
        </p:spPr>
        <p:txBody>
          <a:bodyPr wrap="square"/>
          <a:lstStyle/>
          <a:p>
            <a:pPr algn="r"/>
            <a:r>
              <a:rPr sz="1600" b="1">
                <a:solidFill>
                  <a:srgbClr val="FFFFFF"/>
                </a:solidFill>
                <a:latin typeface="Arial"/>
              </a:rPr>
              <a:t>2</a:t>
            </a:r>
          </a:p>
        </p:txBody>
      </p:sp>
      <p:sp>
        <p:nvSpPr>
          <p:cNvPr id="10" name="TextBox 9"/>
          <p:cNvSpPr txBox="1"/>
          <p:nvPr/>
        </p:nvSpPr>
        <p:spPr>
          <a:xfrm>
            <a:off x="457200" y="960120"/>
            <a:ext cx="11091672" cy="5212080"/>
          </a:xfrm>
          <a:prstGeom prst="rect">
            <a:avLst/>
          </a:prstGeom>
          <a:noFill/>
        </p:spPr>
        <p:txBody>
          <a:bodyPr wrap="square"/>
          <a:lstStyle/>
          <a:p>
            <a:pPr algn="l">
              <a:spcBef>
                <a:spcPts val="600"/>
              </a:spcBef>
            </a:pPr>
            <a:r>
              <a:rPr sz="2000" b="0">
                <a:solidFill>
                  <a:srgbClr val="FFFFFF"/>
                </a:solidFill>
                <a:latin typeface="Arial"/>
              </a:rPr>
              <a:t>▶  NVFP4 Native Pretraining: Training all linear layers in 4-bit floating point from the start (not post-hoc quantization), with select stability-sensitive layers (QKV, embeddings, latent projections) kept in BF16/MXFP8. Delivers 3x higher throughput than FP8 on Blackwell (GB300). Key finding: switching to MXFP8 before LR annealing improved loss but gave no downstream accuracy gain — confirming NVFP4 parity holds end-to-end.</a:t>
            </a:r>
          </a:p>
          <a:p>
            <a:pPr algn="l">
              <a:spcBef>
                <a:spcPts val="600"/>
              </a:spcBef>
            </a:pPr>
            <a:r>
              <a:rPr sz="2000" b="0">
                <a:solidFill>
                  <a:srgbClr val="FFFFFF"/>
                </a:solidFill>
                <a:latin typeface="Arial"/>
              </a:rPr>
              <a:t>▶  Key Benchmarks: AIME 2025 90.2%, HMMT Feb25 95.4% (w/ tools), GPQA 82.7% (w/ tools), LiveCodeBench v5 81.2%, SWE-Bench Verified 60.5%, RULER @ 1M tokens 91.75%, TauBench V2 avg 60.5%.</a:t>
            </a:r>
          </a:p>
          <a:p>
            <a:pPr algn="l">
              <a:spcBef>
                <a:spcPts val="600"/>
              </a:spcBef>
            </a:pPr>
            <a:r>
              <a:rPr sz="2000" b="0">
                <a:solidFill>
                  <a:srgbClr val="FFFFFF"/>
                </a:solidFill>
                <a:latin typeface="Arial"/>
              </a:rPr>
              <a:t>▶  The "Thinking Tax" Problem: Chaining many reasoning steps in multi-agent systems accumulates enormous token budgets. The LatentMoE + Mamba combo directly attacks this — same reasoning depth, far lower per-token compute cost. This is the core design thesis of the model.</a:t>
            </a:r>
          </a:p>
        </p:txBody>
      </p:sp>
      <p:sp>
        <p:nvSpPr>
          <p:cNvPr id="11" name="Rectangle 10"/>
          <p:cNvSpPr/>
          <p:nvPr/>
        </p:nvSpPr>
        <p:spPr>
          <a:xfrm>
            <a:off x="10817352"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10981944"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11146536"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11311128"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1475720" y="914400"/>
            <a:ext cx="164592" cy="146304"/>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10817352"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10981944"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146536"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1311128"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475720" y="13716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6492781" y="19041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264502" y="335161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749113" y="349309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33366" y="25068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30867" y="55050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6176800" y="2541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9171955" y="651070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954332" y="25109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804096" y="256032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0867744" y="61955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Q1</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LatentMoE projects token embeddings into a lower-rank latent space before expert routing, reducing routing cost by 4x while still activating 22 of 512 experts. Why does projecting into a latent space before routing reduce cost, and what information might be lost in this projection that could affect which experts get selected?</a:t>
            </a:r>
          </a:p>
        </p:txBody>
      </p:sp>
      <p:sp>
        <p:nvSpPr>
          <p:cNvPr id="15" name="Isosceles Triangle 14"/>
          <p:cNvSpPr/>
          <p:nvPr/>
        </p:nvSpPr>
        <p:spPr>
          <a:xfrm>
            <a:off x="2577938" y="6407476"/>
            <a:ext cx="450523" cy="450523"/>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0902568" y="5787986"/>
            <a:ext cx="437125" cy="437125"/>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89664" y="4562677"/>
            <a:ext cx="323679" cy="323679"/>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Isosceles Triangle 17"/>
          <p:cNvSpPr/>
          <p:nvPr/>
        </p:nvSpPr>
        <p:spPr>
          <a:xfrm>
            <a:off x="11524996" y="3525237"/>
            <a:ext cx="601775" cy="601775"/>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7439527" y="1010671"/>
            <a:ext cx="598435" cy="598435"/>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entagon 19"/>
          <p:cNvSpPr/>
          <p:nvPr/>
        </p:nvSpPr>
        <p:spPr>
          <a:xfrm>
            <a:off x="11570821" y="5706507"/>
            <a:ext cx="618130" cy="618130"/>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Hexagon 20"/>
          <p:cNvSpPr/>
          <p:nvPr/>
        </p:nvSpPr>
        <p:spPr>
          <a:xfrm>
            <a:off x="6075496" y="5831854"/>
            <a:ext cx="434821" cy="43482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A1</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LatentMoE projects token embeddings into a lower-rank latent space before expert routing, reducing…</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Projecting token embeddings into a lower-rank latent space before expert routing reduces cost because the routing computation (the gating MLP that decides which experts to activate) scales with the dimensionality of its input. Standard MoE routing operates on full-dimensional embeddings (e.g., 4096-dimensional for a typical large model), making the gating MLP expensive for 512 experts. LatentMoE's latent projection reduces this input to a smaller dimension, making the gating MLP proportionally cheaper. The information potentially lost is fine-grained dimensional variation that distinguishes similar tokens — tokens that are semantically similar but differ in subtle contextual details might be projected to the same latent region, causing them to route to the same experts when they might benefit from different specialized experts. In practice, this loss is acceptable if the expert specialization is coarser than the projection's resolution loss.</a:t>
            </a:r>
          </a:p>
        </p:txBody>
      </p:sp>
      <p:sp>
        <p:nvSpPr>
          <p:cNvPr id="7" name="Oval 6"/>
          <p:cNvSpPr/>
          <p:nvPr/>
        </p:nvSpPr>
        <p:spPr>
          <a:xfrm>
            <a:off x="1004547" y="3648270"/>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746706" y="5633156"/>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66162" y="314427"/>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28111" y="5268862"/>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3589" y="525182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477941" y="229391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4758455" y="90556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5445114" y="2850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872365" y="16180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36620" y="24601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0479739" y="605417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28154" y="16504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18025" y="40470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692916" y="132302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18935" y="24378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Q2</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Mamba-2 hybrid interleaves SSM layers, Transformer attention layers, and LatentMoE layers across 88 total layers. How do the paper's designers determine the optimal ratio and placement of these three layer types — is this empirically searched or theoretically motivated?</a:t>
            </a:r>
          </a:p>
        </p:txBody>
      </p:sp>
      <p:sp>
        <p:nvSpPr>
          <p:cNvPr id="15" name="Parallelogram 14"/>
          <p:cNvSpPr/>
          <p:nvPr/>
        </p:nvSpPr>
        <p:spPr>
          <a:xfrm>
            <a:off x="11507660" y="2960390"/>
            <a:ext cx="681291" cy="681291"/>
          </a:xfrm>
          <a:prstGeom prst="parallelogram">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9767109" y="84409"/>
            <a:ext cx="482182" cy="482182"/>
          </a:xfrm>
          <a:prstGeom prst="hexagon">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999512" y="424530"/>
            <a:ext cx="334837" cy="334837"/>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579428" y="3937121"/>
            <a:ext cx="332169" cy="332169"/>
          </a:xfrm>
          <a:prstGeom prst="diamond">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1111893" y="6431757"/>
            <a:ext cx="426242" cy="426242"/>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8647777" y="6131311"/>
            <a:ext cx="726688" cy="726688"/>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0164440" y="5840575"/>
            <a:ext cx="545069" cy="545069"/>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Parallelogram 21"/>
          <p:cNvSpPr/>
          <p:nvPr/>
        </p:nvSpPr>
        <p:spPr>
          <a:xfrm>
            <a:off x="11643137" y="1618758"/>
            <a:ext cx="492949" cy="492949"/>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2336849" y="6299019"/>
            <a:ext cx="338912" cy="33891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1813274" y="1122878"/>
            <a:ext cx="375677" cy="37567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A2</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Mamba-2 hybrid interleaves SSM layers, Transformer attention layers, and LatentMoE layers acros…</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optimal ratio and placement of SSM (Mamba-2), Transformer attention, and LatentMoE layers in hybrid architectures is primarily determined through empirical search guided by performance proxies at smaller scale. Theoretical motivation provides constraints: Transformer attention should be retained for tasks requiring precise retrieval and long-range information integration (typically placed at regular intervals to ensure no context window is isolated from full attention); Mamba-2 layers can handle sequential processing and local context integration efficiently; LatentMoE layers handle knowledge-intensive computation. The 88-layer design with these three types was likely refined through ablations on smaller proxy models to find ratios that balance perplexity, benchmark performance, and inference cost before committing to full-scale training.</a:t>
            </a:r>
          </a:p>
        </p:txBody>
      </p:sp>
      <p:sp>
        <p:nvSpPr>
          <p:cNvPr id="7" name="Oval 6"/>
          <p:cNvSpPr/>
          <p:nvPr/>
        </p:nvSpPr>
        <p:spPr>
          <a:xfrm>
            <a:off x="4610790" y="1016369"/>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4447861" y="684596"/>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082784" y="404924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159141" y="1847692"/>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547548" y="596478"/>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135799" y="7549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54226" y="12047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371994" y="60839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2531453" y="624003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9026996" y="48554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228881" y="7504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3919658" y="65264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8692661" y="123033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289614" y="40817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11257" y="632730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Q3</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Checkpoint merging during the stable LR phase (sliding window weighted averaging) improved performance by 2-4 benchmark points while saving 16% compute. What is the mechanistic explanation for why averaging checkpoints during training improves generalization, and why is this effect strongest during the stable LR phase rather than the warmup or decay phases?</a:t>
            </a:r>
          </a:p>
        </p:txBody>
      </p:sp>
      <p:sp>
        <p:nvSpPr>
          <p:cNvPr id="15" name="Oval 14"/>
          <p:cNvSpPr/>
          <p:nvPr/>
        </p:nvSpPr>
        <p:spPr>
          <a:xfrm>
            <a:off x="11509390" y="5707405"/>
            <a:ext cx="624535" cy="624535"/>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7349984" y="6430008"/>
            <a:ext cx="401433" cy="401433"/>
          </a:xfrm>
          <a:prstGeom prst="homePlat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788953" y="562246"/>
            <a:ext cx="475241" cy="475241"/>
          </a:xfrm>
          <a:prstGeom prst="diamond">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Hexagon 17"/>
          <p:cNvSpPr/>
          <p:nvPr/>
        </p:nvSpPr>
        <p:spPr>
          <a:xfrm>
            <a:off x="4574371" y="599465"/>
            <a:ext cx="677410" cy="677410"/>
          </a:xfrm>
          <a:prstGeom prst="hexagon">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Isosceles Triangle 18"/>
          <p:cNvSpPr/>
          <p:nvPr/>
        </p:nvSpPr>
        <p:spPr>
          <a:xfrm>
            <a:off x="11677232" y="4897011"/>
            <a:ext cx="511719" cy="51171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835451" y="631963"/>
            <a:ext cx="347530" cy="347530"/>
          </a:xfrm>
          <a:prstGeom prst="triangl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A3</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Checkpoint merging during the stable LR phase (sliding window weighted averaging) improved performa…</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Averaging checkpoints during training improves generalization because individual checkpoints at any given training step are noisy samples of the loss landscape — they may be positioned near a good local optimum but not exactly at it. Averaging multiple checkpoints from nearby training steps smooths out this noise, effectively performing a form of ensemble learning over recent optimizer states. The effect is strongest during the stable LR phase (after warmup, before final decay) because: during warmup, weights are changing too rapidly and checkpoints are too diverse to average meaningfully; during LR decay, the optimizer is converging to a specific minimum and averaging checkpoints from different decay stages would introduce bias away from that minimum. The stable LR phase has checkpoint trajectories that explore a relatively flat region of the loss landscape, where averaging produces a point closer to the center of that flat region — a more generalizable solution.</a:t>
            </a:r>
          </a:p>
        </p:txBody>
      </p:sp>
      <p:sp>
        <p:nvSpPr>
          <p:cNvPr id="7" name="Oval 6"/>
          <p:cNvSpPr/>
          <p:nvPr/>
        </p:nvSpPr>
        <p:spPr>
          <a:xfrm>
            <a:off x="4924984" y="15427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36871" y="6275184"/>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506200" y="3488811"/>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027161" y="2302395"/>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677174" y="5900537"/>
            <a:ext cx="109728" cy="109728"/>
          </a:xfrm>
          <a:prstGeom prst="ellips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D084"/>
                </a:solidFill>
                <a:latin typeface="Arial Black"/>
              </a:rPr>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0853453" y="48205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3298901" y="120915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55917" y="211087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1442701" y="147585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284746" y="11650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519452" y="268243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591387" y="156058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684901" y="140570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6412916" y="1002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322087" y="63435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Q4</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Nemotron 3 Super is the first model trained natively in NVFP4 (4-bit floating point) from the start. What stability challenges arise from training in such low precision, and why are QKV projections, embeddings, and latent projections specifically kept in higher precision (BF16/MXFP8)?</a:t>
            </a:r>
          </a:p>
        </p:txBody>
      </p:sp>
      <p:sp>
        <p:nvSpPr>
          <p:cNvPr id="15" name="Parallelogram 14"/>
          <p:cNvSpPr/>
          <p:nvPr/>
        </p:nvSpPr>
        <p:spPr>
          <a:xfrm>
            <a:off x="11430450" y="5508612"/>
            <a:ext cx="481561" cy="481561"/>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1246798" y="428472"/>
            <a:ext cx="623132" cy="623132"/>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Isosceles Triangle 16"/>
          <p:cNvSpPr/>
          <p:nvPr/>
        </p:nvSpPr>
        <p:spPr>
          <a:xfrm>
            <a:off x="326420" y="1040590"/>
            <a:ext cx="586381" cy="586381"/>
          </a:xfrm>
          <a:prstGeom prst="triangl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allelogram 17"/>
          <p:cNvSpPr/>
          <p:nvPr/>
        </p:nvSpPr>
        <p:spPr>
          <a:xfrm>
            <a:off x="240124" y="5378812"/>
            <a:ext cx="630306" cy="630306"/>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Diamond 18"/>
          <p:cNvSpPr/>
          <p:nvPr/>
        </p:nvSpPr>
        <p:spPr>
          <a:xfrm>
            <a:off x="6376360" y="1054838"/>
            <a:ext cx="592927" cy="592927"/>
          </a:xfrm>
          <a:prstGeom prst="diamond">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Isosceles Triangle 19"/>
          <p:cNvSpPr/>
          <p:nvPr/>
        </p:nvSpPr>
        <p:spPr>
          <a:xfrm>
            <a:off x="661062" y="4367980"/>
            <a:ext cx="434016" cy="434016"/>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65184" y="5251064"/>
            <a:ext cx="718338" cy="71833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1380067" y="6388273"/>
            <a:ext cx="320190" cy="320190"/>
          </a:xfrm>
          <a:prstGeom prst="rect">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allelogram 22"/>
          <p:cNvSpPr/>
          <p:nvPr/>
        </p:nvSpPr>
        <p:spPr>
          <a:xfrm>
            <a:off x="4501684" y="227549"/>
            <a:ext cx="721736" cy="721736"/>
          </a:xfrm>
          <a:prstGeom prst="parallelogram">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1202784" y="5505987"/>
            <a:ext cx="384347" cy="384347"/>
          </a:xfrm>
          <a:prstGeom prst="rect">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A4</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Nemotron 3 Super is the first model trained natively in NVFP4 (4-bit floating point) from the start…</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Training in NVFP4 introduces gradient underflow risk (very small gradient updates round to zero in 4-bit), gradient overflow (large gradients exceed the representable range), and activation instability (accumulated rounding errors in forward pass activations). QKV projections are kept in higher precision because attention score computation (the dot product of Q and K) is particularly sensitive to numerical precision — small errors in Q or K amplify into large errors in attention weights after the softmax. Embedding layers are kept in higher precision because they are updated with sparse gradients (only the activated token embeddings receive updates), and sparse updates in low precision have disproportionately high relative error. Latent projections in LatentMoE are kept in higher precision because they serve as the information bottleneck through which all routing decisions pass, and precision errors there cascade through all 512 expert routing decisions.</a:t>
            </a:r>
          </a:p>
        </p:txBody>
      </p:sp>
      <p:sp>
        <p:nvSpPr>
          <p:cNvPr id="7" name="Oval 6"/>
          <p:cNvSpPr/>
          <p:nvPr/>
        </p:nvSpPr>
        <p:spPr>
          <a:xfrm>
            <a:off x="10139045" y="1200677"/>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727894" y="738375"/>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880191" y="108109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74012" y="443521"/>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76368" y="3992004"/>
            <a:ext cx="109728" cy="109728"/>
          </a:xfrm>
          <a:prstGeom prst="ellips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6B00"/>
                </a:solidFill>
                <a:latin typeface="Arial Black"/>
              </a:rPr>
              <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11581429" y="6562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152814" y="442856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1127116" y="57129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04594" y="573678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786443" y="195254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95330" y="276965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885839" y="487126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542269" y="64575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02707" y="448177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846260" y="3049061"/>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Q5</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"Thinking Tax" problem is identified as a core motivation for the architecture: multi-agent reasoning chains accumulate massive token budgets. How does the LatentMoE + Mamba combination specifically reduce per-token compute without reducing reasoning depth, and is there a quantitative relationship between the compute savings and the depth of reasoning that can be sustained?</a:t>
            </a:r>
          </a:p>
        </p:txBody>
      </p:sp>
      <p:sp>
        <p:nvSpPr>
          <p:cNvPr id="15" name="Pentagon 14"/>
          <p:cNvSpPr/>
          <p:nvPr/>
        </p:nvSpPr>
        <p:spPr>
          <a:xfrm>
            <a:off x="11471229" y="83754"/>
            <a:ext cx="717722" cy="717722"/>
          </a:xfrm>
          <a:prstGeom prst="homePlat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Hexagon 15"/>
          <p:cNvSpPr/>
          <p:nvPr/>
        </p:nvSpPr>
        <p:spPr>
          <a:xfrm>
            <a:off x="596952" y="6457200"/>
            <a:ext cx="400799" cy="400799"/>
          </a:xfrm>
          <a:prstGeom prst="hexagon">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340537" y="4820588"/>
            <a:ext cx="570868" cy="570868"/>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698631" y="3661981"/>
            <a:ext cx="358723" cy="358723"/>
          </a:xfrm>
          <a:prstGeom prst="diamond">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entagon 18"/>
          <p:cNvSpPr/>
          <p:nvPr/>
        </p:nvSpPr>
        <p:spPr>
          <a:xfrm>
            <a:off x="8380135" y="764278"/>
            <a:ext cx="575316" cy="575316"/>
          </a:xfrm>
          <a:prstGeom prst="homePlat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42594" y="5961517"/>
            <a:ext cx="285420" cy="285420"/>
          </a:xfrm>
          <a:prstGeom prst="ellipse">
            <a:avLst/>
          </a:prstGeom>
          <a:solidFill>
            <a:srgbClr val="00D084"/>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439638" y="60636"/>
            <a:ext cx="684363" cy="684363"/>
          </a:xfrm>
          <a:prstGeom prst="ellips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Diamond 21"/>
          <p:cNvSpPr/>
          <p:nvPr/>
        </p:nvSpPr>
        <p:spPr>
          <a:xfrm>
            <a:off x="11678739" y="567717"/>
            <a:ext cx="510212" cy="510212"/>
          </a:xfrm>
          <a:prstGeom prst="diamond">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entagon 22"/>
          <p:cNvSpPr/>
          <p:nvPr/>
        </p:nvSpPr>
        <p:spPr>
          <a:xfrm>
            <a:off x="5189508" y="528426"/>
            <a:ext cx="550160" cy="550160"/>
          </a:xfrm>
          <a:prstGeom prst="homePlate">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Isosceles Triangle 23"/>
          <p:cNvSpPr/>
          <p:nvPr/>
        </p:nvSpPr>
        <p:spPr>
          <a:xfrm>
            <a:off x="11169991" y="347584"/>
            <a:ext cx="450570" cy="450570"/>
          </a:xfrm>
          <a:prstGeom prst="triangl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A5</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"Thinking Tax" problem is identified as a core motivation for the architecture: multi-agent rea…</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LatentMoE reduces per-token compute cost by activating only 22 of 512 experts at 4x lower routing overhead — so the MoE computation per token is sparse (only 22/512 expert FFN blocks execute). Mamba-2 replaces quadratic-complexity attention with linear-time recurrent computation, eliminating the O(n^2) scaling with sequence length. Together, these reduce the FLOPs per token while the total model capacity (512 experts, deep architecture) is preserved, allowing the same number of reasoning steps to be computed more cheaply. There is a quantitative relationship: the reasoning depth is determined by the number of layers and the representational bandwidth between them, while the compute cost is determined by the average FLOPs per token; LatentMoE + Mamba reduces the latter without reducing the former, but there is a theoretical ceiling where further per-token compute reduction would eventually force representational compression that degrades reasoning depth.</a:t>
            </a:r>
          </a:p>
        </p:txBody>
      </p:sp>
      <p:sp>
        <p:nvSpPr>
          <p:cNvPr id="7" name="Oval 6"/>
          <p:cNvSpPr/>
          <p:nvPr/>
        </p:nvSpPr>
        <p:spPr>
          <a:xfrm>
            <a:off x="979244" y="257050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661178" y="484300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2239323" y="37968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435510" y="460961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383309" y="138532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3263428" y="85282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8322826" y="606343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4151406" y="72662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308102" y="725474"/>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11696690" y="5302806"/>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823111" y="706930"/>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990017" y="79338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1162094" y="586171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423336" y="13142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5329996" y="62956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Q6</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RL across 21 environment configurations with 1.2M rollouts is credited for robust agentic behavior over narrow RLHF. What properties of multi-environment RL training lead to more general capability — is it the diversity of reward signals, the forced exploration across different task structures, or the sheer scale of rollouts?</a:t>
            </a:r>
          </a:p>
        </p:txBody>
      </p:sp>
      <p:sp>
        <p:nvSpPr>
          <p:cNvPr id="15" name="Diamond 14"/>
          <p:cNvSpPr/>
          <p:nvPr/>
        </p:nvSpPr>
        <p:spPr>
          <a:xfrm>
            <a:off x="180297" y="711596"/>
            <a:ext cx="484302" cy="484302"/>
          </a:xfrm>
          <a:prstGeom prst="diamond">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arallelogram 15"/>
          <p:cNvSpPr/>
          <p:nvPr/>
        </p:nvSpPr>
        <p:spPr>
          <a:xfrm>
            <a:off x="613238" y="6338122"/>
            <a:ext cx="381960" cy="381960"/>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8307671" y="700158"/>
            <a:ext cx="513002" cy="513002"/>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11236802" y="2249330"/>
            <a:ext cx="672986" cy="672986"/>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Hexagon 18"/>
          <p:cNvSpPr/>
          <p:nvPr/>
        </p:nvSpPr>
        <p:spPr>
          <a:xfrm>
            <a:off x="11472141" y="3871552"/>
            <a:ext cx="716810" cy="716810"/>
          </a:xfrm>
          <a:prstGeom prst="hexagon">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Hexagon 19"/>
          <p:cNvSpPr/>
          <p:nvPr/>
        </p:nvSpPr>
        <p:spPr>
          <a:xfrm>
            <a:off x="11620847" y="3947090"/>
            <a:ext cx="373317" cy="373317"/>
          </a:xfrm>
          <a:prstGeom prst="hexagon">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Isosceles Triangle 20"/>
          <p:cNvSpPr/>
          <p:nvPr/>
        </p:nvSpPr>
        <p:spPr>
          <a:xfrm>
            <a:off x="11701892" y="6370940"/>
            <a:ext cx="487059" cy="487059"/>
          </a:xfrm>
          <a:prstGeom prst="triangle">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ectangle 21"/>
          <p:cNvSpPr/>
          <p:nvPr/>
        </p:nvSpPr>
        <p:spPr>
          <a:xfrm>
            <a:off x="4160576" y="6159635"/>
            <a:ext cx="415311" cy="415311"/>
          </a:xfrm>
          <a:prstGeom prst="rect">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A6</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RL across 21 environment configurations with 1.2M rollouts is credited for robust agentic behavior…</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Multi-environment RL across 21 configurations produces more general agentic capability primarily through forced exploration across diverse reward structures: different environments (math, coding, tool use, web search, conversation) require different behavioral policies, and training across them simultaneously prevents the model from over-fitting to any single reward signal's local optima. The diversity of reward signals also provides regularization — behaviors that are rewarded in one environment but irrelevant in others are less strongly reinforced than behaviors that are consistently useful across environments. The 1.2M rollouts provide the sample size needed to discover cross-environment generalizing behaviors, as rare but highly rewarding strategies (e.g., systematic planning before tool calls) need many exposures to be reliably learned. Narrow RLHF on a single domain produces specialists; multi-environment RL produces generalists with robust capabilities.</a:t>
            </a:r>
          </a:p>
        </p:txBody>
      </p:sp>
      <p:sp>
        <p:nvSpPr>
          <p:cNvPr id="7" name="Oval 6"/>
          <p:cNvSpPr/>
          <p:nvPr/>
        </p:nvSpPr>
        <p:spPr>
          <a:xfrm>
            <a:off x="174124" y="1974325"/>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105847" y="1213707"/>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767069" y="6289688"/>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11742765" y="1918393"/>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291287" y="3120571"/>
            <a:ext cx="109728" cy="109728"/>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3E3E"/>
                </a:solidFill>
                <a:latin typeface="Arial Black"/>
              </a:rPr>
              <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Oval 1"/>
          <p:cNvSpPr/>
          <p:nvPr/>
        </p:nvSpPr>
        <p:spPr>
          <a:xfrm>
            <a:off x="8748360" y="5856762"/>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Oval 2"/>
          <p:cNvSpPr/>
          <p:nvPr/>
        </p:nvSpPr>
        <p:spPr>
          <a:xfrm>
            <a:off x="11344997" y="623744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Oval 3"/>
          <p:cNvSpPr/>
          <p:nvPr/>
        </p:nvSpPr>
        <p:spPr>
          <a:xfrm>
            <a:off x="151040" y="5365695"/>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698270" y="38204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3474854" y="100943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1619582" y="676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265857" y="889243"/>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179272" y="3842729"/>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657338" y="1239148"/>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884211" y="4607287"/>
            <a:ext cx="109728" cy="109728"/>
          </a:xfrm>
          <a:prstGeom prst="ellipse">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365760" y="228600"/>
            <a:ext cx="822960" cy="822960"/>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800" b="1">
                <a:solidFill>
                  <a:srgbClr val="000000"/>
                </a:solidFill>
                <a:latin typeface="Arial Black"/>
              </a:rPr>
              <a:t>Q7</a:t>
            </a:r>
          </a:p>
        </p:txBody>
      </p:sp>
      <p:sp>
        <p:nvSpPr>
          <p:cNvPr id="13" name="Rectangle 12"/>
          <p:cNvSpPr/>
          <p:nvPr/>
        </p:nvSpPr>
        <p:spPr>
          <a:xfrm>
            <a:off x="1371600" y="320040"/>
            <a:ext cx="2011680" cy="457200"/>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600" b="1">
                <a:solidFill>
                  <a:srgbClr val="FFFFFF"/>
                </a:solidFill>
                <a:latin typeface="Arial Black"/>
              </a:rPr>
              <a:t>QUESTION</a:t>
            </a:r>
          </a:p>
        </p:txBody>
      </p:sp>
      <p:sp>
        <p:nvSpPr>
          <p:cNvPr id="14" name="TextBox 13"/>
          <p:cNvSpPr txBox="1"/>
          <p:nvPr/>
        </p:nvSpPr>
        <p:spPr>
          <a:xfrm>
            <a:off x="365760" y="1280160"/>
            <a:ext cx="11365992" cy="4846320"/>
          </a:xfrm>
          <a:prstGeom prst="rect">
            <a:avLst/>
          </a:prstGeom>
          <a:noFill/>
        </p:spPr>
        <p:txBody>
          <a:bodyPr wrap="square"/>
          <a:lstStyle/>
          <a:p>
            <a:pPr algn="l"/>
            <a:r>
              <a:rPr sz="2200" b="1">
                <a:solidFill>
                  <a:srgbClr val="FFFFFF"/>
                </a:solidFill>
                <a:latin typeface="Arial Black"/>
              </a:rPr>
              <a:t>The model achieves 91.75% on RULER at 1M token context. What specific architectural features enable reliable information retrieval at this extreme context length, and what are the known failure patterns of hybrid Mamba-Transformer models when the relevant information is distributed across very long contexts rather than concentrated locally?</a:t>
            </a:r>
          </a:p>
        </p:txBody>
      </p:sp>
      <p:sp>
        <p:nvSpPr>
          <p:cNvPr id="15" name="Isosceles Triangle 14"/>
          <p:cNvSpPr/>
          <p:nvPr/>
        </p:nvSpPr>
        <p:spPr>
          <a:xfrm>
            <a:off x="11359782" y="5075169"/>
            <a:ext cx="314181" cy="314181"/>
          </a:xfrm>
          <a:prstGeom prst="triangle">
            <a:avLst/>
          </a:prstGeom>
          <a:solidFill>
            <a:srgbClr val="FFE6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Pentagon 15"/>
          <p:cNvSpPr/>
          <p:nvPr/>
        </p:nvSpPr>
        <p:spPr>
          <a:xfrm>
            <a:off x="941740" y="1040409"/>
            <a:ext cx="531412" cy="531412"/>
          </a:xfrm>
          <a:prstGeom prst="homePlate">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Hexagon 16"/>
          <p:cNvSpPr/>
          <p:nvPr/>
        </p:nvSpPr>
        <p:spPr>
          <a:xfrm>
            <a:off x="10305119" y="859194"/>
            <a:ext cx="386408" cy="386408"/>
          </a:xfrm>
          <a:prstGeom prst="hexagon">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11194304" y="352289"/>
            <a:ext cx="277335" cy="277335"/>
          </a:xfrm>
          <a:prstGeom prst="ellipse">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arallelogram 18"/>
          <p:cNvSpPr/>
          <p:nvPr/>
        </p:nvSpPr>
        <p:spPr>
          <a:xfrm>
            <a:off x="1003849" y="3499548"/>
            <a:ext cx="688821" cy="688821"/>
          </a:xfrm>
          <a:prstGeom prst="parallelogram">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Parallelogram 19"/>
          <p:cNvSpPr/>
          <p:nvPr/>
        </p:nvSpPr>
        <p:spPr>
          <a:xfrm>
            <a:off x="406891" y="4855215"/>
            <a:ext cx="291119" cy="291119"/>
          </a:xfrm>
          <a:prstGeom prst="parallelogram">
            <a:avLst/>
          </a:prstGeom>
          <a:solidFill>
            <a:srgbClr val="FF3E3E"/>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228600" cy="685800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411480" y="228600"/>
            <a:ext cx="777240" cy="777240"/>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600" b="1">
                <a:solidFill>
                  <a:srgbClr val="FFFFFF"/>
                </a:solidFill>
                <a:latin typeface="Arial Black"/>
              </a:rPr>
              <a:t>A7</a:t>
            </a:r>
          </a:p>
        </p:txBody>
      </p:sp>
      <p:sp>
        <p:nvSpPr>
          <p:cNvPr id="4" name="Rectangle 3"/>
          <p:cNvSpPr/>
          <p:nvPr/>
        </p:nvSpPr>
        <p:spPr>
          <a:xfrm>
            <a:off x="1325880" y="320040"/>
            <a:ext cx="1828800" cy="41148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400" b="1">
                <a:solidFill>
                  <a:srgbClr val="FFFFFF"/>
                </a:solidFill>
                <a:latin typeface="Arial Black"/>
              </a:rPr>
              <a:t>ANSWER</a:t>
            </a:r>
          </a:p>
        </p:txBody>
      </p:sp>
      <p:sp>
        <p:nvSpPr>
          <p:cNvPr id="5" name="TextBox 4"/>
          <p:cNvSpPr txBox="1"/>
          <p:nvPr/>
        </p:nvSpPr>
        <p:spPr>
          <a:xfrm>
            <a:off x="411480" y="1097280"/>
            <a:ext cx="11457432" cy="457200"/>
          </a:xfrm>
          <a:prstGeom prst="rect">
            <a:avLst/>
          </a:prstGeom>
          <a:noFill/>
        </p:spPr>
        <p:txBody>
          <a:bodyPr wrap="square"/>
          <a:lstStyle/>
          <a:p>
            <a:pPr algn="l"/>
            <a:r>
              <a:rPr sz="1300" b="0">
                <a:solidFill>
                  <a:srgbClr val="666666"/>
                </a:solidFill>
                <a:latin typeface="Arial"/>
              </a:rPr>
              <a:t>The model achieves 91.75% on RULER at 1M token context. What specific architectural features enable…</a:t>
            </a:r>
          </a:p>
        </p:txBody>
      </p:sp>
      <p:sp>
        <p:nvSpPr>
          <p:cNvPr id="6" name="TextBox 5"/>
          <p:cNvSpPr txBox="1"/>
          <p:nvPr/>
        </p:nvSpPr>
        <p:spPr>
          <a:xfrm>
            <a:off x="411480" y="1691640"/>
            <a:ext cx="11457432" cy="4663440"/>
          </a:xfrm>
          <a:prstGeom prst="rect">
            <a:avLst/>
          </a:prstGeom>
          <a:noFill/>
        </p:spPr>
        <p:txBody>
          <a:bodyPr wrap="square"/>
          <a:lstStyle/>
          <a:p>
            <a:pPr algn="l"/>
            <a:r>
              <a:rPr sz="1700" b="0">
                <a:solidFill>
                  <a:srgbClr val="000000"/>
                </a:solidFill>
                <a:latin typeface="Arial"/>
              </a:rPr>
              <a:t>The 91.75% RULER score at 1M tokens is enabled by: Transformer attention layers strategically placed to provide precise retrieval capability at periodic intervals (preventing the recurrent layers from being the only access mechanism for arbitrary long-range queries); the 1M token context training with multi-stage curriculum (the two long-context stages expanding from baseline to 1M tokens allow the model to learn long-range positional representations); and MTP (Multi-Token Prediction) which encourages the model to maintain coherent representations of document structure over long spans. Known failure patterns of hybrid Mamba-Transformer models at extreme context lengths include: recency bias (Mamba's recurrent state naturally attenuates very old context), cross-document interference (at 1M tokens, the recurrent state must compress hundreds of documents into a single state vector, causing earlier documents to interfere with later context retrieval), and poor performance on tasks where the relevant evidence is spread across many non-contiguous locations throughout the full context rather than concentrated in a recoverable local region.</a:t>
            </a:r>
          </a:p>
        </p:txBody>
      </p:sp>
      <p:sp>
        <p:nvSpPr>
          <p:cNvPr id="7" name="Oval 6"/>
          <p:cNvSpPr/>
          <p:nvPr/>
        </p:nvSpPr>
        <p:spPr>
          <a:xfrm>
            <a:off x="2810735" y="135347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075627" y="822590"/>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674643" y="551962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846464" y="4579494"/>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11014253" y="6278271"/>
            <a:ext cx="109728" cy="109728"/>
          </a:xfrm>
          <a:prstGeom prst="ellipse">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0" y="6693408"/>
            <a:ext cx="12188952" cy="164592"/>
          </a:xfrm>
          <a:prstGeom prst="rect">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A3FF"/>
                </a:solidFill>
                <a:latin typeface="Arial Black"/>
              </a:rPr>
              <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D084"/>
        </a:solidFill>
        <a:effectLst/>
      </p:bgPr>
    </p:bg>
    <p:spTree>
      <p:nvGrpSpPr>
        <p:cNvPr id="1" name=""/>
        <p:cNvGrpSpPr/>
        <p:nvPr/>
      </p:nvGrpSpPr>
      <p:grpSpPr/>
      <p:sp>
        <p:nvSpPr>
          <p:cNvPr id="2" name="Rectangle 1"/>
          <p:cNvSpPr/>
          <p:nvPr/>
        </p:nvSpPr>
        <p:spPr>
          <a:xfrm>
            <a:off x="264706" y="5217664"/>
            <a:ext cx="480108" cy="480108"/>
          </a:xfrm>
          <a:prstGeom prst="rect">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iamond 2"/>
          <p:cNvSpPr/>
          <p:nvPr/>
        </p:nvSpPr>
        <p:spPr>
          <a:xfrm>
            <a:off x="3936457" y="6211983"/>
            <a:ext cx="646016" cy="646016"/>
          </a:xfrm>
          <a:prstGeom prst="diamond">
            <a:avLst/>
          </a:prstGeom>
          <a:solidFill>
            <a:srgbClr val="FF3E3E"/>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Hexagon 3"/>
          <p:cNvSpPr/>
          <p:nvPr/>
        </p:nvSpPr>
        <p:spPr>
          <a:xfrm>
            <a:off x="224202" y="342761"/>
            <a:ext cx="653145" cy="653145"/>
          </a:xfrm>
          <a:prstGeom prst="hexagon">
            <a:avLst/>
          </a:prstGeom>
          <a:solidFill>
            <a:srgbClr val="00A3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Hexagon 4"/>
          <p:cNvSpPr/>
          <p:nvPr/>
        </p:nvSpPr>
        <p:spPr>
          <a:xfrm>
            <a:off x="970810" y="410154"/>
            <a:ext cx="566791" cy="566791"/>
          </a:xfrm>
          <a:prstGeom prst="hexagon">
            <a:avLst/>
          </a:prstGeom>
          <a:solidFill>
            <a:srgbClr val="00A3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exagon 5"/>
          <p:cNvSpPr/>
          <p:nvPr/>
        </p:nvSpPr>
        <p:spPr>
          <a:xfrm>
            <a:off x="466752" y="3211370"/>
            <a:ext cx="335359" cy="335359"/>
          </a:xfrm>
          <a:prstGeom prst="hexagon">
            <a:avLst/>
          </a:prstGeom>
          <a:solidFill>
            <a:srgbClr val="00D084"/>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entagon 6"/>
          <p:cNvSpPr/>
          <p:nvPr/>
        </p:nvSpPr>
        <p:spPr>
          <a:xfrm>
            <a:off x="11501348" y="4769981"/>
            <a:ext cx="687603" cy="687603"/>
          </a:xfrm>
          <a:prstGeom prst="homePlate">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11124370" y="5632365"/>
            <a:ext cx="584047" cy="584047"/>
          </a:xfrm>
          <a:prstGeom prst="ellipse">
            <a:avLst/>
          </a:prstGeom>
          <a:solidFill>
            <a:srgbClr val="FF6B0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365760" y="228600"/>
            <a:ext cx="3474720" cy="54864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2200" b="1">
                <a:solidFill>
                  <a:srgbClr val="FFFFFF"/>
                </a:solidFill>
                <a:latin typeface="Arial Black"/>
              </a:rPr>
              <a:t>KEY TAKEAWAY</a:t>
            </a:r>
          </a:p>
        </p:txBody>
      </p:sp>
      <p:sp>
        <p:nvSpPr>
          <p:cNvPr id="10" name="TextBox 9"/>
          <p:cNvSpPr txBox="1"/>
          <p:nvPr/>
        </p:nvSpPr>
        <p:spPr>
          <a:xfrm>
            <a:off x="457200" y="1005840"/>
            <a:ext cx="11183112" cy="5029200"/>
          </a:xfrm>
          <a:prstGeom prst="rect">
            <a:avLst/>
          </a:prstGeom>
          <a:noFill/>
        </p:spPr>
        <p:txBody>
          <a:bodyPr wrap="square"/>
          <a:lstStyle/>
          <a:p>
            <a:pPr algn="l"/>
            <a:r>
              <a:rPr sz="2000" b="0">
                <a:solidFill>
                  <a:srgbClr val="000000"/>
                </a:solidFill>
                <a:latin typeface="Arial"/>
              </a:rPr>
              <a:t>▶  Architecture — Three Innovations Combined: (1) LatentMoE — token embeddings are projected into a lower-rank latent space before expert routing, activating 22 of 512 experts per token at 4x lower routing cost; (2) Mamba-2 Hybrid — 88 layers interleave Mamba-2 (linear-time SSM, 4x memory efficiency), Transformer attention (precise retrieval), and LatentMoE layers; (3) Multi-Token Prediction (MTP) — shared-weight design that predicts multiple future tokens simultaneously, enabling native speculative decoding for up to 3x wall-clock speedup.
▶  Training Pipeline — 4 Stages: (0) Pretraining on 25T tokens via a two-phase curriculum (20T diversity-heavy → 5T quality-heavy) + two long-context stages up to 1M tokens; (1) SFT on ~7M samples across 15+ domains; (2) RL with async GRPO across 21 environment configurations / 1.2M rollouts; (3) Post-training quantization to FP8 and NVFP4.
▶  Checkpoint Merging as Mid-Training: During the stable LR phase, weighted averaging over a sliding window of recent checkpoints improved the 12-benchmark average by 2–4 points while saving ~16% of total compute — a clean efficiency win worth replicating.</a:t>
            </a:r>
          </a:p>
        </p:txBody>
      </p:sp>
      <p:sp>
        <p:nvSpPr>
          <p:cNvPr id="11" name="Rectangle 10"/>
          <p:cNvSpPr/>
          <p:nvPr/>
        </p:nvSpPr>
        <p:spPr>
          <a:xfrm>
            <a:off x="457200"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ectangle 11"/>
          <p:cNvSpPr/>
          <p:nvPr/>
        </p:nvSpPr>
        <p:spPr>
          <a:xfrm>
            <a:off x="621792"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786384"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950976"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Rectangle 14"/>
          <p:cNvSpPr/>
          <p:nvPr/>
        </p:nvSpPr>
        <p:spPr>
          <a:xfrm>
            <a:off x="1115568" y="5852160"/>
            <a:ext cx="164592" cy="146304"/>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ectangle 15"/>
          <p:cNvSpPr/>
          <p:nvPr/>
        </p:nvSpPr>
        <p:spPr>
          <a:xfrm>
            <a:off x="457200"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21792"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ectangle 17"/>
          <p:cNvSpPr/>
          <p:nvPr/>
        </p:nvSpPr>
        <p:spPr>
          <a:xfrm>
            <a:off x="786384"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950976"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ectangle 19"/>
          <p:cNvSpPr/>
          <p:nvPr/>
        </p:nvSpPr>
        <p:spPr>
          <a:xfrm>
            <a:off x="1115568" y="6172200"/>
            <a:ext cx="164592" cy="1463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11987784" y="0"/>
            <a:ext cx="201168"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000000"/>
                </a:solidFill>
                <a:latin typeface="Arial Black"/>
              </a:rPr>
              <a:t/>
            </a:r>
          </a:p>
        </p:txBody>
      </p:sp>
      <p:sp>
        <p:nvSpPr>
          <p:cNvPr id="22" name="Rectangle 21"/>
          <p:cNvSpPr/>
          <p:nvPr/>
        </p:nvSpPr>
        <p:spPr>
          <a:xfrm>
            <a:off x="0" y="6693408"/>
            <a:ext cx="12188952" cy="164592"/>
          </a:xfrm>
          <a:prstGeom prst="rect">
            <a:avLst/>
          </a:prstGeom>
          <a:solidFill>
            <a:srgbClr val="FFE600"/>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r>
              <a:rPr sz="100" b="1">
                <a:solidFill>
                  <a:srgbClr val="FFE600"/>
                </a:solidFill>
                <a:latin typeface="Arial Black"/>
              </a:rPr>
              <a:t/>
            </a:r>
          </a:p>
        </p:txBody>
      </p:sp>
      <p:sp>
        <p:nvSpPr>
          <p:cNvPr id="23" name="TextBox 22"/>
          <p:cNvSpPr txBox="1"/>
          <p:nvPr/>
        </p:nvSpPr>
        <p:spPr>
          <a:xfrm>
            <a:off x="457200" y="6355080"/>
            <a:ext cx="11274552" cy="347472"/>
          </a:xfrm>
          <a:prstGeom prst="rect">
            <a:avLst/>
          </a:prstGeom>
          <a:noFill/>
        </p:spPr>
        <p:txBody>
          <a:bodyPr wrap="square"/>
          <a:lstStyle/>
          <a:p>
            <a:pPr algn="l"/>
            <a:r>
              <a:rPr sz="1200" b="0">
                <a:solidFill>
                  <a:srgbClr val="000000"/>
                </a:solidFill>
                <a:latin typeface="Arial"/>
              </a:rPr>
              <a:t>NVIDIA Nemotron 3 Super Technical Report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