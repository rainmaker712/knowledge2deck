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E600"/>
        </a:solidFill>
        <a:effectLst/>
      </p:bgPr>
    </p:bg>
    <p:spTree>
      <p:nvGrpSpPr>
        <p:cNvPr id="1" name=""/>
        <p:cNvGrpSpPr/>
        <p:nvPr/>
      </p:nvGrpSpPr>
      <p:grpSpPr/>
      <p:sp>
        <p:nvSpPr>
          <p:cNvPr id="2" name="Isosceles Triangle 1"/>
          <p:cNvSpPr/>
          <p:nvPr/>
        </p:nvSpPr>
        <p:spPr>
          <a:xfrm>
            <a:off x="2268743" y="5804754"/>
            <a:ext cx="714281" cy="714281"/>
          </a:xfrm>
          <a:prstGeom prst="triangl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Parallelogram 2"/>
          <p:cNvSpPr/>
          <p:nvPr/>
        </p:nvSpPr>
        <p:spPr>
          <a:xfrm>
            <a:off x="4609268" y="5791190"/>
            <a:ext cx="731121" cy="731121"/>
          </a:xfrm>
          <a:prstGeom prst="parallelogram">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0208537" y="6165755"/>
            <a:ext cx="500626" cy="500626"/>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Parallelogram 4"/>
          <p:cNvSpPr/>
          <p:nvPr/>
        </p:nvSpPr>
        <p:spPr>
          <a:xfrm>
            <a:off x="592718" y="2910626"/>
            <a:ext cx="283460" cy="283460"/>
          </a:xfrm>
          <a:prstGeom prst="parallelogram">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Hexagon 5"/>
          <p:cNvSpPr/>
          <p:nvPr/>
        </p:nvSpPr>
        <p:spPr>
          <a:xfrm>
            <a:off x="4447579" y="918022"/>
            <a:ext cx="392440" cy="392440"/>
          </a:xfrm>
          <a:prstGeom prst="hexagon">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Isosceles Triangle 6"/>
          <p:cNvSpPr/>
          <p:nvPr/>
        </p:nvSpPr>
        <p:spPr>
          <a:xfrm>
            <a:off x="5701437" y="728940"/>
            <a:ext cx="381496" cy="381496"/>
          </a:xfrm>
          <a:prstGeom prst="triangl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Pentagon 7"/>
          <p:cNvSpPr/>
          <p:nvPr/>
        </p:nvSpPr>
        <p:spPr>
          <a:xfrm>
            <a:off x="5600939" y="249569"/>
            <a:ext cx="303751" cy="303751"/>
          </a:xfrm>
          <a:prstGeom prst="homePlate">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0" y="0"/>
            <a:ext cx="12188952" cy="164592"/>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0000"/>
                </a:solidFill>
                <a:latin typeface="Arial Black"/>
              </a:rPr>
              <a:t/>
            </a:r>
          </a:p>
        </p:txBody>
      </p:sp>
      <p:sp>
        <p:nvSpPr>
          <p:cNvPr id="10" name="TextBox 9"/>
          <p:cNvSpPr txBox="1"/>
          <p:nvPr/>
        </p:nvSpPr>
        <p:spPr>
          <a:xfrm>
            <a:off x="457200" y="365760"/>
            <a:ext cx="11274552" cy="3200400"/>
          </a:xfrm>
          <a:prstGeom prst="rect">
            <a:avLst/>
          </a:prstGeom>
          <a:noFill/>
        </p:spPr>
        <p:txBody>
          <a:bodyPr wrap="square"/>
          <a:lstStyle/>
          <a:p>
            <a:pPr algn="l"/>
            <a:r>
              <a:rPr sz="4000" b="1">
                <a:solidFill>
                  <a:srgbClr val="000000"/>
                </a:solidFill>
                <a:latin typeface="Arial Black"/>
              </a:rPr>
              <a:t>Optimal Sparsity of Mixture-of-Experts Language Models for Reasoning Tasks</a:t>
            </a:r>
          </a:p>
        </p:txBody>
      </p:sp>
      <p:sp>
        <p:nvSpPr>
          <p:cNvPr id="11" name="TextBox 10"/>
          <p:cNvSpPr txBox="1"/>
          <p:nvPr/>
        </p:nvSpPr>
        <p:spPr>
          <a:xfrm>
            <a:off x="457200" y="3840480"/>
            <a:ext cx="9445752" cy="548640"/>
          </a:xfrm>
          <a:prstGeom prst="rect">
            <a:avLst/>
          </a:prstGeom>
          <a:noFill/>
        </p:spPr>
        <p:txBody>
          <a:bodyPr wrap="square"/>
          <a:lstStyle/>
          <a:p>
            <a:pPr algn="l"/>
            <a:r>
              <a:rPr sz="1600" b="0">
                <a:solidFill>
                  <a:srgbClr val="000000"/>
                </a:solidFill>
                <a:latin typeface="Arial"/>
              </a:rPr>
              <a:t>Taishi Nakamura, Satoki Ishikawa, Masaki Kawamura, Takumi Okamoto, Daisuke Nohara, Jun Suzuki, Rio Yokota</a:t>
            </a:r>
          </a:p>
        </p:txBody>
      </p:sp>
      <p:sp>
        <p:nvSpPr>
          <p:cNvPr id="12" name="Rectangle 11"/>
          <p:cNvSpPr/>
          <p:nvPr/>
        </p:nvSpPr>
        <p:spPr>
          <a:xfrm>
            <a:off x="457200" y="4572000"/>
            <a:ext cx="1463040" cy="3200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400" b="1">
                <a:solidFill>
                  <a:srgbClr val="FFE600"/>
                </a:solidFill>
                <a:latin typeface="Arial"/>
              </a:rPr>
              <a:t>25-08-26</a:t>
            </a:r>
          </a:p>
        </p:txBody>
      </p:sp>
      <p:sp>
        <p:nvSpPr>
          <p:cNvPr id="13" name="Rectangle 12"/>
          <p:cNvSpPr/>
          <p:nvPr/>
        </p:nvSpPr>
        <p:spPr>
          <a:xfrm>
            <a:off x="0" y="0"/>
            <a:ext cx="201168" cy="68580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3E3E"/>
                </a:solidFill>
                <a:latin typeface="Arial Black"/>
              </a:rPr>
              <a:t/>
            </a:r>
          </a:p>
        </p:txBody>
      </p:sp>
      <p:sp>
        <p:nvSpPr>
          <p:cNvPr id="14" name="Rectangle 13"/>
          <p:cNvSpPr/>
          <p:nvPr/>
        </p:nvSpPr>
        <p:spPr>
          <a:xfrm>
            <a:off x="0" y="6693408"/>
            <a:ext cx="12188952" cy="164592"/>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D084"/>
                </a:solidFill>
                <a:latin typeface="Arial Black"/>
              </a:rPr>
              <a:t/>
            </a:r>
          </a:p>
        </p:txBody>
      </p:sp>
      <p:sp>
        <p:nvSpPr>
          <p:cNvPr id="15" name="TextBox 14"/>
          <p:cNvSpPr txBox="1"/>
          <p:nvPr/>
        </p:nvSpPr>
        <p:spPr>
          <a:xfrm>
            <a:off x="7159752" y="6400800"/>
            <a:ext cx="4754880" cy="365760"/>
          </a:xfrm>
          <a:prstGeom prst="rect">
            <a:avLst/>
          </a:prstGeom>
          <a:noFill/>
        </p:spPr>
        <p:txBody>
          <a:bodyPr wrap="square"/>
          <a:lstStyle/>
          <a:p>
            <a:pPr algn="l"/>
            <a:r>
              <a:rPr sz="1100" b="0">
                <a:solidFill>
                  <a:srgbClr val="000000"/>
                </a:solidFill>
                <a:latin typeface="Arial"/>
              </a:rPr>
              <a:t>https://arxiv.org/abs/2508.18672</a:t>
            </a:r>
          </a:p>
        </p:txBody>
      </p:sp>
      <p:sp>
        <p:nvSpPr>
          <p:cNvPr id="16" name="Rectangle 15"/>
          <p:cNvSpPr/>
          <p:nvPr/>
        </p:nvSpPr>
        <p:spPr>
          <a:xfrm>
            <a:off x="457200"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21792"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86384"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950976"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1115568"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0A3FF"/>
        </a:solidFill>
        <a:effectLst/>
      </p:bgPr>
    </p:bg>
    <p:spTree>
      <p:nvGrpSpPr>
        <p:cNvPr id="1" name=""/>
        <p:cNvGrpSpPr/>
        <p:nvPr/>
      </p:nvGrpSpPr>
      <p:grpSpPr/>
      <p:sp>
        <p:nvSpPr>
          <p:cNvPr id="2" name="Rectangle 1"/>
          <p:cNvSpPr/>
          <p:nvPr/>
        </p:nvSpPr>
        <p:spPr>
          <a:xfrm>
            <a:off x="350278" y="4644876"/>
            <a:ext cx="643139" cy="643139"/>
          </a:xfrm>
          <a:prstGeom prst="rect">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4422797" y="6164202"/>
            <a:ext cx="693797" cy="693797"/>
          </a:xfrm>
          <a:prstGeom prst="ellipse">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Hexagon 3"/>
          <p:cNvSpPr/>
          <p:nvPr/>
        </p:nvSpPr>
        <p:spPr>
          <a:xfrm>
            <a:off x="11230016" y="3367459"/>
            <a:ext cx="661261" cy="661261"/>
          </a:xfrm>
          <a:prstGeom prst="hexagon">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Diamond 4"/>
          <p:cNvSpPr/>
          <p:nvPr/>
        </p:nvSpPr>
        <p:spPr>
          <a:xfrm>
            <a:off x="11241131" y="209466"/>
            <a:ext cx="677938" cy="677938"/>
          </a:xfrm>
          <a:prstGeom prst="diamond">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11735586" y="3657259"/>
            <a:ext cx="311748" cy="311748"/>
          </a:xfrm>
          <a:prstGeom prst="rect">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234874" y="1025395"/>
            <a:ext cx="472187" cy="472187"/>
          </a:xfrm>
          <a:prstGeom prst="ellipse">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Isosceles Triangle 7"/>
          <p:cNvSpPr/>
          <p:nvPr/>
        </p:nvSpPr>
        <p:spPr>
          <a:xfrm>
            <a:off x="9875368" y="296986"/>
            <a:ext cx="539531" cy="539531"/>
          </a:xfrm>
          <a:prstGeom prst="triangl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Diamond 8"/>
          <p:cNvSpPr/>
          <p:nvPr/>
        </p:nvSpPr>
        <p:spPr>
          <a:xfrm>
            <a:off x="106828" y="473244"/>
            <a:ext cx="515226" cy="515226"/>
          </a:xfrm>
          <a:prstGeom prst="diamond">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Hexagon 9"/>
          <p:cNvSpPr/>
          <p:nvPr/>
        </p:nvSpPr>
        <p:spPr>
          <a:xfrm>
            <a:off x="11137612" y="453571"/>
            <a:ext cx="550421" cy="550421"/>
          </a:xfrm>
          <a:prstGeom prst="hexagon">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Diamond 10"/>
          <p:cNvSpPr/>
          <p:nvPr/>
        </p:nvSpPr>
        <p:spPr>
          <a:xfrm>
            <a:off x="490037" y="5551208"/>
            <a:ext cx="426143" cy="426143"/>
          </a:xfrm>
          <a:prstGeom prst="diamond">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2926080" cy="50292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000000"/>
                </a:solidFill>
                <a:latin typeface="Arial Black"/>
              </a:rPr>
              <a:t>KEY FINDINGS</a:t>
            </a:r>
          </a:p>
        </p:txBody>
      </p:sp>
      <p:sp>
        <p:nvSpPr>
          <p:cNvPr id="13" name="TextBox 12"/>
          <p:cNvSpPr txBox="1"/>
          <p:nvPr/>
        </p:nvSpPr>
        <p:spPr>
          <a:xfrm>
            <a:off x="11274552" y="274320"/>
            <a:ext cx="640080" cy="411480"/>
          </a:xfrm>
          <a:prstGeom prst="rect">
            <a:avLst/>
          </a:prstGeom>
          <a:noFill/>
        </p:spPr>
        <p:txBody>
          <a:bodyPr wrap="square"/>
          <a:lstStyle/>
          <a:p>
            <a:pPr algn="r"/>
            <a:r>
              <a:rPr sz="1600" b="1">
                <a:solidFill>
                  <a:srgbClr val="FFFFFF"/>
                </a:solidFill>
                <a:latin typeface="Arial"/>
              </a:rPr>
              <a:t>1</a:t>
            </a:r>
          </a:p>
        </p:txBody>
      </p:sp>
      <p:sp>
        <p:nvSpPr>
          <p:cNvPr id="14" name="TextBox 13"/>
          <p:cNvSpPr txBox="1"/>
          <p:nvPr/>
        </p:nvSpPr>
        <p:spPr>
          <a:xfrm>
            <a:off x="457200" y="960120"/>
            <a:ext cx="11091672" cy="5212080"/>
          </a:xfrm>
          <a:prstGeom prst="rect">
            <a:avLst/>
          </a:prstGeom>
          <a:noFill/>
        </p:spPr>
        <p:txBody>
          <a:bodyPr wrap="square"/>
          <a:lstStyle/>
          <a:p>
            <a:pPr algn="l">
              <a:spcBef>
                <a:spcPts val="600"/>
              </a:spcBef>
            </a:pPr>
            <a:r>
              <a:rPr sz="2000" b="0">
                <a:solidFill>
                  <a:srgbClr val="FFFFFF"/>
                </a:solidFill>
                <a:latin typeface="Arial"/>
              </a:rPr>
              <a:t>▶  (ICLR 2026 Oral)* &gt; This paper investigates how MoE sparsity affects reasoning vs. memorization tasks differently. The core finding: models with identical training loss but greater active compute achieve higher reasoning accuracy. Reasoning tasks exhibit a non-monotonic (inverted-U) relationship with tokens-per-parameter (TPP), peaking near 20 TPP before degrading — while memorization scales monotonically with total parameters. Neither RL post-training nor test-time compute eliminates the sparsity-induced reasoning gap.</a:t>
            </a:r>
          </a:p>
          <a:p>
            <a:pPr algn="l">
              <a:spcBef>
                <a:spcPts val="600"/>
              </a:spcBef>
            </a:pPr>
            <a:r>
              <a:rPr sz="2000" b="0">
                <a:solidFill>
                  <a:srgbClr val="FFFFFF"/>
                </a:solidFill>
                <a:latin typeface="Arial"/>
              </a:rPr>
              <a:t>▶  Two Principles for MoE Scaling: (1) Active FLOPs Principle — given equal training loss, more active parameters (higher top-k) wins on reasoning. Training loss alone is insufficient as a proxy for downstream reasoning quality. (2) TPP Principle — reasoning performance is non-monotonic in tokens-per-parameter: too few tokens per parameter (excess params) or too many (insufficient data per param) both hurt. Optimal TPP for reasoning ≈ 20.</a:t>
            </a:r>
          </a:p>
          <a:p>
            <a:pPr algn="l">
              <a:spcBef>
                <a:spcPts val="600"/>
              </a:spcBef>
            </a:pPr>
            <a:r>
              <a:rPr sz="2000" b="0">
                <a:solidFill>
                  <a:srgbClr val="FFFFFF"/>
                </a:solidFill>
                <a:latin typeface="Arial"/>
              </a:rPr>
              <a:t>▶  Reasoning vs. Memorization Diverge Fundamentally: Memorization (TriviaQA, HellaSwag) improves monotonically with more total parameters and tolerates high sparsity. Reasoning (GSM8K, GSM-Plus, HumanEval, MBPP) shows a U-shaped loss curve — accuracy can degrade despite better pre-training loss when too many experts are added without proportionally more data or active compute.</a:t>
            </a:r>
          </a:p>
        </p:txBody>
      </p:sp>
      <p:sp>
        <p:nvSpPr>
          <p:cNvPr id="15" name="Rectangle 14"/>
          <p:cNvSpPr/>
          <p:nvPr/>
        </p:nvSpPr>
        <p:spPr>
          <a:xfrm>
            <a:off x="10817352"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10981944"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11146536"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11311128"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11475720"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10817352"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10981944"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11146536"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11311128"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11475720"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0" y="6693408"/>
            <a:ext cx="12188952" cy="1645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FFFF"/>
                </a:solidFill>
                <a:latin typeface="Arial Black"/>
              </a:rPr>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3E3E"/>
        </a:solidFill>
        <a:effectLst/>
      </p:bgPr>
    </p:bg>
    <p:spTree>
      <p:nvGrpSpPr>
        <p:cNvPr id="1" name=""/>
        <p:cNvGrpSpPr/>
        <p:nvPr/>
      </p:nvGrpSpPr>
      <p:grpSpPr/>
      <p:sp>
        <p:nvSpPr>
          <p:cNvPr id="2" name="Parallelogram 1"/>
          <p:cNvSpPr/>
          <p:nvPr/>
        </p:nvSpPr>
        <p:spPr>
          <a:xfrm>
            <a:off x="11346629" y="5955948"/>
            <a:ext cx="540766" cy="540766"/>
          </a:xfrm>
          <a:prstGeom prst="parallelogram">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Parallelogram 2"/>
          <p:cNvSpPr/>
          <p:nvPr/>
        </p:nvSpPr>
        <p:spPr>
          <a:xfrm>
            <a:off x="5067776" y="956131"/>
            <a:ext cx="597361" cy="597361"/>
          </a:xfrm>
          <a:prstGeom prst="parallelogram">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Pentagon 3"/>
          <p:cNvSpPr/>
          <p:nvPr/>
        </p:nvSpPr>
        <p:spPr>
          <a:xfrm>
            <a:off x="11835138" y="2731630"/>
            <a:ext cx="351427" cy="351427"/>
          </a:xfrm>
          <a:prstGeom prst="homePlate">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932452" y="1028748"/>
            <a:ext cx="588521" cy="588521"/>
          </a:xfrm>
          <a:prstGeom prst="ellipse">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740545" y="289119"/>
            <a:ext cx="522161" cy="522161"/>
          </a:xfrm>
          <a:prstGeom prst="ellips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Isosceles Triangle 6"/>
          <p:cNvSpPr/>
          <p:nvPr/>
        </p:nvSpPr>
        <p:spPr>
          <a:xfrm>
            <a:off x="3595328" y="304382"/>
            <a:ext cx="683413" cy="683413"/>
          </a:xfrm>
          <a:prstGeom prst="triangl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Parallelogram 7"/>
          <p:cNvSpPr/>
          <p:nvPr/>
        </p:nvSpPr>
        <p:spPr>
          <a:xfrm>
            <a:off x="11527060" y="1674887"/>
            <a:ext cx="661891" cy="661891"/>
          </a:xfrm>
          <a:prstGeom prst="parallelogram">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451765" y="6086871"/>
            <a:ext cx="537836" cy="537836"/>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11498521" y="367387"/>
            <a:ext cx="505409" cy="505409"/>
          </a:xfrm>
          <a:prstGeom prst="rect">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365760" y="228600"/>
            <a:ext cx="2926080" cy="50292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000000"/>
                </a:solidFill>
                <a:latin typeface="Arial Black"/>
              </a:rPr>
              <a:t>KEY FINDINGS</a:t>
            </a:r>
          </a:p>
        </p:txBody>
      </p:sp>
      <p:sp>
        <p:nvSpPr>
          <p:cNvPr id="12" name="TextBox 11"/>
          <p:cNvSpPr txBox="1"/>
          <p:nvPr/>
        </p:nvSpPr>
        <p:spPr>
          <a:xfrm>
            <a:off x="11274552" y="274320"/>
            <a:ext cx="640080" cy="411480"/>
          </a:xfrm>
          <a:prstGeom prst="rect">
            <a:avLst/>
          </a:prstGeom>
          <a:noFill/>
        </p:spPr>
        <p:txBody>
          <a:bodyPr wrap="square"/>
          <a:lstStyle/>
          <a:p>
            <a:pPr algn="r"/>
            <a:r>
              <a:rPr sz="1600" b="1">
                <a:solidFill>
                  <a:srgbClr val="FFFFFF"/>
                </a:solidFill>
                <a:latin typeface="Arial"/>
              </a:rPr>
              <a:t>2</a:t>
            </a:r>
          </a:p>
        </p:txBody>
      </p:sp>
      <p:sp>
        <p:nvSpPr>
          <p:cNvPr id="13" name="TextBox 12"/>
          <p:cNvSpPr txBox="1"/>
          <p:nvPr/>
        </p:nvSpPr>
        <p:spPr>
          <a:xfrm>
            <a:off x="457200" y="960120"/>
            <a:ext cx="11091672" cy="5212080"/>
          </a:xfrm>
          <a:prstGeom prst="rect">
            <a:avLst/>
          </a:prstGeom>
          <a:noFill/>
        </p:spPr>
        <p:txBody>
          <a:bodyPr wrap="square"/>
          <a:lstStyle/>
          <a:p>
            <a:pPr algn="l">
              <a:spcBef>
                <a:spcPts val="600"/>
              </a:spcBef>
            </a:pPr>
            <a:r>
              <a:rPr sz="2000" b="0">
                <a:solidFill>
                  <a:srgbClr val="FFFFFF"/>
                </a:solidFill>
                <a:latin typeface="Arial"/>
              </a:rPr>
              <a:t>▶  Same Loss ≠ Same Capability: This is the key challenge for MoE practitioners. Two models can achieve identical perplexity/loss with very different active FLOP budgets, but their reasoning capabilities diverge significantly. Pre-training loss is not a sufficient optimization target when reasoning is the goal.</a:t>
            </a:r>
          </a:p>
          <a:p>
            <a:pPr algn="l">
              <a:spcBef>
                <a:spcPts val="600"/>
              </a:spcBef>
            </a:pPr>
            <a:r>
              <a:rPr sz="2000" b="0">
                <a:solidFill>
                  <a:srgbClr val="FFFFFF"/>
                </a:solidFill>
                <a:latin typeface="Arial"/>
              </a:rPr>
              <a:t>▶  Optimal Sparsity is Compute-Regime Dependent: At low compute budgets, sparser models are preferred across all tasks. At high compute budgets with reasoning goals, denser configurations (more active experts) outperform despite the apparent efficiency cost.</a:t>
            </a:r>
          </a:p>
          <a:p>
            <a:pPr algn="l">
              <a:spcBef>
                <a:spcPts val="600"/>
              </a:spcBef>
            </a:pPr>
            <a:r>
              <a:rPr sz="2000" b="0">
                <a:solidFill>
                  <a:srgbClr val="FFFFFF"/>
                </a:solidFill>
                <a:latin typeface="Arial"/>
              </a:rPr>
              <a:t>▶  RL and Test-Time Compute Don't Fix the Gap: Applying GRPO or self-consistency sampling improves overall performance but preserves the inverted-U relationship. Sparsity-induced reasoning deficits can't be patched post-hoc — they must be addressed during architecture and data planning.</a:t>
            </a:r>
          </a:p>
        </p:txBody>
      </p:sp>
      <p:sp>
        <p:nvSpPr>
          <p:cNvPr id="14" name="Rectangle 13"/>
          <p:cNvSpPr/>
          <p:nvPr/>
        </p:nvSpPr>
        <p:spPr>
          <a:xfrm>
            <a:off x="10817352"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10981944"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11146536"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11311128"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11475720"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10817352"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10981944"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11146536"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11311128"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11475720"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4737346" y="643116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2442211" y="628389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272352" y="607413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018851" y="501548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7781983" y="587185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653129" y="514717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896442" y="247026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510791" y="30734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3800438" y="40633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731211" y="646150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Q1</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The paper finds that reasoning performance peaks near 20 tokens-per-parameter (TPP) before degrading, while memorization scales monotonically with total parameters. What mechanistic explanation does the paper offer (or can you hypothesize) for why reasoning tasks exhibit this non-monotonic relationship with TPP while memorization does not?</a:t>
            </a:r>
          </a:p>
        </p:txBody>
      </p:sp>
      <p:sp>
        <p:nvSpPr>
          <p:cNvPr id="15" name="Diamond 14"/>
          <p:cNvSpPr/>
          <p:nvPr/>
        </p:nvSpPr>
        <p:spPr>
          <a:xfrm>
            <a:off x="5686464" y="6485166"/>
            <a:ext cx="340451" cy="340451"/>
          </a:xfrm>
          <a:prstGeom prst="diamond">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entagon 15"/>
          <p:cNvSpPr/>
          <p:nvPr/>
        </p:nvSpPr>
        <p:spPr>
          <a:xfrm>
            <a:off x="5985768" y="1039129"/>
            <a:ext cx="425351" cy="425351"/>
          </a:xfrm>
          <a:prstGeom prst="homePlat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Pentagon 16"/>
          <p:cNvSpPr/>
          <p:nvPr/>
        </p:nvSpPr>
        <p:spPr>
          <a:xfrm>
            <a:off x="6006751" y="6249024"/>
            <a:ext cx="274661" cy="274661"/>
          </a:xfrm>
          <a:prstGeom prst="homePlat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Diamond 17"/>
          <p:cNvSpPr/>
          <p:nvPr/>
        </p:nvSpPr>
        <p:spPr>
          <a:xfrm>
            <a:off x="172695" y="5902769"/>
            <a:ext cx="478348" cy="478348"/>
          </a:xfrm>
          <a:prstGeom prst="diamond">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10484415" y="629917"/>
            <a:ext cx="283509" cy="283509"/>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11260132" y="4931648"/>
            <a:ext cx="415903" cy="415903"/>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A1</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The paper finds that reasoning performance peaks near 20 tokens-per-parameter (TPP) before degradin…</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The non-monotonic relationship between TPP and reasoning performance can be hypothesized as follows: at too-low TPP (very few training tokens per parameter), each expert has been trained on insufficient data to develop reliable specialization — the experts are under-trained and their outputs are noisy, which propagates uncertainty through the multi-step reasoning chains that characterize reasoning tasks. At too-high TPP (excess tokens per parameter), the model is densely over-trained and individual experts become over-specialized memorizers of specific data patterns rather than generalizable reasoning modules, reducing the model's ability to compose expert outputs in novel ways. The optimal TPP of ~20 represents the regime where experts are well-trained (high TPP) but still maintain general enough representations to participate in flexible compositional reasoning (not excessively over-fitted). Memorization tasks are monotonic because they don't require this flexible expert composition — simply having more parameters and more training monotonically increases the probability of memorizing specific facts.</a:t>
            </a:r>
          </a:p>
        </p:txBody>
      </p:sp>
      <p:sp>
        <p:nvSpPr>
          <p:cNvPr id="7" name="Oval 6"/>
          <p:cNvSpPr/>
          <p:nvPr/>
        </p:nvSpPr>
        <p:spPr>
          <a:xfrm>
            <a:off x="4151406" y="726620"/>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882722" y="1057830"/>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4423336" y="1314295"/>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23111" y="706930"/>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6536873" y="6464102"/>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3E3E"/>
                </a:solidFill>
                <a:latin typeface="Arial Black"/>
              </a:rP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671355" y="130909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269693" y="112589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7943011" y="118497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1508642" y="43856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6113607" y="91635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81035" y="285459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3578865" y="124206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689268" y="619661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662531" y="628083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0866964" y="449466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Q2</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The Active FLOPs Principle states that given equal training loss, more active parameters (higher top-k) wins on reasoning. Does this imply that the standard MoE efficiency argument — using sparse activation to achieve more total capacity at fixed inference cost — is fundamentally at odds with optimizing for reasoning? How should practitioners reconcile this trade-off?</a:t>
            </a:r>
          </a:p>
        </p:txBody>
      </p:sp>
      <p:sp>
        <p:nvSpPr>
          <p:cNvPr id="15" name="Rectangle 14"/>
          <p:cNvSpPr/>
          <p:nvPr/>
        </p:nvSpPr>
        <p:spPr>
          <a:xfrm>
            <a:off x="11629647" y="247210"/>
            <a:ext cx="292590" cy="29259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710475" y="415118"/>
            <a:ext cx="305841" cy="305841"/>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Pentagon 16"/>
          <p:cNvSpPr/>
          <p:nvPr/>
        </p:nvSpPr>
        <p:spPr>
          <a:xfrm>
            <a:off x="1329034" y="6163266"/>
            <a:ext cx="694733" cy="694733"/>
          </a:xfrm>
          <a:prstGeom prst="homePlate">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Hexagon 17"/>
          <p:cNvSpPr/>
          <p:nvPr/>
        </p:nvSpPr>
        <p:spPr>
          <a:xfrm>
            <a:off x="5398635" y="6364798"/>
            <a:ext cx="493201" cy="493201"/>
          </a:xfrm>
          <a:prstGeom prst="hexagon">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11811140" y="5838533"/>
            <a:ext cx="377811" cy="377811"/>
          </a:xfrm>
          <a:prstGeom prst="rect">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11636134" y="1183544"/>
            <a:ext cx="552817" cy="552817"/>
          </a:xfrm>
          <a:prstGeom prst="ellipse">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A2</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The Active FLOPs Principle states that given equal training loss, more active parameters (higher to…</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The Active FLOPs Principle does create a tension with the standard MoE efficiency argument, but it doesn't make MoE categorically wrong for reasoning — it refines when and how MoE should be designed. The tension arises because standard MoE designs maximize total parameters at fixed active FLOP budget (using more experts with smaller top-k), while the Active FLOPs Principle says reasoning performance requires maintaining sufficient active parameters. Practitioners can reconcile this by: (a) using MoE to increase total parameter count while keeping top-k high enough to maintain active FLOPs competitive with equivalent dense models (e.g., activating 6-8 experts rather than 2); or (b) accepting lower reasoning performance in exchange for inference efficiency gains, treating reasoning tasks as a known limitation. The key realization is that the "free parameters" from sparse MoE are not free for reasoning — they trade reasoning capacity for memorization capacity.</a:t>
            </a:r>
          </a:p>
        </p:txBody>
      </p:sp>
      <p:sp>
        <p:nvSpPr>
          <p:cNvPr id="7" name="Oval 6"/>
          <p:cNvSpPr/>
          <p:nvPr/>
        </p:nvSpPr>
        <p:spPr>
          <a:xfrm>
            <a:off x="1281608" y="4272801"/>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242468" y="187647"/>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528358" y="564113"/>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6127389" y="6575497"/>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8748360" y="5856762"/>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A3FF"/>
                </a:solidFill>
                <a:latin typeface="Arial Black"/>
              </a:rPr>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8824111" y="78996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358774" y="61260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9987095" y="564224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2768298" y="17004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8645580" y="610566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725226" y="527121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906193" y="612280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2818323" y="624472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200636" y="273054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860738" y="436216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Q3</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Since "same loss does not equal same capability" for reasoning, what metrics beyond perplexity or cross-entropy loss should be used during pretraining to monitor reasoning potential? Are there intermediate-training signals that correlate better with downstream reasoning accuracy?</a:t>
            </a:r>
          </a:p>
        </p:txBody>
      </p:sp>
      <p:sp>
        <p:nvSpPr>
          <p:cNvPr id="15" name="Isosceles Triangle 14"/>
          <p:cNvSpPr/>
          <p:nvPr/>
        </p:nvSpPr>
        <p:spPr>
          <a:xfrm>
            <a:off x="287211" y="2965212"/>
            <a:ext cx="538562" cy="538562"/>
          </a:xfrm>
          <a:prstGeom prst="triangl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arallelogram 15"/>
          <p:cNvSpPr/>
          <p:nvPr/>
        </p:nvSpPr>
        <p:spPr>
          <a:xfrm>
            <a:off x="7598191" y="240742"/>
            <a:ext cx="695056" cy="695056"/>
          </a:xfrm>
          <a:prstGeom prst="parallelogram">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Diamond 16"/>
          <p:cNvSpPr/>
          <p:nvPr/>
        </p:nvSpPr>
        <p:spPr>
          <a:xfrm>
            <a:off x="4741844" y="809376"/>
            <a:ext cx="566411" cy="566411"/>
          </a:xfrm>
          <a:prstGeom prst="diamond">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Pentagon 17"/>
          <p:cNvSpPr/>
          <p:nvPr/>
        </p:nvSpPr>
        <p:spPr>
          <a:xfrm>
            <a:off x="5868481" y="6296248"/>
            <a:ext cx="561751" cy="561751"/>
          </a:xfrm>
          <a:prstGeom prst="homePlat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Pentagon 18"/>
          <p:cNvSpPr/>
          <p:nvPr/>
        </p:nvSpPr>
        <p:spPr>
          <a:xfrm>
            <a:off x="202990" y="5762425"/>
            <a:ext cx="531812" cy="531812"/>
          </a:xfrm>
          <a:prstGeom prst="homePlat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Parallelogram 19"/>
          <p:cNvSpPr/>
          <p:nvPr/>
        </p:nvSpPr>
        <p:spPr>
          <a:xfrm>
            <a:off x="115093" y="1413764"/>
            <a:ext cx="385033" cy="385033"/>
          </a:xfrm>
          <a:prstGeom prst="parallelogram">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Hexagon 20"/>
          <p:cNvSpPr/>
          <p:nvPr/>
        </p:nvSpPr>
        <p:spPr>
          <a:xfrm>
            <a:off x="6620500" y="6204296"/>
            <a:ext cx="653703" cy="653703"/>
          </a:xfrm>
          <a:prstGeom prst="hexagon">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Parallelogram 21"/>
          <p:cNvSpPr/>
          <p:nvPr/>
        </p:nvSpPr>
        <p:spPr>
          <a:xfrm>
            <a:off x="11179689" y="3213821"/>
            <a:ext cx="500087" cy="500087"/>
          </a:xfrm>
          <a:prstGeom prst="parallelogram">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A3</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Since "same loss does not equal same capability" for reasoning, what metrics beyond perplexity or c…</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Better monitoring metrics for reasoning potential during pretraining include: few-shot performance on math and coding reasoning tasks measured at intermediate checkpoints (expensive but reliable); gradient norm distribution across expert layers (experts showing high gradient variance may be under-specializing); routing entropy per layer (very high routing entropy suggests experts are not specializing, while very low entropy suggests dead experts); and attention pattern analysis on held-out reasoning problems to check whether the model is developing structured multi-step processing patterns. The difficulty is that all these require additional evaluation compute. A practically useful proxy is per-domain perplexity on a held-out set of structured reasoning content (math proofs, code comments) versus general web text — if reasoning-specific perplexity plateaus while general perplexity continues to improve, the model may be optimizing for memorization at the expense of reasoning.</a:t>
            </a:r>
          </a:p>
        </p:txBody>
      </p:sp>
      <p:sp>
        <p:nvSpPr>
          <p:cNvPr id="7" name="Oval 6"/>
          <p:cNvSpPr/>
          <p:nvPr/>
        </p:nvSpPr>
        <p:spPr>
          <a:xfrm>
            <a:off x="4445915" y="229646"/>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769348" y="1266163"/>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57736" y="4665001"/>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631894" y="4929270"/>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3605186" y="1221530"/>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D084"/>
                </a:solidFill>
                <a:latin typeface="Arial Black"/>
              </a:rPr>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7323787" y="128678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1972988" y="431187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8373591" y="93390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745261" y="258143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811224" y="385212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068217" y="375178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629291" y="160568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765107" y="607658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261008" y="345047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0826394" y="347862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Q4</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The paper demonstrates that RL post-training (GRPO) and test-time compute (self-consistency) improve overall performance but preserve the inverted-U sparsity relationship. What does this tell us about the nature of the reasoning deficits induced by suboptimal sparsity — are they architectural constraints, data constraints, or optimization constraints?</a:t>
            </a:r>
          </a:p>
        </p:txBody>
      </p:sp>
      <p:sp>
        <p:nvSpPr>
          <p:cNvPr id="15" name="Pentagon 14"/>
          <p:cNvSpPr/>
          <p:nvPr/>
        </p:nvSpPr>
        <p:spPr>
          <a:xfrm>
            <a:off x="172553" y="1928732"/>
            <a:ext cx="670831" cy="670831"/>
          </a:xfrm>
          <a:prstGeom prst="homePlat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11618778" y="1742818"/>
            <a:ext cx="476248" cy="476248"/>
          </a:xfrm>
          <a:prstGeom prst="ellips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Isosceles Triangle 16"/>
          <p:cNvSpPr/>
          <p:nvPr/>
        </p:nvSpPr>
        <p:spPr>
          <a:xfrm>
            <a:off x="7863789" y="92337"/>
            <a:ext cx="504162" cy="504162"/>
          </a:xfrm>
          <a:prstGeom prst="triangl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Diamond 17"/>
          <p:cNvSpPr/>
          <p:nvPr/>
        </p:nvSpPr>
        <p:spPr>
          <a:xfrm>
            <a:off x="11328040" y="1608643"/>
            <a:ext cx="710135" cy="710135"/>
          </a:xfrm>
          <a:prstGeom prst="diamond">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Pentagon 18"/>
          <p:cNvSpPr/>
          <p:nvPr/>
        </p:nvSpPr>
        <p:spPr>
          <a:xfrm>
            <a:off x="6481433" y="6134496"/>
            <a:ext cx="723503" cy="723503"/>
          </a:xfrm>
          <a:prstGeom prst="homePlat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4554464" y="641791"/>
            <a:ext cx="282759" cy="282759"/>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Hexagon 20"/>
          <p:cNvSpPr/>
          <p:nvPr/>
        </p:nvSpPr>
        <p:spPr>
          <a:xfrm>
            <a:off x="8886020" y="6193118"/>
            <a:ext cx="352382" cy="352382"/>
          </a:xfrm>
          <a:prstGeom prst="hexagon">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Pentagon 21"/>
          <p:cNvSpPr/>
          <p:nvPr/>
        </p:nvSpPr>
        <p:spPr>
          <a:xfrm>
            <a:off x="10414626" y="5815978"/>
            <a:ext cx="320859" cy="320859"/>
          </a:xfrm>
          <a:prstGeom prst="homePlat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40114" y="1802582"/>
            <a:ext cx="345489" cy="345489"/>
          </a:xfrm>
          <a:prstGeom prst="rect">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Pentagon 23"/>
          <p:cNvSpPr/>
          <p:nvPr/>
        </p:nvSpPr>
        <p:spPr>
          <a:xfrm>
            <a:off x="232498" y="5151714"/>
            <a:ext cx="602730" cy="602730"/>
          </a:xfrm>
          <a:prstGeom prst="homePlat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A4</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The paper demonstrates that RL post-training (GRPO) and test-time compute (self-consistency) improv…</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The fact that RL and test-time compute preserve the inverted-U relationship indicates that the reasoning deficits are primarily architectural/data constraints rather than optimization constraints. If they were optimization constraints (the model has the capacity but wasn't trained well enough to use it), RL fine-tuning would close the gap by providing better optimization signals. If they were data constraints (the model didn't see enough reasoning examples), more training with reasoning-specific data would fix it. But the persistence through RL (which does provide strong reasoning-specific optimization signals) and through test-time compute (which allows the model to explore more reasoning paths) indicates that the model fundamentally lacks the internal representation capacity to perform the required reasoning — the active FLOPs available during forward pass are insufficient to execute the multi-step computation the task requires.</a:t>
            </a:r>
          </a:p>
        </p:txBody>
      </p:sp>
      <p:sp>
        <p:nvSpPr>
          <p:cNvPr id="7" name="Oval 6"/>
          <p:cNvSpPr/>
          <p:nvPr/>
        </p:nvSpPr>
        <p:spPr>
          <a:xfrm>
            <a:off x="1029334" y="5914583"/>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582437" y="4798960"/>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5297569" y="289928"/>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590047" y="5865463"/>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7262595" y="324544"/>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6B00"/>
                </a:solidFill>
                <a:latin typeface="Arial Black"/>
              </a:rPr>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5959413" y="634256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9920903" y="661976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309886" y="328523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0967600" y="27660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722816" y="42414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277770" y="53577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357888" y="559446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215591" y="646333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258320" y="18758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637750" y="62226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Q5</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The optimal sparsity level is stated to be compute-regime dependent, with denser configurations preferred at high compute budgets for reasoning tasks. How should a practitioner determine which compute regime they are operating in when designing a new MoE architecture?</a:t>
            </a:r>
          </a:p>
        </p:txBody>
      </p:sp>
      <p:sp>
        <p:nvSpPr>
          <p:cNvPr id="15" name="Diamond 14"/>
          <p:cNvSpPr/>
          <p:nvPr/>
        </p:nvSpPr>
        <p:spPr>
          <a:xfrm>
            <a:off x="7144093" y="6290467"/>
            <a:ext cx="426479" cy="426479"/>
          </a:xfrm>
          <a:prstGeom prst="diamond">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11272870" y="5883803"/>
            <a:ext cx="486451" cy="486451"/>
          </a:xfrm>
          <a:prstGeom prst="hexagon">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11231976" y="1065216"/>
            <a:ext cx="461863" cy="461863"/>
          </a:xfrm>
          <a:prstGeom prst="rect">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5088297" y="5960812"/>
            <a:ext cx="344160" cy="344160"/>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Diamond 18"/>
          <p:cNvSpPr/>
          <p:nvPr/>
        </p:nvSpPr>
        <p:spPr>
          <a:xfrm>
            <a:off x="11468457" y="5518449"/>
            <a:ext cx="720494" cy="720494"/>
          </a:xfrm>
          <a:prstGeom prst="diamond">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Pentagon 19"/>
          <p:cNvSpPr/>
          <p:nvPr/>
        </p:nvSpPr>
        <p:spPr>
          <a:xfrm>
            <a:off x="696588" y="552744"/>
            <a:ext cx="450370" cy="450370"/>
          </a:xfrm>
          <a:prstGeom prst="homePlat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10071053" y="155034"/>
            <a:ext cx="674967" cy="674967"/>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11092648" y="6128278"/>
            <a:ext cx="404992" cy="404992"/>
          </a:xfrm>
          <a:prstGeom prst="rect">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Hexagon 22"/>
          <p:cNvSpPr/>
          <p:nvPr/>
        </p:nvSpPr>
        <p:spPr>
          <a:xfrm>
            <a:off x="680202" y="3698077"/>
            <a:ext cx="438314" cy="438314"/>
          </a:xfrm>
          <a:prstGeom prst="hexagon">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A5</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The optimal sparsity level is stated to be compute-regime dependent, with denser configurations pre…</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A practitioner can determine their compute regime for MoE architecture design by: first computing total training FLOPs (tokens x active parameters x ~6 for transformer FLOPs per token); then comparing against empirical regime boundaries from scaling laws literature (roughly: &lt;10^22 FLOPs is low compute, 10^22-10^25 is medium, &gt;10^25 is high compute). Alternatively, compare the planned model's active-parameter to total-parameter ratio against empirically validated configurations at similar compute scales. The paper's finding that high compute budgets favor denser configurations has a practical decision rule: if your compute budget allows achieving low perplexity with a dense model, add MoE experts while maintaining active parameters rather than replacing dense capacity with sparse capacity. If your compute is very limited, sparse MoE is acceptable since reasoning deficits are less pronounced at low compute where all model types perform poorly.</a:t>
            </a:r>
          </a:p>
        </p:txBody>
      </p:sp>
      <p:sp>
        <p:nvSpPr>
          <p:cNvPr id="7" name="Oval 6"/>
          <p:cNvSpPr/>
          <p:nvPr/>
        </p:nvSpPr>
        <p:spPr>
          <a:xfrm>
            <a:off x="2052495" y="115974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6166914" y="82960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172704" y="619632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827735" y="256103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015652" y="553548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8817007" y="589282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3630449" y="556781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841289" y="550372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6981389" y="114441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4480517" y="103852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066965" y="597546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668972" y="590822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151190" y="92126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4902639" y="640953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6855019" y="595235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Q6</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The paper focuses on mathematical and coding reasoning benchmarks (GSM8K, HumanEval, etc.). To what extent are these findings expected to generalize to other reasoning domains such as multi-hop factual reasoning, causal inference, or common-sense reasoning, which may have different structural properties?</a:t>
            </a:r>
          </a:p>
        </p:txBody>
      </p:sp>
      <p:sp>
        <p:nvSpPr>
          <p:cNvPr id="15" name="Hexagon 14"/>
          <p:cNvSpPr/>
          <p:nvPr/>
        </p:nvSpPr>
        <p:spPr>
          <a:xfrm>
            <a:off x="6342229" y="6302060"/>
            <a:ext cx="555939" cy="555939"/>
          </a:xfrm>
          <a:prstGeom prst="hexagon">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Isosceles Triangle 15"/>
          <p:cNvSpPr/>
          <p:nvPr/>
        </p:nvSpPr>
        <p:spPr>
          <a:xfrm>
            <a:off x="1006053" y="765657"/>
            <a:ext cx="556639" cy="556639"/>
          </a:xfrm>
          <a:prstGeom prst="triangl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Hexagon 16"/>
          <p:cNvSpPr/>
          <p:nvPr/>
        </p:nvSpPr>
        <p:spPr>
          <a:xfrm>
            <a:off x="11319836" y="852513"/>
            <a:ext cx="635899" cy="635899"/>
          </a:xfrm>
          <a:prstGeom prst="hexagon">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Pentagon 17"/>
          <p:cNvSpPr/>
          <p:nvPr/>
        </p:nvSpPr>
        <p:spPr>
          <a:xfrm>
            <a:off x="11651583" y="742653"/>
            <a:ext cx="537368" cy="537368"/>
          </a:xfrm>
          <a:prstGeom prst="homePlat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Hexagon 18"/>
          <p:cNvSpPr/>
          <p:nvPr/>
        </p:nvSpPr>
        <p:spPr>
          <a:xfrm>
            <a:off x="2869937" y="142466"/>
            <a:ext cx="493159" cy="493159"/>
          </a:xfrm>
          <a:prstGeom prst="hexagon">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Hexagon 19"/>
          <p:cNvSpPr/>
          <p:nvPr/>
        </p:nvSpPr>
        <p:spPr>
          <a:xfrm>
            <a:off x="11825713" y="2653449"/>
            <a:ext cx="363238" cy="363238"/>
          </a:xfrm>
          <a:prstGeom prst="hexagon">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Parallelogram 20"/>
          <p:cNvSpPr/>
          <p:nvPr/>
        </p:nvSpPr>
        <p:spPr>
          <a:xfrm>
            <a:off x="901068" y="5999352"/>
            <a:ext cx="350676" cy="350676"/>
          </a:xfrm>
          <a:prstGeom prst="parallelogram">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A6</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The paper focuses on mathematical and coding reasoning benchmarks (GSM8K, HumanEval, etc.). To what…</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The findings likely generalize with modifications to multi-hop factual reasoning and causal inference, which share structural properties with mathematical reasoning: they require chaining multiple inference steps where each step's output influences subsequent steps. The inverted-U relationship should appear in these domains as well, though the optimal TPP may differ because factual reasoning has different knowledge density requirements than mathematical reasoning. Common-sense reasoning may generalize less cleanly because it relies more heavily on memorized world knowledge (which scales monotonically with parameters) and less on compositional inference chains. The key generalizing principle is not the specific benchmarks used but the structural property: tasks requiring multi-step inference where errors compound across steps are susceptible to the active FLOPs limitation, while tasks primarily requiring knowledge retrieval are not.</a:t>
            </a:r>
          </a:p>
        </p:txBody>
      </p:sp>
      <p:sp>
        <p:nvSpPr>
          <p:cNvPr id="7" name="Oval 6"/>
          <p:cNvSpPr/>
          <p:nvPr/>
        </p:nvSpPr>
        <p:spPr>
          <a:xfrm>
            <a:off x="1186514" y="4279573"/>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50777" y="560590"/>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258644" y="2399632"/>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497237" y="2623192"/>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2639105" y="6494525"/>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3E3E"/>
                </a:solidFill>
                <a:latin typeface="Arial Black"/>
              </a:rPr>
              <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0982133" y="573582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9181486" y="656802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646736" y="468734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200350" y="427983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7455857" y="53706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2248931" y="634849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095864" y="58490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883589" y="525182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211665" y="18542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3661667" y="72856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Q7</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Given that the findings suggest sparsity-induced reasoning deficits cannot be patched post-hoc, what are the implications for the widespread practice of starting MoE training from dense model checkpoints (upcycling)? Does upcycling inherit the active-FLOPs constraint of the dense model, and does this limit the reasoning ceiling of upcycled MoE models?</a:t>
            </a:r>
          </a:p>
        </p:txBody>
      </p:sp>
      <p:sp>
        <p:nvSpPr>
          <p:cNvPr id="15" name="Pentagon 14"/>
          <p:cNvSpPr/>
          <p:nvPr/>
        </p:nvSpPr>
        <p:spPr>
          <a:xfrm>
            <a:off x="8579437" y="172363"/>
            <a:ext cx="604479" cy="604479"/>
          </a:xfrm>
          <a:prstGeom prst="homePlat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474598" y="3559800"/>
            <a:ext cx="711293" cy="711293"/>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03648" y="6554470"/>
            <a:ext cx="303529" cy="303529"/>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Parallelogram 17"/>
          <p:cNvSpPr/>
          <p:nvPr/>
        </p:nvSpPr>
        <p:spPr>
          <a:xfrm>
            <a:off x="7799512" y="6126858"/>
            <a:ext cx="458914" cy="458914"/>
          </a:xfrm>
          <a:prstGeom prst="parallelogram">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Pentagon 18"/>
          <p:cNvSpPr/>
          <p:nvPr/>
        </p:nvSpPr>
        <p:spPr>
          <a:xfrm>
            <a:off x="6453744" y="6307536"/>
            <a:ext cx="485706" cy="485706"/>
          </a:xfrm>
          <a:prstGeom prst="homePlate">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4559293" y="845101"/>
            <a:ext cx="467500" cy="467500"/>
          </a:xfrm>
          <a:prstGeom prst="ellips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Hexagon 20"/>
          <p:cNvSpPr/>
          <p:nvPr/>
        </p:nvSpPr>
        <p:spPr>
          <a:xfrm>
            <a:off x="323652" y="478129"/>
            <a:ext cx="535462" cy="535462"/>
          </a:xfrm>
          <a:prstGeom prst="hexagon">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Isosceles Triangle 21"/>
          <p:cNvSpPr/>
          <p:nvPr/>
        </p:nvSpPr>
        <p:spPr>
          <a:xfrm>
            <a:off x="10910940" y="6363482"/>
            <a:ext cx="494517" cy="494517"/>
          </a:xfrm>
          <a:prstGeom prst="triangl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Hexagon 22"/>
          <p:cNvSpPr/>
          <p:nvPr/>
        </p:nvSpPr>
        <p:spPr>
          <a:xfrm>
            <a:off x="11198680" y="5353153"/>
            <a:ext cx="613450" cy="613450"/>
          </a:xfrm>
          <a:prstGeom prst="hexagon">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Isosceles Triangle 23"/>
          <p:cNvSpPr/>
          <p:nvPr/>
        </p:nvSpPr>
        <p:spPr>
          <a:xfrm>
            <a:off x="91213" y="5780540"/>
            <a:ext cx="729199" cy="729199"/>
          </a:xfrm>
          <a:prstGeom prst="triangl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A7</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Given that the findings suggest sparsity-induced reasoning deficits cannot be patched post-hoc, wha…</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Upcycling from a dense model checkpoint creates an MoE model where the active-FLOPs structure is inherited from the dense base model — each MoE layer starts as a copy of the dense layer, and the MoE training differentiates the experts while preserving the base representation. This means an upcycled model begins with dense active-FLOP characteristics and can, in principle, maintain high active FLOPs if the top-k is kept high during MoE training. However, the standard upcycling practice often reduces the effective active FLOPs by using top-k=2 routing, which means the inherited dense representations are rapidly specialized into sparse activation patterns — potentially losing the reasoning capacity that benefited from full dense forward passes during the base model's pre-training. To preserve reasoning capability in upcycled MoE models, the paper's findings imply using higher top-k values and ensuring sufficient additional training tokens to reach the TPP optimum for the new, larger total parameter count.</a:t>
            </a:r>
          </a:p>
        </p:txBody>
      </p:sp>
      <p:sp>
        <p:nvSpPr>
          <p:cNvPr id="7" name="Oval 6"/>
          <p:cNvSpPr/>
          <p:nvPr/>
        </p:nvSpPr>
        <p:spPr>
          <a:xfrm>
            <a:off x="1643734" y="216827"/>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08971" y="2412939"/>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420988" y="2621807"/>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657553" y="1710053"/>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9362537" y="6353153"/>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A3FF"/>
                </a:solidFill>
                <a:latin typeface="Arial Black"/>
              </a:rPr>
              <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0D084"/>
        </a:solidFill>
        <a:effectLst/>
      </p:bgPr>
    </p:bg>
    <p:spTree>
      <p:nvGrpSpPr>
        <p:cNvPr id="1" name=""/>
        <p:cNvGrpSpPr/>
        <p:nvPr/>
      </p:nvGrpSpPr>
      <p:grpSpPr/>
      <p:sp>
        <p:nvSpPr>
          <p:cNvPr id="2" name="Isosceles Triangle 1"/>
          <p:cNvSpPr/>
          <p:nvPr/>
        </p:nvSpPr>
        <p:spPr>
          <a:xfrm>
            <a:off x="4521211" y="63562"/>
            <a:ext cx="626303" cy="626303"/>
          </a:xfrm>
          <a:prstGeom prst="triangle">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Pentagon 2"/>
          <p:cNvSpPr/>
          <p:nvPr/>
        </p:nvSpPr>
        <p:spPr>
          <a:xfrm>
            <a:off x="8095617" y="279323"/>
            <a:ext cx="545827" cy="545827"/>
          </a:xfrm>
          <a:prstGeom prst="homePlate">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6226029" y="6241518"/>
            <a:ext cx="616481" cy="616481"/>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Hexagon 4"/>
          <p:cNvSpPr/>
          <p:nvPr/>
        </p:nvSpPr>
        <p:spPr>
          <a:xfrm>
            <a:off x="190374" y="979399"/>
            <a:ext cx="472609" cy="472609"/>
          </a:xfrm>
          <a:prstGeom prst="hexagon">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8844332" y="5927283"/>
            <a:ext cx="568128" cy="568128"/>
          </a:xfrm>
          <a:prstGeom prst="rect">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080295" y="5689890"/>
            <a:ext cx="630551" cy="630551"/>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5216323" y="6044143"/>
            <a:ext cx="711135" cy="711135"/>
          </a:xfrm>
          <a:prstGeom prst="ellipse">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Diamond 8"/>
          <p:cNvSpPr/>
          <p:nvPr/>
        </p:nvSpPr>
        <p:spPr>
          <a:xfrm>
            <a:off x="5213511" y="642467"/>
            <a:ext cx="428023" cy="428023"/>
          </a:xfrm>
          <a:prstGeom prst="diamond">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365760" y="228600"/>
            <a:ext cx="3474720" cy="5486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Arial Black"/>
              </a:rPr>
              <a:t>KEY TAKEAWAY</a:t>
            </a:r>
          </a:p>
        </p:txBody>
      </p:sp>
      <p:sp>
        <p:nvSpPr>
          <p:cNvPr id="11" name="TextBox 10"/>
          <p:cNvSpPr txBox="1"/>
          <p:nvPr/>
        </p:nvSpPr>
        <p:spPr>
          <a:xfrm>
            <a:off x="457200" y="1005840"/>
            <a:ext cx="11183112" cy="5029200"/>
          </a:xfrm>
          <a:prstGeom prst="rect">
            <a:avLst/>
          </a:prstGeom>
          <a:noFill/>
        </p:spPr>
        <p:txBody>
          <a:bodyPr wrap="square"/>
          <a:lstStyle/>
          <a:p>
            <a:pPr algn="l"/>
            <a:r>
              <a:rPr sz="2000" b="0">
                <a:solidFill>
                  <a:srgbClr val="000000"/>
                </a:solidFill>
                <a:latin typeface="Arial"/>
              </a:rPr>
              <a:t>▶  (ICLR 2026 Oral)* &gt; This paper investigates how MoE sparsity affects reasoning vs. memorization tasks differently. The core finding: models with identical training loss but greater active compute achieve higher reasoning accuracy. Reasoning tasks exhibit a non-monotonic (inverted-U) relationship with tokens-per-parameter (TPP), peaking near 20 TPP before degrading — while memorization scales monotonically with total parameters. Neither RL post-training nor test-time compute eliminates the sparsity-induced reasoning gap.
▶  Two Principles for MoE Scaling: (1) Active FLOPs Principle — given equal training loss, more active parameters (higher top-k) wins on reasoning. Training loss alone is insufficient as a proxy for downstream reasoning quality. (2) TPP Principle — reasoning performance is non-monotonic in tokens-per-parameter: too few tokens per parameter (excess params) or too many (insufficient data per param) both hurt. Optimal TPP for reasoning ≈ 20.
▶  Reasoning vs. Memorization Diverge Fundamentally: Memorization (TriviaQA, HellaSwag) improves monotonically with more total parameters and tolerates high sparsity. Reasoning (GSM8K, GSM-Plus, HumanEval, MBPP) shows a U-shaped loss curve — accuracy can degrade despite better pre-training loss when too many experts are added without proportionally more data or active compute.</a:t>
            </a:r>
          </a:p>
        </p:txBody>
      </p:sp>
      <p:sp>
        <p:nvSpPr>
          <p:cNvPr id="12" name="Rectangle 11"/>
          <p:cNvSpPr/>
          <p:nvPr/>
        </p:nvSpPr>
        <p:spPr>
          <a:xfrm>
            <a:off x="457200"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21792"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786384"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950976"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1115568"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457200"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621792"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86384"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950976"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1115568"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11987784" y="0"/>
            <a:ext cx="201168"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0000"/>
                </a:solidFill>
                <a:latin typeface="Arial Black"/>
              </a:rPr>
              <a:t/>
            </a:r>
          </a:p>
        </p:txBody>
      </p:sp>
      <p:sp>
        <p:nvSpPr>
          <p:cNvPr id="23" name="Rectangle 22"/>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
        <p:nvSpPr>
          <p:cNvPr id="24" name="TextBox 23"/>
          <p:cNvSpPr txBox="1"/>
          <p:nvPr/>
        </p:nvSpPr>
        <p:spPr>
          <a:xfrm>
            <a:off x="457200" y="6355080"/>
            <a:ext cx="11274552" cy="347472"/>
          </a:xfrm>
          <a:prstGeom prst="rect">
            <a:avLst/>
          </a:prstGeom>
          <a:noFill/>
        </p:spPr>
        <p:txBody>
          <a:bodyPr wrap="square"/>
          <a:lstStyle/>
          <a:p>
            <a:pPr algn="l"/>
            <a:r>
              <a:rPr sz="1200" b="0">
                <a:solidFill>
                  <a:srgbClr val="000000"/>
                </a:solidFill>
                <a:latin typeface="Arial"/>
              </a:rPr>
              <a:t>Optimal Sparsity of Mixture-of-Experts Language Models for…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