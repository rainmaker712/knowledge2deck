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2268743" y="5804754"/>
            <a:ext cx="714281" cy="714281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rallelogram 2"/>
          <p:cNvSpPr/>
          <p:nvPr/>
        </p:nvSpPr>
        <p:spPr>
          <a:xfrm>
            <a:off x="4609268" y="5791190"/>
            <a:ext cx="731121" cy="731121"/>
          </a:xfrm>
          <a:prstGeom prst="parallelogram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208537" y="6165755"/>
            <a:ext cx="500626" cy="50062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rallelogram 4"/>
          <p:cNvSpPr/>
          <p:nvPr/>
        </p:nvSpPr>
        <p:spPr>
          <a:xfrm>
            <a:off x="592718" y="2910626"/>
            <a:ext cx="283460" cy="28346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Hexagon 5"/>
          <p:cNvSpPr/>
          <p:nvPr/>
        </p:nvSpPr>
        <p:spPr>
          <a:xfrm>
            <a:off x="4447579" y="918022"/>
            <a:ext cx="392440" cy="392440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>
            <a:off x="5701437" y="728940"/>
            <a:ext cx="381496" cy="381496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entagon 7"/>
          <p:cNvSpPr/>
          <p:nvPr/>
        </p:nvSpPr>
        <p:spPr>
          <a:xfrm>
            <a:off x="5600939" y="249569"/>
            <a:ext cx="303751" cy="303751"/>
          </a:xfrm>
          <a:prstGeom prst="homePlat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0000"/>
                </a:solidFill>
                <a:latin typeface="Arial Black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1274552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0000"/>
                </a:solidFill>
                <a:latin typeface="Arial Black"/>
              </a:rPr>
              <a:t>MiniCPM: Unveiling the Potential of Small Language Models with Scalable Training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94457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Shengding Hu, Yuge Tu, Xu Han, et al. (OpenBMB, Tsinghua University)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46304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E600"/>
                </a:solidFill>
                <a:latin typeface="Arial"/>
              </a:rPr>
              <a:t>24-04-09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D084"/>
                </a:solidFill>
                <a:latin typeface="Arial Black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64008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https://arxiv.org/abs/2404.06395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6384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50976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15568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319640" y="126231"/>
            <a:ext cx="493995" cy="493995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xagon 2"/>
          <p:cNvSpPr/>
          <p:nvPr/>
        </p:nvSpPr>
        <p:spPr>
          <a:xfrm>
            <a:off x="363337" y="2082922"/>
            <a:ext cx="376015" cy="376015"/>
          </a:xfrm>
          <a:prstGeom prst="hexagon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2732" y="5683493"/>
            <a:ext cx="635161" cy="635161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81958" y="4743206"/>
            <a:ext cx="483163" cy="483163"/>
          </a:xfrm>
          <a:prstGeom prst="rect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5498" y="3162755"/>
            <a:ext cx="634513" cy="634513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ntagon 6"/>
          <p:cNvSpPr/>
          <p:nvPr/>
        </p:nvSpPr>
        <p:spPr>
          <a:xfrm>
            <a:off x="9478300" y="876800"/>
            <a:ext cx="294439" cy="294439"/>
          </a:xfrm>
          <a:prstGeom prst="homePlat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iamond 7"/>
          <p:cNvSpPr/>
          <p:nvPr/>
        </p:nvSpPr>
        <p:spPr>
          <a:xfrm>
            <a:off x="365644" y="2830740"/>
            <a:ext cx="498296" cy="498296"/>
          </a:xfrm>
          <a:prstGeom prst="diamond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Hexagon 8"/>
          <p:cNvSpPr/>
          <p:nvPr/>
        </p:nvSpPr>
        <p:spPr>
          <a:xfrm>
            <a:off x="5110110" y="954575"/>
            <a:ext cx="494806" cy="494806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65760" y="274320"/>
            <a:ext cx="2194560" cy="47548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0040"/>
            <a:ext cx="889711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MiniCPM: Unveiling the Potential of Small Language Models with Scalab…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60120"/>
            <a:ext cx="1072591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1.2B와 2.4B 논임베딩 파라미터로 7B-13B 모델과 동등한 성능을 달성한다. 핵심 혁신은 Warmup-Stable-Decay(WSD) 학습률 스케줄러로, Chinchilla 최적보다 훨씬 높은 데이터-모델 비율을 가능하게 하며 별도 재학습 없이 지속적 학습을 지원한다.</a:t>
            </a:r>
          </a:p>
        </p:txBody>
      </p:sp>
      <p:sp>
        <p:nvSpPr>
          <p:cNvPr id="13" name="Oval 12"/>
          <p:cNvSpPr/>
          <p:nvPr/>
        </p:nvSpPr>
        <p:spPr>
          <a:xfrm>
            <a:off x="11444403" y="1341265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160411" y="114021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1137111" y="3521356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23904" y="938963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1254391" y="232604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62719" y="6534885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6B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11346629" y="5955948"/>
            <a:ext cx="540766" cy="540766"/>
          </a:xfrm>
          <a:prstGeom prst="parallelogram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rallelogram 2"/>
          <p:cNvSpPr/>
          <p:nvPr/>
        </p:nvSpPr>
        <p:spPr>
          <a:xfrm>
            <a:off x="5067776" y="956131"/>
            <a:ext cx="597361" cy="597361"/>
          </a:xfrm>
          <a:prstGeom prst="parallelogram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entagon 3"/>
          <p:cNvSpPr/>
          <p:nvPr/>
        </p:nvSpPr>
        <p:spPr>
          <a:xfrm>
            <a:off x="11835138" y="2731630"/>
            <a:ext cx="351427" cy="351427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452" y="1028748"/>
            <a:ext cx="588521" cy="588521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0545" y="289119"/>
            <a:ext cx="522161" cy="522161"/>
          </a:xfrm>
          <a:prstGeom prst="ellips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>
            <a:off x="3595328" y="304382"/>
            <a:ext cx="683413" cy="683413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arallelogram 7"/>
          <p:cNvSpPr/>
          <p:nvPr/>
        </p:nvSpPr>
        <p:spPr>
          <a:xfrm>
            <a:off x="11527060" y="1674887"/>
            <a:ext cx="661891" cy="661891"/>
          </a:xfrm>
          <a:prstGeom prst="parallelogram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451765" y="6086871"/>
            <a:ext cx="537836" cy="537836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498521" y="367387"/>
            <a:ext cx="505409" cy="505409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65760" y="228600"/>
            <a:ext cx="2926080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0000"/>
                </a:solidFill>
                <a:latin typeface="Arial Black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4552" y="27432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60120"/>
            <a:ext cx="1109167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WSD 스케줄러: Warmup → Stable(일정 LR 유지) → Decay(급격한 감쇠) 3단계 — Stable 단계 체크포인트에서 분기해 다양한 도메인 적응과 스케일링 실험을 광범위한 재학습 없이 수행 가능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Chinchilla를 넘는 데이터-모델 비율: 기존 Chinchilla 최적 비율보다 훨씬 높은 컴퓨팅 최적 데이터-모델 비율 도출 — 추론 비용을 고려한 생애주기 최적(inference-time compute optimal) 관점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2.4B ≈ 7B-13B 성능: MiniCPM-2.4B가 Llama-7B, Mistral-7B 등과 동등한 성능 달성 — 지식 집약적이지 않은 추론·코드·수학 태스크에서 성립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17352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81944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146536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311128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475720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817352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981944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146536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311128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475720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FF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233349" y="348608"/>
            <a:ext cx="325708" cy="32570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xagon 2"/>
          <p:cNvSpPr/>
          <p:nvPr/>
        </p:nvSpPr>
        <p:spPr>
          <a:xfrm>
            <a:off x="11159831" y="5794029"/>
            <a:ext cx="620691" cy="620691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Diamond 3"/>
          <p:cNvSpPr/>
          <p:nvPr/>
        </p:nvSpPr>
        <p:spPr>
          <a:xfrm>
            <a:off x="11620813" y="1309455"/>
            <a:ext cx="519224" cy="519224"/>
          </a:xfrm>
          <a:prstGeom prst="diamond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35199" y="1315391"/>
            <a:ext cx="283631" cy="283631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ntagon 5"/>
          <p:cNvSpPr/>
          <p:nvPr/>
        </p:nvSpPr>
        <p:spPr>
          <a:xfrm>
            <a:off x="8253926" y="6147002"/>
            <a:ext cx="710997" cy="710997"/>
          </a:xfrm>
          <a:prstGeom prst="homePlat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87407" y="968864"/>
            <a:ext cx="657765" cy="657765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2926080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0000"/>
                </a:solidFill>
                <a:latin typeface="Arial Black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4552" y="27432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1109167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지속적 학습 지원: WSD의 Stable 단계 체크포인트를 재사용해 새 도메인 데이터로 Decay를 재실행 — 학습 비용 대폭 절감하며 여러 특화 모델 효율적 생성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다양한 패밀리 변형: MiniCPM-DPO(선호 정렬), MiniCPM-MoE(Mixture of Experts), MiniCPM-128K(장문 128K 컨텍스트) — 스케일링 전략이 다운스트림 특화에도 적용됨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17352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981944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146536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311128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475720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817352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981944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146536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311128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475720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781" y="19041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264502" y="335161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49113" y="349309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033366" y="25068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730867" y="550505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176800" y="2541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171955" y="651070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954332" y="25109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04096" y="256032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867744" y="61955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WSD 학습률 스케줄러의 Stable 단계에서 일정한 학습률을 유지하는 것이 기존 cosine decay 스케줄러 대비 지속적 학습(continuous training)에서 구조적으로 유리한 이유는 무엇인가?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577938" y="6407476"/>
            <a:ext cx="450523" cy="450523"/>
          </a:xfrm>
          <a:prstGeom prst="triangle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10902568" y="5787986"/>
            <a:ext cx="437125" cy="437125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89664" y="4562677"/>
            <a:ext cx="323679" cy="323679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Isosceles Triangle 17"/>
          <p:cNvSpPr/>
          <p:nvPr/>
        </p:nvSpPr>
        <p:spPr>
          <a:xfrm>
            <a:off x="11524996" y="3525237"/>
            <a:ext cx="601775" cy="601775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Hexagon 18"/>
          <p:cNvSpPr/>
          <p:nvPr/>
        </p:nvSpPr>
        <p:spPr>
          <a:xfrm>
            <a:off x="7439527" y="1010671"/>
            <a:ext cx="598435" cy="598435"/>
          </a:xfrm>
          <a:prstGeom prst="hexagon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ntagon 19"/>
          <p:cNvSpPr/>
          <p:nvPr/>
        </p:nvSpPr>
        <p:spPr>
          <a:xfrm>
            <a:off x="11570821" y="5706507"/>
            <a:ext cx="618130" cy="618130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Hexagon 20"/>
          <p:cNvSpPr/>
          <p:nvPr/>
        </p:nvSpPr>
        <p:spPr>
          <a:xfrm>
            <a:off x="6075496" y="5831854"/>
            <a:ext cx="434821" cy="434821"/>
          </a:xfrm>
          <a:prstGeom prst="hexagon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WSD 학습률 스케줄러의 Stable 단계에서 일정한 학습률을 유지하는 것이 기존 cosine decay 스케줄러 대비 지속적 학습(continuous training)에서 구조…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Cosine decay 스케줄러는 학습 시작부터 끝까지 학습률이 단조 감소하므로, 학습이 완료된 체크포인트에서 새로운 데이터로 학습을 재개하려면 이미 매우 낮아진 학습률에서 시작해야 한다. 이 경우 새로운 데이터 분포에 적응할 수 있는 gradient의 크기가 부족하여 사실상 재학습에 가까운 비용이 발생한다. 반면 WSD의 Stable 단계는 학습률이 일정하게 유지되므로, 이 구간의 어느 체크포인트에서든 학습을 재개할 수 있고 Decay 단계만 짧게 수행하면 수렴된 모델을 얻을 수 있다. 이는 학습을 "분할 가능한 단위"로 만들어, 데이터가 점진적으로 추가되는 실제 배포 환경에서 전체 재학습 없이 모델을 지속적으로 개선할 수 있는 구조적 이점을 제공한다.</a:t>
            </a:r>
          </a:p>
        </p:txBody>
      </p:sp>
      <p:sp>
        <p:nvSpPr>
          <p:cNvPr id="7" name="Oval 6"/>
          <p:cNvSpPr/>
          <p:nvPr/>
        </p:nvSpPr>
        <p:spPr>
          <a:xfrm>
            <a:off x="1004547" y="3648270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746706" y="5633156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66162" y="314427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228111" y="5268862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883589" y="5251828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7941" y="229391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4758455" y="90556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5445114" y="2850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2365" y="161807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236620" y="246013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479739" y="605417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28154" y="16504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118025" y="404700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692916" y="132302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18935" y="24378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Chinchilla 최적 비율보다 높은 데이터-모델 비율이 소형 모델에서 특히 효과적인 이유는 무엇이며, 이는 기존 스케일링 법칙의 어떤 가정을 재검토하게 만드는가?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11507660" y="2960390"/>
            <a:ext cx="681291" cy="681291"/>
          </a:xfrm>
          <a:prstGeom prst="parallelogram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9767109" y="84409"/>
            <a:ext cx="482182" cy="482182"/>
          </a:xfrm>
          <a:prstGeom prst="hexagon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1999512" y="424530"/>
            <a:ext cx="334837" cy="334837"/>
          </a:xfrm>
          <a:prstGeom prst="hexagon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iamond 17"/>
          <p:cNvSpPr/>
          <p:nvPr/>
        </p:nvSpPr>
        <p:spPr>
          <a:xfrm>
            <a:off x="579428" y="3937121"/>
            <a:ext cx="332169" cy="332169"/>
          </a:xfrm>
          <a:prstGeom prst="diamond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111893" y="6431757"/>
            <a:ext cx="426242" cy="426242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647777" y="6131311"/>
            <a:ext cx="726688" cy="726688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sosceles Triangle 20"/>
          <p:cNvSpPr/>
          <p:nvPr/>
        </p:nvSpPr>
        <p:spPr>
          <a:xfrm>
            <a:off x="10164440" y="5840575"/>
            <a:ext cx="545069" cy="545069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arallelogram 21"/>
          <p:cNvSpPr/>
          <p:nvPr/>
        </p:nvSpPr>
        <p:spPr>
          <a:xfrm>
            <a:off x="11643137" y="1618758"/>
            <a:ext cx="492949" cy="492949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336849" y="6299019"/>
            <a:ext cx="338912" cy="33891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813274" y="1122878"/>
            <a:ext cx="375677" cy="375677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Chinchilla 최적 비율보다 높은 데이터-모델 비율이 소형 모델에서 특히 효과적인 이유는 무엇이며, 이는 기존 스케일링 법칙의 어떤 가정을 재검토하게 만드는가?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Chinchilla 스케일링 법칙은 모델 크기와 학습 데이터 양의 최적 비율을 컴퓨팅 예산이 고정된 상태에서 도출했으며, 대체로 파라미터 수와 토큰 수가 1:20 정도의 비율이 최적이라고 제안한다. 그러나 이 법칙은 추론 비용을 고려하지 않는다. 소형 모델은 추론 비용이 모델 크기에 비례하여 크게 절감되므로, 학습에 더 많은 컴퓨팅을 투자하더라도 전체 생애주기(학습 + 추론) 비용이 유리해진다. MiniCPM은 Chinchilla 비율보다 훨씬 많은 데이터(높은 데이터-모델 비율)로 학습하는 것이 소형 모델의 성능을 극대화하는 데 효과적임을 실험적으로 보이며, "추론 시간 컴퓨팅 최적(inference-time compute optimal)" 관점에서 스케일링 법칙을 재해석해야 함을 시사한다.</a:t>
            </a:r>
          </a:p>
        </p:txBody>
      </p:sp>
      <p:sp>
        <p:nvSpPr>
          <p:cNvPr id="7" name="Oval 6"/>
          <p:cNvSpPr/>
          <p:nvPr/>
        </p:nvSpPr>
        <p:spPr>
          <a:xfrm>
            <a:off x="4610790" y="1016369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447861" y="684596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082784" y="4049241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159141" y="1847692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547548" y="596478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A3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35799" y="75491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354226" y="120473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371994" y="608393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531453" y="624003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026996" y="48554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228881" y="7504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919658" y="652640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692661" y="123033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289614" y="408176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311257" y="632730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Wind tunnel 실험 방법론에서 소규모 모델의 하이퍼파라미터 탐색 결과를 대규모 모델로 전이(transfer)할 때, 어떤 하이퍼파라미터가 안정적으로 전이되고 어떤 것이 그렇지 않은가?</a:t>
            </a:r>
          </a:p>
        </p:txBody>
      </p:sp>
      <p:sp>
        <p:nvSpPr>
          <p:cNvPr id="15" name="Oval 14"/>
          <p:cNvSpPr/>
          <p:nvPr/>
        </p:nvSpPr>
        <p:spPr>
          <a:xfrm>
            <a:off x="11509390" y="5707405"/>
            <a:ext cx="624535" cy="624535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ntagon 15"/>
          <p:cNvSpPr/>
          <p:nvPr/>
        </p:nvSpPr>
        <p:spPr>
          <a:xfrm>
            <a:off x="7349984" y="6430008"/>
            <a:ext cx="401433" cy="401433"/>
          </a:xfrm>
          <a:prstGeom prst="homePlat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iamond 16"/>
          <p:cNvSpPr/>
          <p:nvPr/>
        </p:nvSpPr>
        <p:spPr>
          <a:xfrm>
            <a:off x="7788953" y="562246"/>
            <a:ext cx="475241" cy="475241"/>
          </a:xfrm>
          <a:prstGeom prst="diamond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Hexagon 17"/>
          <p:cNvSpPr/>
          <p:nvPr/>
        </p:nvSpPr>
        <p:spPr>
          <a:xfrm>
            <a:off x="4574371" y="599465"/>
            <a:ext cx="677410" cy="677410"/>
          </a:xfrm>
          <a:prstGeom prst="hexagon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Isosceles Triangle 18"/>
          <p:cNvSpPr/>
          <p:nvPr/>
        </p:nvSpPr>
        <p:spPr>
          <a:xfrm>
            <a:off x="11677232" y="4897011"/>
            <a:ext cx="511719" cy="511719"/>
          </a:xfrm>
          <a:prstGeom prst="triangl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>
            <a:off x="835451" y="631963"/>
            <a:ext cx="347530" cy="347530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Wind tunnel 실험 방법론에서 소규모 모델의 하이퍼파라미터 탐색 결과를 대규모 모델로 전이(transfer)할 때, 어떤 하이퍼파라미터가 안정적으로 전이되고 어떤 것이 그…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Wind tunnel 실험은 소규모 프록시 모델에서 광범위한 하이퍼파라미터 탐색을 수행한 뒤 타겟 규모(1.2B, 2.4B)로 전이하는 방법론이다. 일반적으로 배치 크기, 학습률의 상대적 스케줄(warmup 비율, decay 비율 등), 데이터 혼합 비율은 모델 규모 간 비교적 안정적으로 전이된다. 반면 절대적 학습률 값은 모델 크기에 따라 재조정이 필요하며, 이는 mu-Parametrization(muP) 같은 기법으로 보완할 수 있다. 정규화 강도(dropout, weight decay) 같은 파라미터도 규모 전이 시 재조정이 필요한 경우가 많다.</a:t>
            </a:r>
          </a:p>
        </p:txBody>
      </p:sp>
      <p:sp>
        <p:nvSpPr>
          <p:cNvPr id="7" name="Oval 6"/>
          <p:cNvSpPr/>
          <p:nvPr/>
        </p:nvSpPr>
        <p:spPr>
          <a:xfrm>
            <a:off x="4924984" y="154271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36871" y="6275184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506200" y="3488811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027161" y="2302395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677174" y="5900537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D084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53453" y="482054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3298901" y="120915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155917" y="211087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42701" y="147585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284746" y="11650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19452" y="268243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591387" y="156058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684901" y="140570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12916" y="1002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322087" y="634353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MiniCPM-2.4B가 Llama-7B, Mistral-7B와 동등한 성능을 달성한다고 주장하는데, 이 비교가 성립하는 벤치마크 범위와 성립하지 않는 영역은 각각 무엇인가?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11430450" y="5508612"/>
            <a:ext cx="481561" cy="481561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1246798" y="428472"/>
            <a:ext cx="623132" cy="623132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sosceles Triangle 16"/>
          <p:cNvSpPr/>
          <p:nvPr/>
        </p:nvSpPr>
        <p:spPr>
          <a:xfrm>
            <a:off x="326420" y="1040590"/>
            <a:ext cx="586381" cy="586381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arallelogram 17"/>
          <p:cNvSpPr/>
          <p:nvPr/>
        </p:nvSpPr>
        <p:spPr>
          <a:xfrm>
            <a:off x="240124" y="5378812"/>
            <a:ext cx="630306" cy="630306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amond 18"/>
          <p:cNvSpPr/>
          <p:nvPr/>
        </p:nvSpPr>
        <p:spPr>
          <a:xfrm>
            <a:off x="6376360" y="1054838"/>
            <a:ext cx="592927" cy="592927"/>
          </a:xfrm>
          <a:prstGeom prst="diamond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>
            <a:off x="661062" y="4367980"/>
            <a:ext cx="434016" cy="434016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65184" y="5251064"/>
            <a:ext cx="718338" cy="71833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380067" y="6388273"/>
            <a:ext cx="320190" cy="320190"/>
          </a:xfrm>
          <a:prstGeom prst="rect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arallelogram 22"/>
          <p:cNvSpPr/>
          <p:nvPr/>
        </p:nvSpPr>
        <p:spPr>
          <a:xfrm>
            <a:off x="4501684" y="227549"/>
            <a:ext cx="721736" cy="72173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202784" y="5505987"/>
            <a:ext cx="384347" cy="384347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A4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MiniCPM-2.4B가 Llama-7B, Mistral-7B와 동등한 성능을 달성한다고 주장하는데, 이 비교가 성립하는 벤치마크 범위와 성립하지 않는 영역은 각각 무엇인가?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소형 모델이 대형 모델과 동등한 성능을 보이는 영역은 주로 지식 집약적이지 않은 태스크들이다. 상식 추론(ARC, HellaSwag), 코드 생성(HumanEval), 수학 문제 풀이(GSM8K) 등에서 MiniCPM-2.4B는 7B 모델과 경쟁력 있는 결과를 보인다. 그러나 파라미터 수가 직접적으로 저장할 수 있는 사실적 지식의 양을 제한하므로, 방대한 세계 지식이 필요한 개방형 질의응답이나 다국어 태스크에서는 7B-13B 모델 대비 열세일 가능성이 높다. 벤치마크 평균 점수의 동등성이 모든 응용에서의 동등성을 의미하지 않는다는 점을 유의해야 한다.</a:t>
            </a:r>
          </a:p>
        </p:txBody>
      </p:sp>
      <p:sp>
        <p:nvSpPr>
          <p:cNvPr id="7" name="Oval 6"/>
          <p:cNvSpPr/>
          <p:nvPr/>
        </p:nvSpPr>
        <p:spPr>
          <a:xfrm>
            <a:off x="10139045" y="1200677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727894" y="738375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880191" y="1081091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4012" y="443521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6368" y="3992004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6B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81429" y="65624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152814" y="442856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127116" y="571298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04594" y="573678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786443" y="195254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5330" y="276965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885839" y="487126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542269" y="64575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02707" y="448177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46260" y="304906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MiniCPM-MoE 변형에서 Mixture of Experts 아키텍처를 소형 모델에 적용할 때, 대형 MoE 모델과 비교하여 전문가(expert) 수와 활성화 비율 설계에서 어떤 트레이드오프가 존재하는가?</a:t>
            </a:r>
          </a:p>
        </p:txBody>
      </p:sp>
      <p:sp>
        <p:nvSpPr>
          <p:cNvPr id="15" name="Pentagon 14"/>
          <p:cNvSpPr/>
          <p:nvPr/>
        </p:nvSpPr>
        <p:spPr>
          <a:xfrm>
            <a:off x="11471229" y="83754"/>
            <a:ext cx="717722" cy="717722"/>
          </a:xfrm>
          <a:prstGeom prst="homePlat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596952" y="6457200"/>
            <a:ext cx="400799" cy="400799"/>
          </a:xfrm>
          <a:prstGeom prst="hexagon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340537" y="4820588"/>
            <a:ext cx="570868" cy="570868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iamond 17"/>
          <p:cNvSpPr/>
          <p:nvPr/>
        </p:nvSpPr>
        <p:spPr>
          <a:xfrm>
            <a:off x="698631" y="3661981"/>
            <a:ext cx="358723" cy="358723"/>
          </a:xfrm>
          <a:prstGeom prst="diamond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ntagon 18"/>
          <p:cNvSpPr/>
          <p:nvPr/>
        </p:nvSpPr>
        <p:spPr>
          <a:xfrm>
            <a:off x="8380135" y="764278"/>
            <a:ext cx="575316" cy="575316"/>
          </a:xfrm>
          <a:prstGeom prst="homePlat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42594" y="5961517"/>
            <a:ext cx="285420" cy="28542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439638" y="60636"/>
            <a:ext cx="684363" cy="684363"/>
          </a:xfrm>
          <a:prstGeom prst="ellips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Diamond 21"/>
          <p:cNvSpPr/>
          <p:nvPr/>
        </p:nvSpPr>
        <p:spPr>
          <a:xfrm>
            <a:off x="11678739" y="567717"/>
            <a:ext cx="510212" cy="510212"/>
          </a:xfrm>
          <a:prstGeom prst="diamond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ntagon 22"/>
          <p:cNvSpPr/>
          <p:nvPr/>
        </p:nvSpPr>
        <p:spPr>
          <a:xfrm>
            <a:off x="5189508" y="528426"/>
            <a:ext cx="550160" cy="550160"/>
          </a:xfrm>
          <a:prstGeom prst="homePlat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Isosceles Triangle 23"/>
          <p:cNvSpPr/>
          <p:nvPr/>
        </p:nvSpPr>
        <p:spPr>
          <a:xfrm>
            <a:off x="11169991" y="347584"/>
            <a:ext cx="450570" cy="450570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A5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MiniCPM-MoE 변형에서 Mixture of Experts 아키텍처를 소형 모델에 적용할 때, 대형 MoE 모델과 비교하여 전문가(expert) 수와 활성화 비율 설계에서…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소형 MoE 모델에서의 핵심 트레이드오프는 전문가 수 대비 개별 전문가의 용량이다. Mixtral-8x7B 같은 대형 MoE는 각 전문가가 7B급 파라미터를 가지므로 개별 전문가의 표현력이 충분하지만, MiniCPM-MoE에서는 전체 파라미터 예산이 제한되어 전문가 수를 늘리면 개별 전문가의 크기가 과도하게 작아진다. 이는 각 전문가의 전문화(specialization) 품질을 저하시킬 수 있다. 반면 전문가 수가 너무 적으면 조건부 계산(conditional computation)의 효과가 줄어든다. 이러한 설계 결정의 구체적 수치와 ablation 결과는 논문 전문 확인이 필요하다.</a:t>
            </a:r>
          </a:p>
        </p:txBody>
      </p:sp>
      <p:sp>
        <p:nvSpPr>
          <p:cNvPr id="7" name="Oval 6"/>
          <p:cNvSpPr/>
          <p:nvPr/>
        </p:nvSpPr>
        <p:spPr>
          <a:xfrm>
            <a:off x="979244" y="257050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661178" y="484300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239323" y="37968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435510" y="460961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383309" y="13853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63428" y="8528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322826" y="606343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4151406" y="72662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308102" y="72547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696690" y="530280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823111" y="70693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990017" y="7933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162094" y="586171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423336" y="131429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329996" y="629566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WSD 스케줄러의 Decay 단계에서 체크포인트를 저장한 뒤 새로운 데이터로 Stable 단계부터 재개하는 지속적 학습 전략이, 처음부터 전체 데이터를 포함하여 재학습하는 것 대비 성능 손실 없이 비용을 절감할 수 있는 조건은 무엇인가?</a:t>
            </a:r>
          </a:p>
        </p:txBody>
      </p:sp>
      <p:sp>
        <p:nvSpPr>
          <p:cNvPr id="15" name="Diamond 14"/>
          <p:cNvSpPr/>
          <p:nvPr/>
        </p:nvSpPr>
        <p:spPr>
          <a:xfrm>
            <a:off x="180297" y="711596"/>
            <a:ext cx="484302" cy="484302"/>
          </a:xfrm>
          <a:prstGeom prst="diamond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arallelogram 15"/>
          <p:cNvSpPr/>
          <p:nvPr/>
        </p:nvSpPr>
        <p:spPr>
          <a:xfrm>
            <a:off x="613238" y="6338122"/>
            <a:ext cx="381960" cy="381960"/>
          </a:xfrm>
          <a:prstGeom prst="parallelogram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07671" y="700158"/>
            <a:ext cx="513002" cy="513002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236802" y="2249330"/>
            <a:ext cx="672986" cy="672986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Hexagon 18"/>
          <p:cNvSpPr/>
          <p:nvPr/>
        </p:nvSpPr>
        <p:spPr>
          <a:xfrm>
            <a:off x="11472141" y="3871552"/>
            <a:ext cx="716810" cy="716810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Hexagon 19"/>
          <p:cNvSpPr/>
          <p:nvPr/>
        </p:nvSpPr>
        <p:spPr>
          <a:xfrm>
            <a:off x="11620847" y="3947090"/>
            <a:ext cx="373317" cy="373317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sosceles Triangle 20"/>
          <p:cNvSpPr/>
          <p:nvPr/>
        </p:nvSpPr>
        <p:spPr>
          <a:xfrm>
            <a:off x="11701892" y="6370940"/>
            <a:ext cx="487059" cy="487059"/>
          </a:xfrm>
          <a:prstGeom prst="triangl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160576" y="6159635"/>
            <a:ext cx="415311" cy="415311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A6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WSD 스케줄러의 Decay 단계에서 체크포인트를 저장한 뒤 새로운 데이터로 Stable 단계부터 재개하는 지속적 학습 전략이, 처음부터 전체 데이터를 포함하여 재학습하는 것 대…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WSD 기반 지속적 학습이 재학습 대비 성능 손실 없이 작동하려면: 첫째, 새로 추가되는 데이터의 분포가 기존 학습 데이터와 극단적으로 다르지 않아야 한다. 분포 차이가 크면 기존 지식의 catastrophic forgetting이 발생할 수 있다. 둘째, Stable 단계에서의 모델 상태가 손실 곡면(loss landscape)의 비교적 평탄한 영역에 있어야 하며, 이는 WSD 스케줄러의 설계 의도이기도 하다. 셋째, 새로운 데이터의 양이 Stable 단계의 잔여 학습 예산 내에서 충분히 소화될 수 있어야 한다. 대규모 도메인 전환의 경우에는 지속적 학습만으로 충분하지 않을 수 있으며 데이터 혼합 전략이 필요하다.</a:t>
            </a:r>
          </a:p>
        </p:txBody>
      </p:sp>
      <p:sp>
        <p:nvSpPr>
          <p:cNvPr id="7" name="Oval 6"/>
          <p:cNvSpPr/>
          <p:nvPr/>
        </p:nvSpPr>
        <p:spPr>
          <a:xfrm>
            <a:off x="174124" y="1974325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105847" y="1213707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7069" y="6289688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742765" y="1918393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91287" y="3120571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48360" y="585676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344997" y="623744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51040" y="536569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98270" y="38204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3474854" y="100943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619582" y="676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65857" y="88924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79272" y="38427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657338" y="123914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884211" y="4607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MiniCPM-128K의 장문 컨텍스트 확장이 1.2B-2.4B 규모에서 갖는 실질적 한계는 무엇이며, 모델 크기와 유효 컨텍스트 활용 능력 사이의 관계를 어떻게 이해해야 하는가?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11359782" y="5075169"/>
            <a:ext cx="314181" cy="314181"/>
          </a:xfrm>
          <a:prstGeom prst="triangle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ntagon 15"/>
          <p:cNvSpPr/>
          <p:nvPr/>
        </p:nvSpPr>
        <p:spPr>
          <a:xfrm>
            <a:off x="941740" y="1040409"/>
            <a:ext cx="531412" cy="531412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10305119" y="859194"/>
            <a:ext cx="386408" cy="386408"/>
          </a:xfrm>
          <a:prstGeom prst="hexagon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1194304" y="352289"/>
            <a:ext cx="277335" cy="277335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arallelogram 18"/>
          <p:cNvSpPr/>
          <p:nvPr/>
        </p:nvSpPr>
        <p:spPr>
          <a:xfrm>
            <a:off x="1003849" y="3499548"/>
            <a:ext cx="688821" cy="688821"/>
          </a:xfrm>
          <a:prstGeom prst="parallelogram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arallelogram 19"/>
          <p:cNvSpPr/>
          <p:nvPr/>
        </p:nvSpPr>
        <p:spPr>
          <a:xfrm>
            <a:off x="406891" y="4855215"/>
            <a:ext cx="291119" cy="291119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A7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MiniCPM-128K의 장문 컨텍스트 확장이 1.2B-2.4B 규모에서 갖는 실질적 한계는 무엇이며, 모델 크기와 유효 컨텍스트 활용 능력 사이의 관계를 어떻게 이해해야 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1.2B-2.4B 규모에서 128K 컨텍스트는 기술적으로 가능하더라도 실질적 한계가 존재한다. 모델의 파라미터 수는 한 번의 forward pass에서 처리할 수 있는 정보의 압축 및 통합 능력을 결정하므로, 128K 토큰의 정보를 모두 유효하게 활용하려면 충분한 모델 용량이 필요하다. "Needle in a Haystack" 같은 단순 검색 태스크에서는 소형 모델도 긴 컨텍스트를 효과적으로 활용할 수 있지만, 긴 문서 전체를 종합하여 추론하는 복잡한 태스크에서는 모델 용량 부족이 병목이 된다. 소형 모델에서 "유효 컨텍스트 윈도우"가 명목상 컨텍스트 길이보다 짧아지는 경향이 있으며, "lost in the middle" 현상이 더 심화될 수 있다.</a:t>
            </a:r>
          </a:p>
        </p:txBody>
      </p:sp>
      <p:sp>
        <p:nvSpPr>
          <p:cNvPr id="7" name="Oval 6"/>
          <p:cNvSpPr/>
          <p:nvPr/>
        </p:nvSpPr>
        <p:spPr>
          <a:xfrm>
            <a:off x="2810735" y="135347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075627" y="82259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74643" y="551962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46464" y="457949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014253" y="6278271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A3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0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4706" y="5217664"/>
            <a:ext cx="480108" cy="480108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iamond 2"/>
          <p:cNvSpPr/>
          <p:nvPr/>
        </p:nvSpPr>
        <p:spPr>
          <a:xfrm>
            <a:off x="3936457" y="6211983"/>
            <a:ext cx="646016" cy="646016"/>
          </a:xfrm>
          <a:prstGeom prst="diamond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Hexagon 3"/>
          <p:cNvSpPr/>
          <p:nvPr/>
        </p:nvSpPr>
        <p:spPr>
          <a:xfrm>
            <a:off x="224202" y="342761"/>
            <a:ext cx="653145" cy="653145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Hexagon 4"/>
          <p:cNvSpPr/>
          <p:nvPr/>
        </p:nvSpPr>
        <p:spPr>
          <a:xfrm>
            <a:off x="970810" y="410154"/>
            <a:ext cx="566791" cy="566791"/>
          </a:xfrm>
          <a:prstGeom prst="hexagon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Hexagon 5"/>
          <p:cNvSpPr/>
          <p:nvPr/>
        </p:nvSpPr>
        <p:spPr>
          <a:xfrm>
            <a:off x="466752" y="3211370"/>
            <a:ext cx="335359" cy="335359"/>
          </a:xfrm>
          <a:prstGeom prst="hexagon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ntagon 6"/>
          <p:cNvSpPr/>
          <p:nvPr/>
        </p:nvSpPr>
        <p:spPr>
          <a:xfrm>
            <a:off x="11501348" y="4769981"/>
            <a:ext cx="687603" cy="687603"/>
          </a:xfrm>
          <a:prstGeom prst="homePlat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124370" y="5632365"/>
            <a:ext cx="584047" cy="584047"/>
          </a:xfrm>
          <a:prstGeom prst="ellips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65760" y="228600"/>
            <a:ext cx="347472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183112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▶  WSD 스케줄러: Warmup → Stable(일정 LR 유지) → Decay(급격한 감쇠) 3단계 — Stable 단계 체크포인트에서 분기해 다양한 도메인 적응과 스케일링 실험을 광범위한 재학습 없이 수행 가능
▶  Chinchilla를 넘는 데이터-모델 비율: 기존 Chinchilla 최적 비율보다 훨씬 높은 컴퓨팅 최적 데이터-모델 비율 도출 — 추론 비용을 고려한 생애주기 최적(inference-time compute optimal) 관점
▶  2.4B ≈ 7B-13B 성능: MiniCPM-2.4B가 Llama-7B, Mistral-7B 등과 동등한 성능 달성 — 지식 집약적이지 않은 추론·코드·수학 태스크에서 성립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50976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15568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57200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6384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50976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15568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0000"/>
                </a:solidFill>
                <a:latin typeface="Arial Black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12745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MiniCPM: Unveiling the Potential of Small Language Models w…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