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E600"/>
        </a:solidFill>
        <a:effectLst/>
      </p:bgPr>
    </p:bg>
    <p:spTree>
      <p:nvGrpSpPr>
        <p:cNvPr id="1" name=""/>
        <p:cNvGrpSpPr/>
        <p:nvPr/>
      </p:nvGrpSpPr>
      <p:grpSpPr/>
      <p:sp>
        <p:nvSpPr>
          <p:cNvPr id="2" name="Isosceles Triangle 1"/>
          <p:cNvSpPr/>
          <p:nvPr/>
        </p:nvSpPr>
        <p:spPr>
          <a:xfrm>
            <a:off x="2268743" y="5804754"/>
            <a:ext cx="714281" cy="714281"/>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4609268" y="5791190"/>
            <a:ext cx="731121" cy="731121"/>
          </a:xfrm>
          <a:prstGeom prst="parallelogram">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208537" y="6165755"/>
            <a:ext cx="500626" cy="500626"/>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592718" y="2910626"/>
            <a:ext cx="283460" cy="283460"/>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exagon 5"/>
          <p:cNvSpPr/>
          <p:nvPr/>
        </p:nvSpPr>
        <p:spPr>
          <a:xfrm>
            <a:off x="4447579" y="918022"/>
            <a:ext cx="392440" cy="392440"/>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5701437" y="728940"/>
            <a:ext cx="381496" cy="381496"/>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entagon 7"/>
          <p:cNvSpPr/>
          <p:nvPr/>
        </p:nvSpPr>
        <p:spPr>
          <a:xfrm>
            <a:off x="5600939" y="249569"/>
            <a:ext cx="303751" cy="303751"/>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0" y="0"/>
            <a:ext cx="12188952" cy="16459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10" name="TextBox 9"/>
          <p:cNvSpPr txBox="1"/>
          <p:nvPr/>
        </p:nvSpPr>
        <p:spPr>
          <a:xfrm>
            <a:off x="457200" y="365760"/>
            <a:ext cx="11274552" cy="3200400"/>
          </a:xfrm>
          <a:prstGeom prst="rect">
            <a:avLst/>
          </a:prstGeom>
          <a:noFill/>
        </p:spPr>
        <p:txBody>
          <a:bodyPr wrap="square"/>
          <a:lstStyle/>
          <a:p>
            <a:pPr algn="l"/>
            <a:r>
              <a:rPr sz="4000" b="1">
                <a:solidFill>
                  <a:srgbClr val="000000"/>
                </a:solidFill>
                <a:latin typeface="Arial Black"/>
              </a:rPr>
              <a:t>Data-Efficient Pre-training by Scaling Synthetic Megadocs</a:t>
            </a:r>
          </a:p>
        </p:txBody>
      </p:sp>
      <p:sp>
        <p:nvSpPr>
          <p:cNvPr id="11" name="TextBox 10"/>
          <p:cNvSpPr txBox="1"/>
          <p:nvPr/>
        </p:nvSpPr>
        <p:spPr>
          <a:xfrm>
            <a:off x="457200" y="3840480"/>
            <a:ext cx="9445752" cy="548640"/>
          </a:xfrm>
          <a:prstGeom prst="rect">
            <a:avLst/>
          </a:prstGeom>
          <a:noFill/>
        </p:spPr>
        <p:txBody>
          <a:bodyPr wrap="square"/>
          <a:lstStyle/>
          <a:p>
            <a:pPr algn="l"/>
            <a:r>
              <a:rPr sz="1600" b="0">
                <a:solidFill>
                  <a:srgbClr val="000000"/>
                </a:solidFill>
                <a:latin typeface="Arial"/>
              </a:rPr>
              <a:t>Konwoo Kim, Suhas Kotha, Yejin Choi, Tatsunori Hashimoto, Nick Haber, Percy Liang</a:t>
            </a:r>
          </a:p>
        </p:txBody>
      </p:sp>
      <p:sp>
        <p:nvSpPr>
          <p:cNvPr id="12" name="Rectangle 11"/>
          <p:cNvSpPr/>
          <p:nvPr/>
        </p:nvSpPr>
        <p:spPr>
          <a:xfrm>
            <a:off x="457200" y="4572000"/>
            <a:ext cx="1463040" cy="3200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1">
                <a:solidFill>
                  <a:srgbClr val="FFE600"/>
                </a:solidFill>
                <a:latin typeface="Arial"/>
              </a:rPr>
              <a:t>26-03-19</a:t>
            </a:r>
          </a:p>
        </p:txBody>
      </p:sp>
      <p:sp>
        <p:nvSpPr>
          <p:cNvPr id="13" name="Rectangle 12"/>
          <p:cNvSpPr/>
          <p:nvPr/>
        </p:nvSpPr>
        <p:spPr>
          <a:xfrm>
            <a:off x="0" y="0"/>
            <a:ext cx="201168"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
        <p:nvSpPr>
          <p:cNvPr id="14" name="Rectangle 13"/>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
        <p:nvSpPr>
          <p:cNvPr id="15" name="TextBox 14"/>
          <p:cNvSpPr txBox="1"/>
          <p:nvPr/>
        </p:nvSpPr>
        <p:spPr>
          <a:xfrm>
            <a:off x="7159752" y="6400800"/>
            <a:ext cx="4754880" cy="365760"/>
          </a:xfrm>
          <a:prstGeom prst="rect">
            <a:avLst/>
          </a:prstGeom>
          <a:noFill/>
        </p:spPr>
        <p:txBody>
          <a:bodyPr wrap="square"/>
          <a:lstStyle/>
          <a:p>
            <a:pPr algn="l"/>
            <a:r>
              <a:rPr sz="1100" b="0">
                <a:solidFill>
                  <a:srgbClr val="000000"/>
                </a:solidFill>
                <a:latin typeface="Arial"/>
              </a:rPr>
              <a:t>https://arxiv.org/abs/2603.18534</a:t>
            </a:r>
          </a:p>
        </p:txBody>
      </p:sp>
      <p:sp>
        <p:nvSpPr>
          <p:cNvPr id="16" name="Rectangle 15"/>
          <p:cNvSpPr/>
          <p:nvPr/>
        </p:nvSpPr>
        <p:spPr>
          <a:xfrm>
            <a:off x="457200"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1792"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86384"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50976"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15568"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7"/>
        </a:solidFill>
        <a:effectLst/>
      </p:bgPr>
    </p:bg>
    <p:spTree>
      <p:nvGrpSpPr>
        <p:cNvPr id="1" name=""/>
        <p:cNvGrpSpPr/>
        <p:nvPr/>
      </p:nvGrpSpPr>
      <p:grpSpPr/>
      <p:sp>
        <p:nvSpPr>
          <p:cNvPr id="2" name="Rectangle 1"/>
          <p:cNvSpPr/>
          <p:nvPr/>
        </p:nvSpPr>
        <p:spPr>
          <a:xfrm>
            <a:off x="11319640" y="126231"/>
            <a:ext cx="493995" cy="493995"/>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Hexagon 2"/>
          <p:cNvSpPr/>
          <p:nvPr/>
        </p:nvSpPr>
        <p:spPr>
          <a:xfrm>
            <a:off x="363337" y="2082922"/>
            <a:ext cx="376015" cy="376015"/>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2732" y="5683493"/>
            <a:ext cx="635161" cy="635161"/>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081958" y="4743206"/>
            <a:ext cx="483163" cy="483163"/>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65498" y="3162755"/>
            <a:ext cx="634513" cy="634513"/>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entagon 6"/>
          <p:cNvSpPr/>
          <p:nvPr/>
        </p:nvSpPr>
        <p:spPr>
          <a:xfrm>
            <a:off x="9478300" y="876800"/>
            <a:ext cx="294439" cy="294439"/>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Diamond 7"/>
          <p:cNvSpPr/>
          <p:nvPr/>
        </p:nvSpPr>
        <p:spPr>
          <a:xfrm>
            <a:off x="365644" y="2830740"/>
            <a:ext cx="498296" cy="498296"/>
          </a:xfrm>
          <a:prstGeom prst="diamond">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Hexagon 8"/>
          <p:cNvSpPr/>
          <p:nvPr/>
        </p:nvSpPr>
        <p:spPr>
          <a:xfrm>
            <a:off x="5110110" y="954575"/>
            <a:ext cx="494806" cy="494806"/>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74320"/>
            <a:ext cx="2194560" cy="475488"/>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latin typeface="Arial Black"/>
              </a:rPr>
              <a:t>ABSTRACT</a:t>
            </a:r>
          </a:p>
        </p:txBody>
      </p:sp>
      <p:sp>
        <p:nvSpPr>
          <p:cNvPr id="11" name="TextBox 10"/>
          <p:cNvSpPr txBox="1"/>
          <p:nvPr/>
        </p:nvSpPr>
        <p:spPr>
          <a:xfrm>
            <a:off x="2926080" y="320040"/>
            <a:ext cx="8897112" cy="411480"/>
          </a:xfrm>
          <a:prstGeom prst="rect">
            <a:avLst/>
          </a:prstGeom>
          <a:noFill/>
        </p:spPr>
        <p:txBody>
          <a:bodyPr wrap="square"/>
          <a:lstStyle/>
          <a:p>
            <a:pPr algn="l"/>
            <a:r>
              <a:rPr sz="1300" b="0">
                <a:solidFill>
                  <a:srgbClr val="000000"/>
                </a:solidFill>
                <a:latin typeface="Arial"/>
              </a:rPr>
              <a:t>Data-Efficient Pre-training by Scaling Synthetic Megadocs</a:t>
            </a:r>
          </a:p>
        </p:txBody>
      </p:sp>
      <p:sp>
        <p:nvSpPr>
          <p:cNvPr id="12" name="TextBox 11"/>
          <p:cNvSpPr txBox="1"/>
          <p:nvPr/>
        </p:nvSpPr>
        <p:spPr>
          <a:xfrm>
            <a:off x="365760" y="960120"/>
            <a:ext cx="10725912" cy="5212080"/>
          </a:xfrm>
          <a:prstGeom prst="rect">
            <a:avLst/>
          </a:prstGeom>
          <a:noFill/>
        </p:spPr>
        <p:txBody>
          <a:bodyPr wrap="square"/>
          <a:lstStyle/>
          <a:p>
            <a:pPr algn="l"/>
            <a:r>
              <a:rPr sz="1800" b="0">
                <a:solidFill>
                  <a:srgbClr val="000000"/>
                </a:solidFill>
                <a:latin typeface="Arial"/>
              </a:rPr>
              <a:t>합성 재구성 데이터를 독립 샘플이 아닌 하나의 긴 "메가독"으로 구성하면 데이터 효율성이 1.48×에서 1.80×으로 향상된다. 합성 데이터의 양이 아니라 구조적 조직화 방식이 스케일링 동작을 결정한다.</a:t>
            </a:r>
          </a:p>
        </p:txBody>
      </p:sp>
      <p:sp>
        <p:nvSpPr>
          <p:cNvPr id="13" name="Oval 12"/>
          <p:cNvSpPr/>
          <p:nvPr/>
        </p:nvSpPr>
        <p:spPr>
          <a:xfrm>
            <a:off x="11444403" y="134126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160411" y="114021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1137111" y="352135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9723904" y="93896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11254391" y="232604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62719" y="653488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A3FF"/>
        </a:solidFill>
        <a:effectLst/>
      </p:bgPr>
    </p:bg>
    <p:spTree>
      <p:nvGrpSpPr>
        <p:cNvPr id="1" name=""/>
        <p:cNvGrpSpPr/>
        <p:nvPr/>
      </p:nvGrpSpPr>
      <p:grpSpPr/>
      <p:sp>
        <p:nvSpPr>
          <p:cNvPr id="2" name="Parallelogram 1"/>
          <p:cNvSpPr/>
          <p:nvPr/>
        </p:nvSpPr>
        <p:spPr>
          <a:xfrm>
            <a:off x="11346629" y="5955948"/>
            <a:ext cx="540766" cy="540766"/>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5067776" y="956131"/>
            <a:ext cx="597361" cy="597361"/>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Pentagon 3"/>
          <p:cNvSpPr/>
          <p:nvPr/>
        </p:nvSpPr>
        <p:spPr>
          <a:xfrm>
            <a:off x="11835138" y="2731630"/>
            <a:ext cx="351427" cy="351427"/>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932452" y="1028748"/>
            <a:ext cx="588521" cy="588521"/>
          </a:xfrm>
          <a:prstGeom prst="ellips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40545" y="289119"/>
            <a:ext cx="522161" cy="522161"/>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3595328" y="304382"/>
            <a:ext cx="683413" cy="683413"/>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arallelogram 7"/>
          <p:cNvSpPr/>
          <p:nvPr/>
        </p:nvSpPr>
        <p:spPr>
          <a:xfrm>
            <a:off x="11527060" y="1674887"/>
            <a:ext cx="661891" cy="661891"/>
          </a:xfrm>
          <a:prstGeom prst="parallelogram">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451765" y="6086871"/>
            <a:ext cx="537836" cy="537836"/>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11498521" y="367387"/>
            <a:ext cx="505409" cy="505409"/>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65760" y="228600"/>
            <a:ext cx="2926080" cy="50292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000000"/>
                </a:solidFill>
                <a:latin typeface="Arial Black"/>
              </a:rPr>
              <a:t>KEY FINDINGS</a:t>
            </a:r>
          </a:p>
        </p:txBody>
      </p:sp>
      <p:sp>
        <p:nvSpPr>
          <p:cNvPr id="12" name="TextBox 11"/>
          <p:cNvSpPr txBox="1"/>
          <p:nvPr/>
        </p:nvSpPr>
        <p:spPr>
          <a:xfrm>
            <a:off x="11274552" y="274320"/>
            <a:ext cx="640080" cy="411480"/>
          </a:xfrm>
          <a:prstGeom prst="rect">
            <a:avLst/>
          </a:prstGeom>
          <a:noFill/>
        </p:spPr>
        <p:txBody>
          <a:bodyPr wrap="square"/>
          <a:lstStyle/>
          <a:p>
            <a:pPr algn="r"/>
            <a:r>
              <a:rPr sz="1600" b="1">
                <a:solidFill>
                  <a:srgbClr val="FFFFFF"/>
                </a:solidFill>
                <a:latin typeface="Arial"/>
              </a:rPr>
              <a:t>1</a:t>
            </a:r>
          </a:p>
        </p:txBody>
      </p:sp>
      <p:sp>
        <p:nvSpPr>
          <p:cNvPr id="13" name="TextBox 12"/>
          <p:cNvSpPr txBox="1"/>
          <p:nvPr/>
        </p:nvSpPr>
        <p:spPr>
          <a:xfrm>
            <a:off x="457200" y="960120"/>
            <a:ext cx="11091672" cy="5212080"/>
          </a:xfrm>
          <a:prstGeom prst="rect">
            <a:avLst/>
          </a:prstGeom>
          <a:noFill/>
        </p:spPr>
        <p:txBody>
          <a:bodyPr wrap="square"/>
          <a:lstStyle/>
          <a:p>
            <a:pPr algn="l">
              <a:spcBef>
                <a:spcPts val="600"/>
              </a:spcBef>
            </a:pPr>
            <a:r>
              <a:rPr sz="2000" b="0">
                <a:solidFill>
                  <a:srgbClr val="FFFFFF"/>
                </a:solidFill>
                <a:latin typeface="Arial"/>
              </a:rPr>
              <a:t>▶  메가독 핵심 아이디어: 동일 소스 문서의 재구성 G개를 별도 샘플이 아닌 단일 긴 시퀀스로 연결 — 모델이 동일 의미의 다양한 표현을 단일 컨텍스트에서 비교·대조하게 강제하여 의미적 불변성 학습</a:t>
            </a:r>
          </a:p>
          <a:p>
            <a:pPr algn="l">
              <a:spcBef>
                <a:spcPts val="600"/>
              </a:spcBef>
            </a:pPr>
            <a:r>
              <a:rPr sz="2000" b="0">
                <a:solidFill>
                  <a:srgbClr val="FFFFFF"/>
                </a:solidFill>
                <a:latin typeface="Arial"/>
              </a:rPr>
              <a:t>▶  잠재 사고(Latent Thoughts) 우위: 재구성을 단순 연결(1.64×)하는 것보다 문서 청크 사이에 추론 rationale을 삽입하는 방식(1.80×)이 더 효과적 — 장문 컨텍스트 손실에서도 0.19 개선으로 최대 성능</a:t>
            </a:r>
          </a:p>
          <a:p>
            <a:pPr algn="l">
              <a:spcBef>
                <a:spcPts val="600"/>
              </a:spcBef>
            </a:pPr>
            <a:r>
              <a:rPr sz="2000" b="0">
                <a:solidFill>
                  <a:srgbClr val="FFFFFF"/>
                </a:solidFill>
                <a:latin typeface="Arial"/>
              </a:rPr>
              <a:t>▶  과적합 경계 확장: 메가독은 단순 재구성 대비 과적합 없이 5× 더 많은 스텝 훈련 가능, 합성 혼합 비율 0.75~0.9까지 허용</a:t>
            </a:r>
          </a:p>
        </p:txBody>
      </p:sp>
      <p:sp>
        <p:nvSpPr>
          <p:cNvPr id="14" name="Rectangle 13"/>
          <p:cNvSpPr/>
          <p:nvPr/>
        </p:nvSpPr>
        <p:spPr>
          <a:xfrm>
            <a:off x="10817352"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0981944"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1146536"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1311128"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475720"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0817352"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0981944"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146536"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311128"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11475720"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0" y="6693408"/>
            <a:ext cx="12188952" cy="1645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FFFF"/>
                </a:solidFill>
                <a:latin typeface="Arial Black"/>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3E3E"/>
        </a:solidFill>
        <a:effectLst/>
      </p:bgPr>
    </p:bg>
    <p:spTree>
      <p:nvGrpSpPr>
        <p:cNvPr id="1" name=""/>
        <p:cNvGrpSpPr/>
        <p:nvPr/>
      </p:nvGrpSpPr>
      <p:grpSpPr/>
      <p:sp>
        <p:nvSpPr>
          <p:cNvPr id="2" name="Rectangle 1"/>
          <p:cNvSpPr/>
          <p:nvPr/>
        </p:nvSpPr>
        <p:spPr>
          <a:xfrm>
            <a:off x="11233349" y="348608"/>
            <a:ext cx="325708" cy="325708"/>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Hexagon 2"/>
          <p:cNvSpPr/>
          <p:nvPr/>
        </p:nvSpPr>
        <p:spPr>
          <a:xfrm>
            <a:off x="11159831" y="5794029"/>
            <a:ext cx="620691" cy="620691"/>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Diamond 3"/>
          <p:cNvSpPr/>
          <p:nvPr/>
        </p:nvSpPr>
        <p:spPr>
          <a:xfrm>
            <a:off x="11620813" y="1309455"/>
            <a:ext cx="519224" cy="519224"/>
          </a:xfrm>
          <a:prstGeom prst="diamond">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435199" y="1315391"/>
            <a:ext cx="283631" cy="283631"/>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Pentagon 5"/>
          <p:cNvSpPr/>
          <p:nvPr/>
        </p:nvSpPr>
        <p:spPr>
          <a:xfrm>
            <a:off x="8253926" y="6147002"/>
            <a:ext cx="710997" cy="710997"/>
          </a:xfrm>
          <a:prstGeom prst="homePlat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87407" y="968864"/>
            <a:ext cx="657765" cy="657765"/>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365760" y="228600"/>
            <a:ext cx="2926080" cy="50292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000000"/>
                </a:solidFill>
                <a:latin typeface="Arial Black"/>
              </a:rPr>
              <a:t>KEY FINDINGS</a:t>
            </a:r>
          </a:p>
        </p:txBody>
      </p:sp>
      <p:sp>
        <p:nvSpPr>
          <p:cNvPr id="9" name="TextBox 8"/>
          <p:cNvSpPr txBox="1"/>
          <p:nvPr/>
        </p:nvSpPr>
        <p:spPr>
          <a:xfrm>
            <a:off x="11274552" y="274320"/>
            <a:ext cx="640080" cy="411480"/>
          </a:xfrm>
          <a:prstGeom prst="rect">
            <a:avLst/>
          </a:prstGeom>
          <a:noFill/>
        </p:spPr>
        <p:txBody>
          <a:bodyPr wrap="square"/>
          <a:lstStyle/>
          <a:p>
            <a:pPr algn="r"/>
            <a:r>
              <a:rPr sz="1600" b="1">
                <a:solidFill>
                  <a:srgbClr val="FFFFFF"/>
                </a:solidFill>
                <a:latin typeface="Arial"/>
              </a:rPr>
              <a:t>2</a:t>
            </a:r>
          </a:p>
        </p:txBody>
      </p:sp>
      <p:sp>
        <p:nvSpPr>
          <p:cNvPr id="10" name="TextBox 9"/>
          <p:cNvSpPr txBox="1"/>
          <p:nvPr/>
        </p:nvSpPr>
        <p:spPr>
          <a:xfrm>
            <a:off x="457200" y="960120"/>
            <a:ext cx="11091672" cy="5212080"/>
          </a:xfrm>
          <a:prstGeom prst="rect">
            <a:avLst/>
          </a:prstGeom>
          <a:noFill/>
        </p:spPr>
        <p:txBody>
          <a:bodyPr wrap="square"/>
          <a:lstStyle/>
          <a:p>
            <a:pPr algn="l">
              <a:spcBef>
                <a:spcPts val="600"/>
              </a:spcBef>
            </a:pPr>
            <a:r>
              <a:rPr sz="2000" b="0">
                <a:solidFill>
                  <a:srgbClr val="FFFFFF"/>
                </a:solidFill>
                <a:latin typeface="Arial"/>
              </a:rPr>
              <a:t>▶  합성 가능성 비대칭: 재구성 방법은 앙상블과 합성되어 점근 손실 ≥0.12 추가 개선; 자기 증류는 앙상블과 합성되지 않음 — 외부 생성기 기반 다양성과 앙상블의 편향 감소가 직교적으로 작동</a:t>
            </a:r>
          </a:p>
          <a:p>
            <a:pPr algn="l">
              <a:spcBef>
                <a:spcPts val="600"/>
              </a:spcBef>
            </a:pPr>
            <a:r>
              <a:rPr sz="2000" b="0">
                <a:solidFill>
                  <a:srgbClr val="FFFFFF"/>
                </a:solidFill>
                <a:latin typeface="Arial"/>
              </a:rPr>
              <a:t>▶  미소진 스케일링: 32개 생성에서도 이점이 단조적으로 증가 중이며 포화 없음 — 생성 수 확장의 잠재력이 아직 상한에 도달하지 않음</a:t>
            </a:r>
          </a:p>
        </p:txBody>
      </p:sp>
      <p:sp>
        <p:nvSpPr>
          <p:cNvPr id="11" name="Rectangle 10"/>
          <p:cNvSpPr/>
          <p:nvPr/>
        </p:nvSpPr>
        <p:spPr>
          <a:xfrm>
            <a:off x="10817352"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10981944"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11146536"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11311128"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1475720"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0817352"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0981944"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146536"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1311128"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475720"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6492781" y="19041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264502" y="335161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49113" y="349309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33366" y="25068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30867" y="55050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6176800" y="2541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9171955" y="651070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954332" y="25109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04096" y="256032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867744" y="61955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Q1</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메가독 구조가 단순 재구성 대비 과적합 없이 5배 더 많은 스텝 훈련을 허용하는 메커니즘은 무엇이며, 이것이 일반적인 데이터 증강의 과적합 경계와 어떻게 다른가?</a:t>
            </a:r>
          </a:p>
        </p:txBody>
      </p:sp>
      <p:sp>
        <p:nvSpPr>
          <p:cNvPr id="15" name="Isosceles Triangle 14"/>
          <p:cNvSpPr/>
          <p:nvPr/>
        </p:nvSpPr>
        <p:spPr>
          <a:xfrm>
            <a:off x="2577938" y="6407476"/>
            <a:ext cx="450523" cy="450523"/>
          </a:xfrm>
          <a:prstGeom prst="triangl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0902568" y="5787986"/>
            <a:ext cx="437125" cy="437125"/>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89664" y="4562677"/>
            <a:ext cx="323679" cy="323679"/>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a:off x="11524996" y="3525237"/>
            <a:ext cx="601775" cy="601775"/>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7439527" y="1010671"/>
            <a:ext cx="598435" cy="598435"/>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11570821" y="5706507"/>
            <a:ext cx="618130" cy="618130"/>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Hexagon 20"/>
          <p:cNvSpPr/>
          <p:nvPr/>
        </p:nvSpPr>
        <p:spPr>
          <a:xfrm>
            <a:off x="6075496" y="5831854"/>
            <a:ext cx="434821" cy="434821"/>
          </a:xfrm>
          <a:prstGeom prst="hexagon">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A1</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메가독 구조가 단순 재구성 대비 과적합 없이 5배 더 많은 스텝 훈련을 허용하는 메커니즘은 무엇이며, 이것이 일반적인 데이터 증강의 과적합 경계와 어떻게 다른가?</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단순 재구성은 원본과 재구성본이 독립적인 훈련 샘플로 제공되므로, 동일 의미의 문서가 반복 노출되면서 특정 사실에 대한 과적합이 발생한다. 반면 메가독은 원본과 다수의 재구성본을 하나의 긴 시퀀스로 연결하여, 모델이 동일 정보의 다양한 표현을 단일 컨텍스트 윈도우 내에서 비교·대조하도록 강제한다. 이 구조는 각 토큰 예측 시 이전 컨텍스트에 이미 다른 표현이 존재하므로, 모델이 특정 표면 형태를 암기하는 대신 의미적 불변성(semantic invariance)을 학습하게 된다. 결과적으로 동일 소스에서 파생된 데이터임에도 각 훈련 스텝이 제공하는 학습 신호의 중복도가 낮아져, 과적합 경계가 크게 확장된다.</a:t>
            </a:r>
          </a:p>
        </p:txBody>
      </p:sp>
      <p:sp>
        <p:nvSpPr>
          <p:cNvPr id="7" name="Oval 6"/>
          <p:cNvSpPr/>
          <p:nvPr/>
        </p:nvSpPr>
        <p:spPr>
          <a:xfrm>
            <a:off x="1004547" y="3648270"/>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746706" y="5633156"/>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66162" y="314427"/>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28111" y="526886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883589" y="5251828"/>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477941" y="229391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4758455" y="9055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5445114" y="2850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72365" y="16180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36620" y="24601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0479739" y="605417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28154" y="16504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18025" y="404700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692916" y="132302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18935" y="24378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Q2</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잠재 사고(Latent Thoughts) 방식이 스티칭 재구성보다 장문 컨텍스트 손실에서 0.05 더 큰 개선을 보이는데, 청크 사이에 삽입되는 rationale이 모델의 장거리 의존성 학습에 구체적으로 어떤 역할을 하는가?</a:t>
            </a:r>
          </a:p>
        </p:txBody>
      </p:sp>
      <p:sp>
        <p:nvSpPr>
          <p:cNvPr id="15" name="Parallelogram 14"/>
          <p:cNvSpPr/>
          <p:nvPr/>
        </p:nvSpPr>
        <p:spPr>
          <a:xfrm>
            <a:off x="11507660" y="2960390"/>
            <a:ext cx="681291" cy="681291"/>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9767109" y="84409"/>
            <a:ext cx="482182" cy="482182"/>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1999512" y="424530"/>
            <a:ext cx="334837" cy="334837"/>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579428" y="3937121"/>
            <a:ext cx="332169" cy="332169"/>
          </a:xfrm>
          <a:prstGeom prst="diamond">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111893" y="6431757"/>
            <a:ext cx="426242" cy="426242"/>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647777" y="6131311"/>
            <a:ext cx="726688" cy="726688"/>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0164440" y="5840575"/>
            <a:ext cx="545069" cy="545069"/>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arallelogram 21"/>
          <p:cNvSpPr/>
          <p:nvPr/>
        </p:nvSpPr>
        <p:spPr>
          <a:xfrm>
            <a:off x="11643137" y="1618758"/>
            <a:ext cx="492949" cy="492949"/>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2336849" y="6299019"/>
            <a:ext cx="338912" cy="33891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1813274" y="1122878"/>
            <a:ext cx="375677" cy="37567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A2</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잠재 사고(Latent Thoughts) 방식이 스티칭 재구성보다 장문 컨텍스트 손실에서 0.05 더 큰 개선을 보이는데, 청크 사이에 삽입되는 rationale이 모델의 장거리…</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잠재 사고 방식은 문서 청크 사이에 명시적 추론 과정(rationale)을 삽입하여, 인접하지 않은 청크들 사이의 논리적 연결을 텍스트로 구체화한다. 장문 컨텍스트에서 모델이 직면하는 핵심 과제는 먼 위치의 정보를 현재 예측에 통합하는 것인데, rationale은 이 연결 고리를 명시적 텍스트 형태로 제공하여 "징검다리" 역할을 한다. 스티칭 재구성이 단순히 다양한 표현을 나열하는 것에 그치는 반면, 잠재 사고는 청크 간 인과적·논리적 관계를 모델이 다음 토큰 예측 과정에서 직접 학습하도록 유도한다. 장문 손실 개선이 0.19로 스티칭(0.14) 대비 큰 것은 이 메커니즘이 장거리 의존성 포착에 특히 효과적임을 보여준다.</a:t>
            </a:r>
          </a:p>
        </p:txBody>
      </p:sp>
      <p:sp>
        <p:nvSpPr>
          <p:cNvPr id="7" name="Oval 6"/>
          <p:cNvSpPr/>
          <p:nvPr/>
        </p:nvSpPr>
        <p:spPr>
          <a:xfrm>
            <a:off x="4610790" y="1016369"/>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447861" y="68459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82784" y="4049241"/>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159141" y="1847692"/>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547548" y="596478"/>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135799" y="7549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354226" y="12047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371994" y="60839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2531453" y="62400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9026996" y="48554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228881" y="7504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919658" y="65264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692661" y="12303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89614" y="40817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11257" y="632730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Q3</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외부 생성기로 Llama 3.1 8B Instruct를 사용했는데, 생성기가 학습 대상 모델(3억 파라미터)보다 훨씬 큰 상황에서 이것이 사실상 지식 증류의 한 형태로 작동하는 것은 아닌가? 자기 증류가 앙상블과 합성되지 않는다는 발견과의 관계는 무엇인가?</a:t>
            </a:r>
          </a:p>
        </p:txBody>
      </p:sp>
      <p:sp>
        <p:nvSpPr>
          <p:cNvPr id="15" name="Oval 14"/>
          <p:cNvSpPr/>
          <p:nvPr/>
        </p:nvSpPr>
        <p:spPr>
          <a:xfrm>
            <a:off x="11509390" y="5707405"/>
            <a:ext cx="624535" cy="624535"/>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entagon 15"/>
          <p:cNvSpPr/>
          <p:nvPr/>
        </p:nvSpPr>
        <p:spPr>
          <a:xfrm>
            <a:off x="7349984" y="6430008"/>
            <a:ext cx="401433" cy="401433"/>
          </a:xfrm>
          <a:prstGeom prst="homePlat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788953" y="562246"/>
            <a:ext cx="475241" cy="475241"/>
          </a:xfrm>
          <a:prstGeom prst="diamond">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Hexagon 17"/>
          <p:cNvSpPr/>
          <p:nvPr/>
        </p:nvSpPr>
        <p:spPr>
          <a:xfrm>
            <a:off x="4574371" y="599465"/>
            <a:ext cx="677410" cy="677410"/>
          </a:xfrm>
          <a:prstGeom prst="hexagon">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a:off x="11677232" y="4897011"/>
            <a:ext cx="511719" cy="51171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835451" y="631963"/>
            <a:ext cx="347530" cy="347530"/>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A3</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외부 생성기로 Llama 3.1 8B Instruct를 사용했는데, 생성기가 학습 대상 모델(3억 파라미터)보다 훨씬 큰 상황에서 이것이 사실상 지식 증류의 한 형태로 작동하는…</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8B 생성기가 300M 학습 대상 모델보다 약 27배 크므로, 합성 재구성 과정에서 생성기의 언어적 지식이 간접적으로 전달되는 것은 사실이다. 이는 전통적 지식 증류와 유사한 측면이 있으나, 핵심 차이는 증류가 출력 분포의 직접 모방을 목표로 하는 반면 재구성은 동일 의미의 다양한 표현 생성에 초점을 둔다는 점이다. 자기 증류(학습 대상 모델 자체가 생성기인 경우)가 앙상블과 합성되지 않는 것은, 자기 증류가 모델 자신의 기존 분포를 강화할 뿐 새로운 정보를 주입하지 못하기 때문으로 추론된다. 외부의 더 큰 생성기는 학습 대상 모델의 분포 밖 표현을 제공하므로, 앙상블과 독립적으로 작동할 여지가 생긴다.</a:t>
            </a:r>
          </a:p>
        </p:txBody>
      </p:sp>
      <p:sp>
        <p:nvSpPr>
          <p:cNvPr id="7" name="Oval 6"/>
          <p:cNvSpPr/>
          <p:nvPr/>
        </p:nvSpPr>
        <p:spPr>
          <a:xfrm>
            <a:off x="4924984" y="154271"/>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36871" y="6275184"/>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06200" y="3488811"/>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027161" y="2302395"/>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677174" y="5900537"/>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0853453" y="482054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3298901" y="12091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55917" y="21108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442701" y="147585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84746" y="11650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519452" y="268243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591387" y="156058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684901" y="140570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412916" y="1002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22087" y="63435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Q4</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혼합 비율이 0.75~0.9까지 허용된다는 것은 훈련 데이터의 대부분이 합성 데이터로 구성됨을 의미하는데, 이 높은 비율에서도 다운스트림 태스크의 분포 이동(distribution shift) 문제가 발생하지 않는 이유는 무엇인가?</a:t>
            </a:r>
          </a:p>
        </p:txBody>
      </p:sp>
      <p:sp>
        <p:nvSpPr>
          <p:cNvPr id="15" name="Parallelogram 14"/>
          <p:cNvSpPr/>
          <p:nvPr/>
        </p:nvSpPr>
        <p:spPr>
          <a:xfrm>
            <a:off x="11430450" y="5508612"/>
            <a:ext cx="481561" cy="481561"/>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246798" y="428472"/>
            <a:ext cx="623132" cy="623132"/>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Isosceles Triangle 16"/>
          <p:cNvSpPr/>
          <p:nvPr/>
        </p:nvSpPr>
        <p:spPr>
          <a:xfrm>
            <a:off x="326420" y="1040590"/>
            <a:ext cx="586381" cy="586381"/>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allelogram 17"/>
          <p:cNvSpPr/>
          <p:nvPr/>
        </p:nvSpPr>
        <p:spPr>
          <a:xfrm>
            <a:off x="240124" y="5378812"/>
            <a:ext cx="630306" cy="630306"/>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Diamond 18"/>
          <p:cNvSpPr/>
          <p:nvPr/>
        </p:nvSpPr>
        <p:spPr>
          <a:xfrm>
            <a:off x="6376360" y="1054838"/>
            <a:ext cx="592927" cy="592927"/>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661062" y="4367980"/>
            <a:ext cx="434016" cy="434016"/>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965184" y="5251064"/>
            <a:ext cx="718338" cy="71833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380067" y="6388273"/>
            <a:ext cx="320190" cy="320190"/>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arallelogram 22"/>
          <p:cNvSpPr/>
          <p:nvPr/>
        </p:nvSpPr>
        <p:spPr>
          <a:xfrm>
            <a:off x="4501684" y="227549"/>
            <a:ext cx="721736" cy="721736"/>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202784" y="5505987"/>
            <a:ext cx="384347" cy="38434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A4</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혼합 비율이 0.75~0.9까지 허용된다는 것은 훈련 데이터의 대부분이 합성 데이터로 구성됨을 의미하는데, 이 높은 비율에서도 다운스트림 태스크의 분포 이동(distributio…</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높은 합성 비율에서 분포 이동이 억제되는 이유는 메가독 구조의 설계에 있다. 각 메가독은 반드시 원본 문서를 포함하고 있어 실제 웹 데이터의 분포가 훈련 내내 유지된다. 또한 재구성은 의미를 보존하면서 표면 형태만 변형하므로, 합성 데이터가 원본의 주제적·의미적 분포에서 크게 벗어나지 않는다. 다운스트림 벤치마크에서 오히려 정확도가 향상된 것은, 다양한 표현에 대한 노출이 모델의 일반화 능력을 높여 평가 시 분포 차이에 더 강건해졌음을 시사한다. 단, 이 결과는 DCLM이라는 비교적 고품질 웹 데이터 기반이므로, 노이즈가 많은 원본 데이터에서도 동일한 강건성이 유지될지는 별도 검증이 필요하다.</a:t>
            </a:r>
          </a:p>
        </p:txBody>
      </p:sp>
      <p:sp>
        <p:nvSpPr>
          <p:cNvPr id="7" name="Oval 6"/>
          <p:cNvSpPr/>
          <p:nvPr/>
        </p:nvSpPr>
        <p:spPr>
          <a:xfrm>
            <a:off x="10139045" y="1200677"/>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727894" y="738375"/>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880191" y="108109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74012" y="44352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76368" y="3992004"/>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581429" y="65624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152814" y="442856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27116" y="57129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4594" y="57367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86443" y="195254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95330" y="276965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885839" y="487126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542269" y="64575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02707" y="448177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46260" y="30490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Q5</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DCLM 164,000개 문서에서 2억 토큰이라는 상대적으로 작은 규모의 실험에서 관찰된 데이터 효율성 이점이, 수조 토큰 규모의 실제 사전학습으로 스케일링될 때 유지될 것이라고 기대할 수 있는 근거와 한계는 무엇인가?</a:t>
            </a:r>
          </a:p>
        </p:txBody>
      </p:sp>
      <p:sp>
        <p:nvSpPr>
          <p:cNvPr id="15" name="Pentagon 14"/>
          <p:cNvSpPr/>
          <p:nvPr/>
        </p:nvSpPr>
        <p:spPr>
          <a:xfrm>
            <a:off x="11471229" y="83754"/>
            <a:ext cx="717722" cy="717722"/>
          </a:xfrm>
          <a:prstGeom prst="homePlat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596952" y="6457200"/>
            <a:ext cx="400799" cy="400799"/>
          </a:xfrm>
          <a:prstGeom prst="hexagon">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340537" y="4820588"/>
            <a:ext cx="570868" cy="570868"/>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698631" y="3661981"/>
            <a:ext cx="358723" cy="358723"/>
          </a:xfrm>
          <a:prstGeom prst="diamond">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entagon 18"/>
          <p:cNvSpPr/>
          <p:nvPr/>
        </p:nvSpPr>
        <p:spPr>
          <a:xfrm>
            <a:off x="8380135" y="764278"/>
            <a:ext cx="575316" cy="575316"/>
          </a:xfrm>
          <a:prstGeom prst="homePlat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42594" y="5961517"/>
            <a:ext cx="285420" cy="285420"/>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439638" y="60636"/>
            <a:ext cx="684363" cy="684363"/>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Diamond 21"/>
          <p:cNvSpPr/>
          <p:nvPr/>
        </p:nvSpPr>
        <p:spPr>
          <a:xfrm>
            <a:off x="11678739" y="567717"/>
            <a:ext cx="510212" cy="510212"/>
          </a:xfrm>
          <a:prstGeom prst="diamond">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entagon 22"/>
          <p:cNvSpPr/>
          <p:nvPr/>
        </p:nvSpPr>
        <p:spPr>
          <a:xfrm>
            <a:off x="5189508" y="528426"/>
            <a:ext cx="550160" cy="550160"/>
          </a:xfrm>
          <a:prstGeom prst="homePlat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a:off x="11169991" y="347584"/>
            <a:ext cx="450570" cy="450570"/>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A5</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DCLM 164,000개 문서에서 2억 토큰이라는 상대적으로 작은 규모의 실험에서 관찰된 데이터 효율성 이점이, 수조 토큰 규모의 실제 사전학습으로 스케일링될 때 유지될 것이라고…</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대규모 스케일링에 대한 직접적 증거는 제한적이다. 긍정적 근거로는 생성 수 증가에 따른 이점이 32개에서도 포화되지 않는 단조적 스케일링 경향이 관찰되었다는 점이 있다. 그러나 한계로는 세 가지를 고려해야 한다. 첫째, 수조 토큰 규모에서는 실제 데이터의 다양성 자체가 충분히 높아 합성 재구성의 한계 효용이 급감할 수 있다. 둘째, 대규모 모델은 동일 데이터에서 더 효율적으로 학습하므로 데이터 효율성 배수가 축소될 가능성이 있다. 셋째, 8B 생성기와 학습 대상 모델의 크기 비율이 대규모 설정에서는 역전될 수 있어(예: 70B 학습 대상) 생성기 이점이 감소할 수 있다.</a:t>
            </a:r>
          </a:p>
        </p:txBody>
      </p:sp>
      <p:sp>
        <p:nvSpPr>
          <p:cNvPr id="7" name="Oval 6"/>
          <p:cNvSpPr/>
          <p:nvPr/>
        </p:nvSpPr>
        <p:spPr>
          <a:xfrm>
            <a:off x="979244" y="257050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61178" y="484300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2239323" y="37968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435510" y="460961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83309" y="13853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3263428" y="8528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322826" y="60634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151406" y="72662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308102" y="72547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696690" y="53028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23111" y="70693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990017" y="7933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62094" y="58617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423336" y="131429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5329996" y="629566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Q6</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재구성 방법들이 앙상블과 합성되어 점근 손실을 추가로 0.12 이상 개선한다는 결과는, 합성 데이터의 다양성 효과와 앙상블의 편향 감소 효과가 직교적(orthogonal)임을 시사하는가? 두 메커니즘의 상호작용을 어떻게 분리할 수 있는가?</a:t>
            </a:r>
          </a:p>
        </p:txBody>
      </p:sp>
      <p:sp>
        <p:nvSpPr>
          <p:cNvPr id="15" name="Diamond 14"/>
          <p:cNvSpPr/>
          <p:nvPr/>
        </p:nvSpPr>
        <p:spPr>
          <a:xfrm>
            <a:off x="180297" y="711596"/>
            <a:ext cx="484302" cy="484302"/>
          </a:xfrm>
          <a:prstGeom prst="diamond">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613238" y="6338122"/>
            <a:ext cx="381960" cy="381960"/>
          </a:xfrm>
          <a:prstGeom prst="parallelogram">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307671" y="700158"/>
            <a:ext cx="513002" cy="513002"/>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236802" y="2249330"/>
            <a:ext cx="672986" cy="672986"/>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11472141" y="3871552"/>
            <a:ext cx="716810" cy="716810"/>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Hexagon 19"/>
          <p:cNvSpPr/>
          <p:nvPr/>
        </p:nvSpPr>
        <p:spPr>
          <a:xfrm>
            <a:off x="11620847" y="3947090"/>
            <a:ext cx="373317" cy="373317"/>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1701892" y="6370940"/>
            <a:ext cx="487059" cy="48705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160576" y="6159635"/>
            <a:ext cx="415311" cy="415311"/>
          </a:xfrm>
          <a:prstGeom prst="rect">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A6</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재구성 방법들이 앙상블과 합성되어 점근 손실을 추가로 0.12 이상 개선한다는 결과는, 합성 데이터의 다양성 효과와 앙상블의 편향 감소 효과가 직교적(orthogonal)임을 시…</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재구성과 앙상블의 합성 가능성은 두 메커니즘이 서로 다른 축에서 작동함을 시사한다. 재구성은 입력 공간의 다양성을 증가시켜 모델이 표면 형태에 대한 의존도를 줄이게 하는 반면, 앙상블은 다수 모델의 예측을 결합하여 개별 모델의 편향을 상쇄한다. 이 두 효과가 직교적이라면 결합 시 이점이 가산적이어야 하며, 실제로 점근 손실에서 0.12 이상의 추가 개선이 관찰된 것은 이 가설과 일치한다. 자기 증류가 앙상블과 합성되지 않는다는 결과는, 모든 합성 데이터 방법이 앙상블과 직교적인 것은 아님을 보여준다 — 자기 증류는 모델 자체의 편향을 재강화하므로 앙상블의 편향 감소 효과와 상충하는 반면, 외부 생성기를 통한 재구성은 독립적 편향 원천을 도입하여 상보적으로 작동한다.</a:t>
            </a:r>
          </a:p>
        </p:txBody>
      </p:sp>
      <p:sp>
        <p:nvSpPr>
          <p:cNvPr id="7" name="Oval 6"/>
          <p:cNvSpPr/>
          <p:nvPr/>
        </p:nvSpPr>
        <p:spPr>
          <a:xfrm>
            <a:off x="174124" y="1974325"/>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105847" y="1213707"/>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67069" y="6289688"/>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742765" y="191839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291287" y="3120571"/>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8748360" y="585676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344997" y="623744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51040" y="536569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698270" y="38204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3474854" y="10094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619582" y="676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65857" y="88924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79272" y="38427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657338" y="123914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884211" y="4607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Q7</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생성 수 증가에 따른 단조적 이점 증가가 32개 이상에서도 미소진 상태라면, 이 스케일링 법칙의 이론적 상한은 어디에 있으며, 생성 비용 대비 수익 감소 지점을 예측할 수 있는 프레임워크가 존재하는가?</a:t>
            </a:r>
          </a:p>
        </p:txBody>
      </p:sp>
      <p:sp>
        <p:nvSpPr>
          <p:cNvPr id="15" name="Isosceles Triangle 14"/>
          <p:cNvSpPr/>
          <p:nvPr/>
        </p:nvSpPr>
        <p:spPr>
          <a:xfrm>
            <a:off x="11359782" y="5075169"/>
            <a:ext cx="314181" cy="314181"/>
          </a:xfrm>
          <a:prstGeom prst="triangl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entagon 15"/>
          <p:cNvSpPr/>
          <p:nvPr/>
        </p:nvSpPr>
        <p:spPr>
          <a:xfrm>
            <a:off x="941740" y="1040409"/>
            <a:ext cx="531412" cy="531412"/>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10305119" y="859194"/>
            <a:ext cx="386408" cy="386408"/>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1194304" y="352289"/>
            <a:ext cx="277335" cy="277335"/>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arallelogram 18"/>
          <p:cNvSpPr/>
          <p:nvPr/>
        </p:nvSpPr>
        <p:spPr>
          <a:xfrm>
            <a:off x="1003849" y="3499548"/>
            <a:ext cx="688821" cy="688821"/>
          </a:xfrm>
          <a:prstGeom prst="parallelogram">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arallelogram 19"/>
          <p:cNvSpPr/>
          <p:nvPr/>
        </p:nvSpPr>
        <p:spPr>
          <a:xfrm>
            <a:off x="406891" y="4855215"/>
            <a:ext cx="291119" cy="291119"/>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A7</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생성 수 증가에 따른 단조적 이점 증가가 32개 이상에서도 미소진 상태라면, 이 스케일링 법칙의 이론적 상한은 어디에 있으며, 생성 비용 대비 수익 감소 지점을 예측할 수 있는…</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이론적 상한은 소스 문서가 담고 있는 의미적 정보량에 의해 결정된다. 재구성이 아무리 다양해도 원본 문서의 의미적 엔트로피를 초과하는 새로운 지식을 생성할 수 없으므로, 생성 수가 충분히 커지면 각 추가 재구성이 제공하는 한계 정보량이 0에 수렴할 것이다. 비용-수익 분석 측면에서, 생성 비용은 생성 수에 선형적으로 증가하는 반면 검증 손실 개선은 로그적 또는 멱법칙적 감소를 따를 가능성이 높다. 논문에서 관찰된 1→4→8→16→32 생성의 이점 곡선이 구체적으로 어떤 함수형을 따르는지 확인하면 최적 생성 수를 예측하는 프레임워크를 구성할 수 있을 것이나, 이는 추가 실험이 필요한 열린 질문이다.</a:t>
            </a:r>
          </a:p>
        </p:txBody>
      </p:sp>
      <p:sp>
        <p:nvSpPr>
          <p:cNvPr id="7" name="Oval 6"/>
          <p:cNvSpPr/>
          <p:nvPr/>
        </p:nvSpPr>
        <p:spPr>
          <a:xfrm>
            <a:off x="2810735" y="135347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075627" y="82259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5674643" y="551962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46464" y="457949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014253" y="6278271"/>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D084"/>
        </a:solidFill>
        <a:effectLst/>
      </p:bgPr>
    </p:bg>
    <p:spTree>
      <p:nvGrpSpPr>
        <p:cNvPr id="1" name=""/>
        <p:cNvGrpSpPr/>
        <p:nvPr/>
      </p:nvGrpSpPr>
      <p:grpSpPr/>
      <p:sp>
        <p:nvSpPr>
          <p:cNvPr id="2" name="Rectangle 1"/>
          <p:cNvSpPr/>
          <p:nvPr/>
        </p:nvSpPr>
        <p:spPr>
          <a:xfrm>
            <a:off x="264706" y="5217664"/>
            <a:ext cx="480108" cy="480108"/>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Diamond 2"/>
          <p:cNvSpPr/>
          <p:nvPr/>
        </p:nvSpPr>
        <p:spPr>
          <a:xfrm>
            <a:off x="3936457" y="6211983"/>
            <a:ext cx="646016" cy="646016"/>
          </a:xfrm>
          <a:prstGeom prst="diamond">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Hexagon 3"/>
          <p:cNvSpPr/>
          <p:nvPr/>
        </p:nvSpPr>
        <p:spPr>
          <a:xfrm>
            <a:off x="224202" y="342761"/>
            <a:ext cx="653145" cy="653145"/>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Hexagon 4"/>
          <p:cNvSpPr/>
          <p:nvPr/>
        </p:nvSpPr>
        <p:spPr>
          <a:xfrm>
            <a:off x="970810" y="410154"/>
            <a:ext cx="566791" cy="566791"/>
          </a:xfrm>
          <a:prstGeom prst="hexagon">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exagon 5"/>
          <p:cNvSpPr/>
          <p:nvPr/>
        </p:nvSpPr>
        <p:spPr>
          <a:xfrm>
            <a:off x="466752" y="3211370"/>
            <a:ext cx="335359" cy="335359"/>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entagon 6"/>
          <p:cNvSpPr/>
          <p:nvPr/>
        </p:nvSpPr>
        <p:spPr>
          <a:xfrm>
            <a:off x="11501348" y="4769981"/>
            <a:ext cx="687603" cy="687603"/>
          </a:xfrm>
          <a:prstGeom prst="homePlat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124370" y="5632365"/>
            <a:ext cx="584047" cy="584047"/>
          </a:xfrm>
          <a:prstGeom prst="ellips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365760" y="228600"/>
            <a:ext cx="3474720" cy="5486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Arial Black"/>
              </a:rPr>
              <a:t>KEY TAKEAWAY</a:t>
            </a:r>
          </a:p>
        </p:txBody>
      </p:sp>
      <p:sp>
        <p:nvSpPr>
          <p:cNvPr id="10" name="TextBox 9"/>
          <p:cNvSpPr txBox="1"/>
          <p:nvPr/>
        </p:nvSpPr>
        <p:spPr>
          <a:xfrm>
            <a:off x="457200" y="1005840"/>
            <a:ext cx="11183112" cy="5029200"/>
          </a:xfrm>
          <a:prstGeom prst="rect">
            <a:avLst/>
          </a:prstGeom>
          <a:noFill/>
        </p:spPr>
        <p:txBody>
          <a:bodyPr wrap="square"/>
          <a:lstStyle/>
          <a:p>
            <a:pPr algn="l"/>
            <a:r>
              <a:rPr sz="2000" b="0">
                <a:solidFill>
                  <a:srgbClr val="000000"/>
                </a:solidFill>
                <a:latin typeface="Arial"/>
              </a:rPr>
              <a:t>▶  메가독 핵심 아이디어: 동일 소스 문서의 재구성 G개를 별도 샘플이 아닌 단일 긴 시퀀스로 연결 — 모델이 동일 의미의 다양한 표현을 단일 컨텍스트에서 비교·대조하게 강제하여 의미적 불변성 학습
▶  잠재 사고(Latent Thoughts) 우위: 재구성을 단순 연결(1.64×)하는 것보다 문서 청크 사이에 추론 rationale을 삽입하는 방식(1.80×)이 더 효과적 — 장문 컨텍스트 손실에서도 0.19 개선으로 최대 성능
▶  과적합 경계 확장: 메가독은 단순 재구성 대비 과적합 없이 5× 더 많은 스텝 훈련 가능, 합성 혼합 비율 0.75~0.9까지 허용</a:t>
            </a:r>
          </a:p>
        </p:txBody>
      </p:sp>
      <p:sp>
        <p:nvSpPr>
          <p:cNvPr id="11" name="Rectangle 10"/>
          <p:cNvSpPr/>
          <p:nvPr/>
        </p:nvSpPr>
        <p:spPr>
          <a:xfrm>
            <a:off x="457200"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1792"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86384"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950976"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115568"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57200"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1792"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86384"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50976"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15568"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987784" y="0"/>
            <a:ext cx="201168"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22" name="Rectangle 2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
        <p:nvSpPr>
          <p:cNvPr id="23" name="TextBox 22"/>
          <p:cNvSpPr txBox="1"/>
          <p:nvPr/>
        </p:nvSpPr>
        <p:spPr>
          <a:xfrm>
            <a:off x="457200" y="6355080"/>
            <a:ext cx="11274552" cy="347472"/>
          </a:xfrm>
          <a:prstGeom prst="rect">
            <a:avLst/>
          </a:prstGeom>
          <a:noFill/>
        </p:spPr>
        <p:txBody>
          <a:bodyPr wrap="square"/>
          <a:lstStyle/>
          <a:p>
            <a:pPr algn="l"/>
            <a:r>
              <a:rPr sz="1200" b="0">
                <a:solidFill>
                  <a:srgbClr val="000000"/>
                </a:solidFill>
                <a:latin typeface="Arial"/>
              </a:rPr>
              <a:t>Data-Efficient Pre-training by Scaling Synthetic Megadocs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